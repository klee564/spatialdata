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1"/>
  </p:notesMasterIdLst>
  <p:sldIdLst>
    <p:sldId id="300" r:id="rId2"/>
    <p:sldId id="447" r:id="rId3"/>
    <p:sldId id="448" r:id="rId4"/>
    <p:sldId id="449" r:id="rId5"/>
    <p:sldId id="457" r:id="rId6"/>
    <p:sldId id="456" r:id="rId7"/>
    <p:sldId id="450" r:id="rId8"/>
    <p:sldId id="493" r:id="rId9"/>
    <p:sldId id="1098" r:id="rId10"/>
    <p:sldId id="1099" r:id="rId11"/>
    <p:sldId id="1100" r:id="rId12"/>
    <p:sldId id="1101" r:id="rId13"/>
    <p:sldId id="492" r:id="rId14"/>
    <p:sldId id="484" r:id="rId15"/>
    <p:sldId id="475" r:id="rId16"/>
    <p:sldId id="476" r:id="rId17"/>
    <p:sldId id="477" r:id="rId18"/>
    <p:sldId id="478" r:id="rId19"/>
    <p:sldId id="479" r:id="rId20"/>
    <p:sldId id="480" r:id="rId21"/>
    <p:sldId id="481" r:id="rId22"/>
    <p:sldId id="482" r:id="rId23"/>
    <p:sldId id="483" r:id="rId24"/>
    <p:sldId id="458" r:id="rId25"/>
    <p:sldId id="451" r:id="rId26"/>
    <p:sldId id="454" r:id="rId27"/>
    <p:sldId id="455" r:id="rId28"/>
    <p:sldId id="485" r:id="rId29"/>
    <p:sldId id="459" r:id="rId30"/>
    <p:sldId id="460" r:id="rId31"/>
    <p:sldId id="461" r:id="rId32"/>
    <p:sldId id="462" r:id="rId33"/>
    <p:sldId id="464" r:id="rId34"/>
    <p:sldId id="441" r:id="rId35"/>
    <p:sldId id="463" r:id="rId36"/>
    <p:sldId id="465" r:id="rId37"/>
    <p:sldId id="466" r:id="rId38"/>
    <p:sldId id="467" r:id="rId39"/>
    <p:sldId id="468" r:id="rId40"/>
    <p:sldId id="489" r:id="rId41"/>
    <p:sldId id="470" r:id="rId42"/>
    <p:sldId id="472" r:id="rId43"/>
    <p:sldId id="473" r:id="rId44"/>
    <p:sldId id="490" r:id="rId45"/>
    <p:sldId id="474" r:id="rId46"/>
    <p:sldId id="486" r:id="rId47"/>
    <p:sldId id="487" r:id="rId48"/>
    <p:sldId id="491" r:id="rId49"/>
    <p:sldId id="269" r:id="rId50"/>
  </p:sldIdLst>
  <p:sldSz cx="12192000" cy="6858000"/>
  <p:notesSz cx="6858000" cy="9144000"/>
  <p:embeddedFontLst>
    <p:embeddedFont>
      <p:font typeface="Cambria Math" panose="02040503050406030204" pitchFamily="18" charset="0"/>
      <p:regular r:id="rId52"/>
    </p:embeddedFont>
    <p:embeddedFont>
      <p:font typeface="HY견고딕" panose="02030600000101010101" pitchFamily="18" charset="-127"/>
      <p:regular r:id="rId53"/>
    </p:embeddedFont>
    <p:embeddedFont>
      <p:font typeface="HY견명조" panose="02030600000101010101" pitchFamily="18" charset="-127"/>
      <p:regular r:id="rId54"/>
    </p:embeddedFont>
    <p:embeddedFont>
      <p:font typeface="HY헤드라인M" panose="02030600000101010101" pitchFamily="18" charset="-127"/>
      <p:regular r:id="rId55"/>
    </p:embeddedFont>
    <p:embeddedFont>
      <p:font typeface="맑은 고딕" panose="020B0503020000020004" pitchFamily="50" charset="-127"/>
      <p:regular r:id="rId56"/>
      <p:bold r:id="rId57"/>
    </p:embeddedFont>
    <p:embeddedFont>
      <p:font typeface="함초롬바탕" panose="02030604000101010101" pitchFamily="18" charset="-127"/>
      <p:regular r:id="rId58"/>
      <p:bold r:id="rId5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sist" initials="a" lastIdx="1" clrIdx="0">
    <p:extLst>
      <p:ext uri="{19B8F6BF-5375-455C-9EA6-DF929625EA0E}">
        <p15:presenceInfo xmlns:p15="http://schemas.microsoft.com/office/powerpoint/2012/main" userId="assist" providerId="None"/>
      </p:ext>
    </p:extLst>
  </p:cmAuthor>
  <p:cmAuthor id="2" name="강 성민" initials="강성" lastIdx="1" clrIdx="1">
    <p:extLst>
      <p:ext uri="{19B8F6BF-5375-455C-9EA6-DF929625EA0E}">
        <p15:presenceInfo xmlns:p15="http://schemas.microsoft.com/office/powerpoint/2012/main" userId="9eac702dc5d5175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617"/>
    <a:srgbClr val="006600"/>
    <a:srgbClr val="555555"/>
    <a:srgbClr val="CC0000"/>
    <a:srgbClr val="C4C4C4"/>
    <a:srgbClr val="404040"/>
    <a:srgbClr val="49654A"/>
    <a:srgbClr val="153161"/>
    <a:srgbClr val="087258"/>
    <a:srgbClr val="6F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3" autoAdjust="0"/>
    <p:restoredTop sz="96353" autoAdjust="0"/>
  </p:normalViewPr>
  <p:slideViewPr>
    <p:cSldViewPr snapToGrid="0">
      <p:cViewPr varScale="1">
        <p:scale>
          <a:sx n="176" d="100"/>
          <a:sy n="176" d="100"/>
        </p:scale>
        <p:origin x="3090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fld id="{E81F5B17-EACF-4AD9-AC53-4198354AFC65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fld id="{42EAC838-F101-40B5-A2D6-93787C856CD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790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HY헤드라인M" panose="02030600000101010101" pitchFamily="18" charset="-127"/>
        <a:ea typeface="HY헤드라인M" panose="0203060000010101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kern="0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AC838-F101-40B5-A2D6-93787C856CD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4876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AC838-F101-40B5-A2D6-93787C856CD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0676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AC838-F101-40B5-A2D6-93787C856CDA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4301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○ 위성 영상 기반 생육 분석 기술 개발 </a:t>
            </a:r>
            <a:r>
              <a:rPr lang="en-US" altLang="ko-KR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-?</a:t>
            </a:r>
            <a:r>
              <a:rPr lang="ko-KR" altLang="en-US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단수</a:t>
            </a:r>
            <a:r>
              <a:rPr lang="en-US" altLang="ko-KR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?  </a:t>
            </a:r>
            <a:r>
              <a:rPr lang="ko-KR" altLang="en-US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수요</a:t>
            </a:r>
            <a:r>
              <a:rPr lang="en-US" altLang="ko-KR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-&gt;</a:t>
            </a:r>
            <a:r>
              <a:rPr lang="ko-KR" altLang="en-US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가격</a:t>
            </a:r>
            <a:endParaRPr lang="en-US" altLang="ko-KR" sz="1200" b="1" kern="0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AC838-F101-40B5-A2D6-93787C856CDA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7756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○ 위성 영상 기반 생육 분석 기술 개발 </a:t>
            </a:r>
            <a:r>
              <a:rPr lang="en-US" altLang="ko-KR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-?</a:t>
            </a:r>
            <a:r>
              <a:rPr lang="ko-KR" altLang="en-US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단수</a:t>
            </a:r>
            <a:r>
              <a:rPr lang="en-US" altLang="ko-KR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?  </a:t>
            </a:r>
            <a:r>
              <a:rPr lang="ko-KR" altLang="en-US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수요</a:t>
            </a:r>
            <a:r>
              <a:rPr lang="en-US" altLang="ko-KR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-&gt;</a:t>
            </a:r>
            <a:r>
              <a:rPr lang="ko-KR" altLang="en-US" sz="1200" b="1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가격</a:t>
            </a:r>
            <a:endParaRPr lang="en-US" altLang="ko-KR" sz="1200" b="1" kern="0" spc="-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AC838-F101-40B5-A2D6-93787C856CDA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4368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69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52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14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165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5360" y="351482"/>
            <a:ext cx="9217024" cy="369332"/>
          </a:xfrm>
          <a:prstGeom prst="rect">
            <a:avLst/>
          </a:prstGeom>
        </p:spPr>
        <p:txBody>
          <a:bodyPr/>
          <a:lstStyle>
            <a:lvl1pPr algn="l">
              <a:defRPr sz="24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5360" y="1196752"/>
            <a:ext cx="11521280" cy="51845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 b="0">
                <a:latin typeface="HY헤드라인M" pitchFamily="18" charset="-127"/>
                <a:ea typeface="HY헤드라인M" pitchFamily="18" charset="-127"/>
              </a:defRPr>
            </a:lvl1pPr>
            <a:lvl2pPr>
              <a:lnSpc>
                <a:spcPct val="100000"/>
              </a:lnSpc>
              <a:defRPr sz="2000" b="0">
                <a:latin typeface="HY헤드라인M" pitchFamily="18" charset="-127"/>
                <a:ea typeface="HY헤드라인M" pitchFamily="18" charset="-127"/>
              </a:defRPr>
            </a:lvl2pPr>
            <a:lvl3pPr>
              <a:lnSpc>
                <a:spcPct val="100000"/>
              </a:lnSpc>
              <a:defRPr sz="1800" b="0">
                <a:latin typeface="HY헤드라인M" pitchFamily="18" charset="-127"/>
                <a:ea typeface="HY헤드라인M" pitchFamily="18" charset="-127"/>
              </a:defRPr>
            </a:lvl3pPr>
            <a:lvl4pPr>
              <a:lnSpc>
                <a:spcPct val="100000"/>
              </a:lnSpc>
              <a:defRPr sz="1600" b="0">
                <a:latin typeface="HY헤드라인M" pitchFamily="18" charset="-127"/>
                <a:ea typeface="HY헤드라인M" pitchFamily="18" charset="-127"/>
              </a:defRPr>
            </a:lvl4pPr>
            <a:lvl5pPr>
              <a:lnSpc>
                <a:spcPct val="100000"/>
              </a:lnSpc>
              <a:defRPr sz="1600" b="0"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5711957" y="6520260"/>
            <a:ext cx="622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0070C0"/>
                </a:solidFill>
                <a:latin typeface="HY견고딕" pitchFamily="18" charset="-127"/>
                <a:ea typeface="HY견고딕" pitchFamily="18" charset="-127"/>
              </a:defRPr>
            </a:lvl1pPr>
          </a:lstStyle>
          <a:p>
            <a:fld id="{12BA4F53-1970-49B1-8515-7D34A9B0E6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1947702"/>
      </p:ext>
    </p:extLst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5" descr="의료방사선 내지.jpg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t="97656"/>
          <a:stretch>
            <a:fillRect/>
          </a:stretch>
        </p:blipFill>
        <p:spPr>
          <a:xfrm>
            <a:off x="-139960" y="-117961"/>
            <a:ext cx="12192000" cy="8572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213009" y="126515"/>
            <a:ext cx="10972800" cy="368280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endParaRPr lang="ko-KR" altLang="en-US" sz="24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621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FDFBF4-8F44-4616-A937-31EEEA1E819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382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19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453C50-58DA-4CC8-9766-479AECA3B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354"/>
            <a:ext cx="12192000" cy="6858000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80E1CAC-56D2-4A09-B12E-4916A5252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270" y="148616"/>
            <a:ext cx="1239878" cy="247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0D316C-236E-4B85-8C30-7AAD930D9A57}"/>
              </a:ext>
            </a:extLst>
          </p:cNvPr>
          <p:cNvSpPr txBox="1"/>
          <p:nvPr/>
        </p:nvSpPr>
        <p:spPr>
          <a:xfrm>
            <a:off x="1476435" y="1896174"/>
            <a:ext cx="9239128" cy="7745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5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농업데이터 수집 및 관리</a:t>
            </a:r>
            <a:endParaRPr lang="en-US" altLang="ko-KR" sz="35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9635A-D84D-2119-C697-6FBD84DCBB3E}"/>
              </a:ext>
            </a:extLst>
          </p:cNvPr>
          <p:cNvSpPr txBox="1"/>
          <p:nvPr/>
        </p:nvSpPr>
        <p:spPr>
          <a:xfrm>
            <a:off x="5175722" y="3441354"/>
            <a:ext cx="2099343" cy="267184"/>
          </a:xfrm>
          <a:prstGeom prst="rect">
            <a:avLst/>
          </a:prstGeom>
          <a:noFill/>
        </p:spPr>
        <p:txBody>
          <a:bodyPr wrap="none" lIns="54000" tIns="18000" rIns="54000" bIns="18000" rtlCol="0">
            <a:spAutoFit/>
          </a:bodyPr>
          <a:lstStyle/>
          <a:p>
            <a:pPr algn="ctr"/>
            <a:r>
              <a:rPr lang="ko-KR" altLang="en-US" sz="1500" spc="-4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2A2A2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전남대학교 </a:t>
            </a:r>
            <a:r>
              <a:rPr lang="ko-KR" altLang="en-US" sz="1500" spc="-4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2A2A2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나명환</a:t>
            </a:r>
            <a:r>
              <a:rPr lang="ko-KR" altLang="en-US" sz="1500" spc="-4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2A2A2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교수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35A03-CB62-551B-6B07-1BD7D420457C}"/>
              </a:ext>
            </a:extLst>
          </p:cNvPr>
          <p:cNvSpPr txBox="1"/>
          <p:nvPr/>
        </p:nvSpPr>
        <p:spPr>
          <a:xfrm>
            <a:off x="5738218" y="4117997"/>
            <a:ext cx="974356" cy="267184"/>
          </a:xfrm>
          <a:prstGeom prst="rect">
            <a:avLst/>
          </a:prstGeom>
          <a:noFill/>
        </p:spPr>
        <p:txBody>
          <a:bodyPr wrap="none" lIns="54000" tIns="18000" rIns="54000" bIns="18000" rtlCol="0">
            <a:spAutoFit/>
          </a:bodyPr>
          <a:lstStyle/>
          <a:p>
            <a:pPr algn="ctr"/>
            <a:r>
              <a:rPr lang="en-US" altLang="ko-KR" sz="1500" spc="-4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2A2A2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2026. 4. 1.</a:t>
            </a:r>
            <a:endParaRPr lang="ko-KR" altLang="en-US" sz="1500" spc="-4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2A2A2A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31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30E839D-2E7A-4619-9597-0E443D154B09}"/>
              </a:ext>
            </a:extLst>
          </p:cNvPr>
          <p:cNvSpPr/>
          <p:nvPr/>
        </p:nvSpPr>
        <p:spPr>
          <a:xfrm flipV="1">
            <a:off x="0" y="-1"/>
            <a:ext cx="12191999" cy="523218"/>
          </a:xfrm>
          <a:prstGeom prst="rect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" name="Picture 2" descr="C:\Users\Administrator\Desktop\gggg.png">
            <a:extLst>
              <a:ext uri="{FF2B5EF4-FFF2-40B4-BE49-F238E27FC236}">
                <a16:creationId xmlns:a16="http://schemas.microsoft.com/office/drawing/2014/main" id="{DC13BCED-80BC-4F46-BB24-04E3E2AB2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grayscl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75"/>
          <a:stretch/>
        </p:blipFill>
        <p:spPr bwMode="auto">
          <a:xfrm>
            <a:off x="671513" y="0"/>
            <a:ext cx="1947445" cy="52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058FFC-80E6-445E-A0F7-5A9C24055B20}"/>
              </a:ext>
            </a:extLst>
          </p:cNvPr>
          <p:cNvSpPr txBox="1"/>
          <p:nvPr/>
        </p:nvSpPr>
        <p:spPr>
          <a:xfrm>
            <a:off x="688260" y="104652"/>
            <a:ext cx="1475084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연구실 소개</a:t>
            </a:r>
            <a:endParaRPr lang="en-US" altLang="ko-KR" sz="2000" spc="-100" dirty="0">
              <a:ln>
                <a:solidFill>
                  <a:schemeClr val="accent1">
                    <a:alpha val="0"/>
                  </a:schemeClr>
                </a:solidFill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B1C82A01-CB73-48E8-8CC1-09F8F84791E3}"/>
              </a:ext>
            </a:extLst>
          </p:cNvPr>
          <p:cNvSpPr/>
          <p:nvPr/>
        </p:nvSpPr>
        <p:spPr>
          <a:xfrm rot="16200000" flipV="1">
            <a:off x="3572" y="-3580"/>
            <a:ext cx="748425" cy="755577"/>
          </a:xfrm>
          <a:prstGeom prst="triangle">
            <a:avLst>
              <a:gd name="adj" fmla="val 100000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한쪽 모서리는 잘리고 다른 쪽 모서리는 둥근 사각형 58">
            <a:extLst>
              <a:ext uri="{FF2B5EF4-FFF2-40B4-BE49-F238E27FC236}">
                <a16:creationId xmlns:a16="http://schemas.microsoft.com/office/drawing/2014/main" id="{E3537D1B-51AF-458F-8A4A-98536B9DDCB5}"/>
              </a:ext>
            </a:extLst>
          </p:cNvPr>
          <p:cNvSpPr/>
          <p:nvPr/>
        </p:nvSpPr>
        <p:spPr>
          <a:xfrm flipH="1">
            <a:off x="100416" y="72902"/>
            <a:ext cx="571097" cy="602620"/>
          </a:xfrm>
          <a:prstGeom prst="snipRoundRect">
            <a:avLst>
              <a:gd name="adj1" fmla="val 0"/>
              <a:gd name="adj2" fmla="val 28819"/>
            </a:avLst>
          </a:prstGeom>
          <a:solidFill>
            <a:srgbClr val="1B3E1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128A3-D0C2-4C0E-886E-B374FA52CDB2}"/>
              </a:ext>
            </a:extLst>
          </p:cNvPr>
          <p:cNvSpPr txBox="1"/>
          <p:nvPr/>
        </p:nvSpPr>
        <p:spPr>
          <a:xfrm>
            <a:off x="114094" y="143380"/>
            <a:ext cx="54374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4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4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1" name="슬라이드 번호 개체 틀 40">
            <a:extLst>
              <a:ext uri="{FF2B5EF4-FFF2-40B4-BE49-F238E27FC236}">
                <a16:creationId xmlns:a16="http://schemas.microsoft.com/office/drawing/2014/main" id="{518D0B5A-FB6C-4334-9C22-34CE1FFD31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5414" y="6505574"/>
            <a:ext cx="344967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pPr/>
              <a:t>2</a:t>
            </a:fld>
            <a:endParaRPr 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4219AAF-D72C-43F7-ADB8-C8A5F5C01260}"/>
              </a:ext>
            </a:extLst>
          </p:cNvPr>
          <p:cNvGrpSpPr/>
          <p:nvPr/>
        </p:nvGrpSpPr>
        <p:grpSpPr>
          <a:xfrm>
            <a:off x="812675" y="675522"/>
            <a:ext cx="10075393" cy="410024"/>
            <a:chOff x="812675" y="816204"/>
            <a:chExt cx="6435017" cy="410024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1343B5B-74A0-4C5B-8CEE-420CC799589F}"/>
                </a:ext>
              </a:extLst>
            </p:cNvPr>
            <p:cNvSpPr txBox="1"/>
            <p:nvPr/>
          </p:nvSpPr>
          <p:spPr>
            <a:xfrm>
              <a:off x="950202" y="856896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r>
                <a:rPr lang="ko-KR" altLang="en-US" dirty="0">
                  <a:solidFill>
                    <a:srgbClr val="121212"/>
                  </a:solidFill>
                  <a:latin typeface="+mj-lt"/>
                  <a:ea typeface="HY헤드라인M" panose="02030600000101010101" pitchFamily="18" charset="-127"/>
                </a:rPr>
                <a:t>융합 빅데이터 연구실 </a:t>
              </a:r>
              <a:endParaRPr lang="en-US" altLang="ko-KR" dirty="0">
                <a:solidFill>
                  <a:srgbClr val="121212"/>
                </a:solidFill>
                <a:latin typeface="+mj-lt"/>
                <a:ea typeface="HY헤드라인M" panose="02030600000101010101" pitchFamily="18" charset="-127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77EB78-4A72-4B8C-948D-82728EE322B1}"/>
                </a:ext>
              </a:extLst>
            </p:cNvPr>
            <p:cNvSpPr/>
            <p:nvPr/>
          </p:nvSpPr>
          <p:spPr>
            <a:xfrm>
              <a:off x="812675" y="937749"/>
              <a:ext cx="120181" cy="198782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lt"/>
                <a:ea typeface="KoPub돋움체 Bold" panose="00000800000000000000" pitchFamily="2" charset="-127"/>
              </a:endParaRPr>
            </a:p>
          </p:txBody>
        </p:sp>
        <p:sp>
          <p:nvSpPr>
            <p:cNvPr id="13" name="文本框 15">
              <a:extLst>
                <a:ext uri="{FF2B5EF4-FFF2-40B4-BE49-F238E27FC236}">
                  <a16:creationId xmlns:a16="http://schemas.microsoft.com/office/drawing/2014/main" id="{D6E7963F-9A19-44D6-9A70-F64B02C25894}"/>
                </a:ext>
              </a:extLst>
            </p:cNvPr>
            <p:cNvSpPr txBox="1"/>
            <p:nvPr/>
          </p:nvSpPr>
          <p:spPr>
            <a:xfrm>
              <a:off x="2049140" y="816204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endParaRPr lang="en-US" altLang="ko-KR" dirty="0">
                <a:solidFill>
                  <a:srgbClr val="121212"/>
                </a:solidFill>
                <a:latin typeface="+mj-lt"/>
                <a:ea typeface="HY헤드라인M" panose="02030600000101010101" pitchFamily="18" charset="-127"/>
              </a:endParaRPr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3416300" y="20193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134679"/>
              </p:ext>
            </p:extLst>
          </p:nvPr>
        </p:nvGraphicFramePr>
        <p:xfrm>
          <a:off x="548504" y="1085546"/>
          <a:ext cx="11229366" cy="5708493"/>
        </p:xfrm>
        <a:graphic>
          <a:graphicData uri="http://schemas.openxmlformats.org/drawingml/2006/table">
            <a:tbl>
              <a:tblPr/>
              <a:tblGrid>
                <a:gridCol w="842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1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61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연구개발과제명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연구개발기간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생산성 향상을 위한 빅데이터의 신뢰도 향상 기술 개발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16.02.01~18.12.31</a:t>
                      </a:r>
                      <a:endParaRPr lang="en-US" sz="2000" kern="0" spc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6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시설채소 품목별 빅데이터 활용 생산성 향상 모델 개발 및 수익성 최적화 연구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17.03.01~19.12.31</a:t>
                      </a:r>
                      <a:endParaRPr lang="en-US" sz="2000" kern="0" spc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96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생육 빅데이터 활용 노지채소 안정생산 및 수확량 예측 모델 개발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18.03.01~20.12.31</a:t>
                      </a:r>
                      <a:endParaRPr lang="en-US" sz="2000" kern="0" spc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9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시설 오이 스마트팜 빅데이터분석 최적화 연구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18.07.31~20.12.31</a:t>
                      </a:r>
                      <a:endParaRPr lang="en-US" sz="2000" kern="0" spc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96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시설채소 비정형 빅데이터 분석 및 생장 병해 진단 기술 고도화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19.01.22.~20.01.21</a:t>
                      </a:r>
                      <a:endParaRPr lang="en-US" sz="2000" kern="0" spc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96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스마트 온실 빅데이터 활용 생산성 향상 모델 고도화를 위한 예측모델 개발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20.05.01.~21.04.30</a:t>
                      </a:r>
                      <a:endParaRPr lang="en-US" sz="2000" kern="0" spc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96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스마트온실 유형별 종합 성과분석 및 핵심기기 국산화율 조사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20.07.03~21.07.02</a:t>
                      </a:r>
                      <a:endParaRPr lang="en-US" sz="2000" kern="0" spc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96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채소 빅데이터를 활용한 작목별 적정 환경 및 재배관리 특화모델 개발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20.05.01.~21.12.31</a:t>
                      </a:r>
                      <a:endParaRPr lang="en-US" sz="2000" kern="0" spc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9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축종</a:t>
                      </a: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(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한우</a:t>
                      </a: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젖소</a:t>
                      </a: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돼지</a:t>
                      </a: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)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별 성장 및 생장 예측 모델 개발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21.04.07~24.12.31</a:t>
                      </a:r>
                      <a:endParaRPr lang="en-US" sz="2000" kern="0" spc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9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양파</a:t>
                      </a: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마늘 데이터 활용 디지털농업 선도모델 개발 및 실증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22.04.01~24.12.31</a:t>
                      </a:r>
                      <a:endParaRPr lang="en-US" sz="2000" kern="0" spc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96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농식품 정형</a:t>
                      </a:r>
                      <a:r>
                        <a:rPr lang="en-US" altLang="ko-KR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·</a:t>
                      </a: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비정형 빅데이터 기반 주요 농산물의 생산 및 소비촉진 방안 연구 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0" dirty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23.01.01~24.12.31</a:t>
                      </a:r>
                      <a:endParaRPr lang="en-US" sz="2000" kern="0" spc="0" dirty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</a:endParaRPr>
                    </a:p>
                  </a:txBody>
                  <a:tcPr marL="32250" marR="32250" marT="8916" marB="891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15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30E839D-2E7A-4619-9597-0E443D154B09}"/>
              </a:ext>
            </a:extLst>
          </p:cNvPr>
          <p:cNvSpPr/>
          <p:nvPr/>
        </p:nvSpPr>
        <p:spPr>
          <a:xfrm flipV="1">
            <a:off x="0" y="-1"/>
            <a:ext cx="12191999" cy="523218"/>
          </a:xfrm>
          <a:prstGeom prst="rect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" name="Picture 2" descr="C:\Users\Administrator\Desktop\gggg.png">
            <a:extLst>
              <a:ext uri="{FF2B5EF4-FFF2-40B4-BE49-F238E27FC236}">
                <a16:creationId xmlns:a16="http://schemas.microsoft.com/office/drawing/2014/main" id="{DC13BCED-80BC-4F46-BB24-04E3E2AB2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grayscl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75"/>
          <a:stretch/>
        </p:blipFill>
        <p:spPr bwMode="auto">
          <a:xfrm>
            <a:off x="671513" y="0"/>
            <a:ext cx="1947445" cy="52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058FFC-80E6-445E-A0F7-5A9C24055B20}"/>
              </a:ext>
            </a:extLst>
          </p:cNvPr>
          <p:cNvSpPr txBox="1"/>
          <p:nvPr/>
        </p:nvSpPr>
        <p:spPr>
          <a:xfrm>
            <a:off x="688260" y="104652"/>
            <a:ext cx="1475084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연구실 소개</a:t>
            </a:r>
            <a:endParaRPr lang="en-US" altLang="ko-KR" sz="2000" spc="-100" dirty="0">
              <a:ln>
                <a:solidFill>
                  <a:schemeClr val="accent1">
                    <a:alpha val="0"/>
                  </a:schemeClr>
                </a:solidFill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B1C82A01-CB73-48E8-8CC1-09F8F84791E3}"/>
              </a:ext>
            </a:extLst>
          </p:cNvPr>
          <p:cNvSpPr/>
          <p:nvPr/>
        </p:nvSpPr>
        <p:spPr>
          <a:xfrm rot="16200000" flipV="1">
            <a:off x="3572" y="-3580"/>
            <a:ext cx="748425" cy="755577"/>
          </a:xfrm>
          <a:prstGeom prst="triangle">
            <a:avLst>
              <a:gd name="adj" fmla="val 100000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한쪽 모서리는 잘리고 다른 쪽 모서리는 둥근 사각형 58">
            <a:extLst>
              <a:ext uri="{FF2B5EF4-FFF2-40B4-BE49-F238E27FC236}">
                <a16:creationId xmlns:a16="http://schemas.microsoft.com/office/drawing/2014/main" id="{E3537D1B-51AF-458F-8A4A-98536B9DDCB5}"/>
              </a:ext>
            </a:extLst>
          </p:cNvPr>
          <p:cNvSpPr/>
          <p:nvPr/>
        </p:nvSpPr>
        <p:spPr>
          <a:xfrm flipH="1">
            <a:off x="100416" y="72902"/>
            <a:ext cx="571097" cy="602620"/>
          </a:xfrm>
          <a:prstGeom prst="snipRoundRect">
            <a:avLst>
              <a:gd name="adj1" fmla="val 0"/>
              <a:gd name="adj2" fmla="val 28819"/>
            </a:avLst>
          </a:prstGeom>
          <a:solidFill>
            <a:srgbClr val="1B3E1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128A3-D0C2-4C0E-886E-B374FA52CDB2}"/>
              </a:ext>
            </a:extLst>
          </p:cNvPr>
          <p:cNvSpPr txBox="1"/>
          <p:nvPr/>
        </p:nvSpPr>
        <p:spPr>
          <a:xfrm>
            <a:off x="114094" y="143380"/>
            <a:ext cx="54374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4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4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1" name="슬라이드 번호 개체 틀 40">
            <a:extLst>
              <a:ext uri="{FF2B5EF4-FFF2-40B4-BE49-F238E27FC236}">
                <a16:creationId xmlns:a16="http://schemas.microsoft.com/office/drawing/2014/main" id="{518D0B5A-FB6C-4334-9C22-34CE1FFD31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5414" y="6505574"/>
            <a:ext cx="344967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pPr/>
              <a:t>3</a:t>
            </a:fld>
            <a:endParaRPr 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4219AAF-D72C-43F7-ADB8-C8A5F5C01260}"/>
              </a:ext>
            </a:extLst>
          </p:cNvPr>
          <p:cNvGrpSpPr/>
          <p:nvPr/>
        </p:nvGrpSpPr>
        <p:grpSpPr>
          <a:xfrm>
            <a:off x="812675" y="675522"/>
            <a:ext cx="10075393" cy="410024"/>
            <a:chOff x="812675" y="816204"/>
            <a:chExt cx="6435017" cy="410024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1343B5B-74A0-4C5B-8CEE-420CC799589F}"/>
                </a:ext>
              </a:extLst>
            </p:cNvPr>
            <p:cNvSpPr txBox="1"/>
            <p:nvPr/>
          </p:nvSpPr>
          <p:spPr>
            <a:xfrm>
              <a:off x="950202" y="856896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r>
                <a:rPr lang="ko-KR" altLang="en-US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융합 빅데이터 연구실 </a:t>
              </a:r>
              <a:endParaRPr lang="en-US" altLang="ko-KR" dirty="0">
                <a:solidFill>
                  <a:srgbClr val="12121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77EB78-4A72-4B8C-948D-82728EE322B1}"/>
                </a:ext>
              </a:extLst>
            </p:cNvPr>
            <p:cNvSpPr/>
            <p:nvPr/>
          </p:nvSpPr>
          <p:spPr>
            <a:xfrm>
              <a:off x="812675" y="937749"/>
              <a:ext cx="120181" cy="198782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HY헤드라인M" panose="02030600000101010101" pitchFamily="18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3" name="文本框 15">
              <a:extLst>
                <a:ext uri="{FF2B5EF4-FFF2-40B4-BE49-F238E27FC236}">
                  <a16:creationId xmlns:a16="http://schemas.microsoft.com/office/drawing/2014/main" id="{D6E7963F-9A19-44D6-9A70-F64B02C25894}"/>
                </a:ext>
              </a:extLst>
            </p:cNvPr>
            <p:cNvSpPr txBox="1"/>
            <p:nvPr/>
          </p:nvSpPr>
          <p:spPr>
            <a:xfrm>
              <a:off x="2049140" y="816204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endParaRPr lang="en-US" altLang="ko-KR" dirty="0">
                <a:solidFill>
                  <a:srgbClr val="12121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906314"/>
              </p:ext>
            </p:extLst>
          </p:nvPr>
        </p:nvGraphicFramePr>
        <p:xfrm>
          <a:off x="657834" y="1359396"/>
          <a:ext cx="10624822" cy="1785319"/>
        </p:xfrm>
        <a:graphic>
          <a:graphicData uri="http://schemas.openxmlformats.org/drawingml/2006/table">
            <a:tbl>
              <a:tblPr/>
              <a:tblGrid>
                <a:gridCol w="7666359">
                  <a:extLst>
                    <a:ext uri="{9D8B030D-6E8A-4147-A177-3AD203B41FA5}">
                      <a16:colId xmlns:a16="http://schemas.microsoft.com/office/drawing/2014/main" val="110652765"/>
                    </a:ext>
                  </a:extLst>
                </a:gridCol>
                <a:gridCol w="2958463">
                  <a:extLst>
                    <a:ext uri="{9D8B030D-6E8A-4147-A177-3AD203B41FA5}">
                      <a16:colId xmlns:a16="http://schemas.microsoft.com/office/drawing/2014/main" val="1473489457"/>
                    </a:ext>
                  </a:extLst>
                </a:gridCol>
              </a:tblGrid>
              <a:tr h="5519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연구개발과제명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연구개기간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361835"/>
                  </a:ext>
                </a:extLst>
              </a:tr>
              <a:tr h="223647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2024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년 광주지역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성장사다리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사업 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60" dirty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24.09.01~24.12.31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474498"/>
                  </a:ext>
                </a:extLst>
              </a:tr>
              <a:tr h="223647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라이프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로그기반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치매관리 및 예방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앱서비스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개발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0" spc="-60" dirty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23.09.01~23.12.31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452954"/>
                  </a:ext>
                </a:extLst>
              </a:tr>
              <a:tr h="4453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LG</a:t>
                      </a:r>
                      <a:r>
                        <a:rPr lang="ko-KR" altLang="ko-K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전자 신뢰성전문가 교육과정 개발 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60" dirty="0">
                          <a:solidFill>
                            <a:srgbClr val="000000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23.04.01~23.09.30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623619"/>
                  </a:ext>
                </a:extLst>
              </a:tr>
            </a:tbl>
          </a:graphicData>
        </a:graphic>
      </p:graphicFrame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3416300" y="20193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34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05927" y="2512194"/>
            <a:ext cx="84028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데이터</a:t>
            </a:r>
            <a:r>
              <a:rPr lang="en-US" altLang="ko-KR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수집에 진심 </a:t>
            </a:r>
          </a:p>
        </p:txBody>
      </p:sp>
    </p:spTree>
    <p:extLst>
      <p:ext uri="{BB962C8B-B14F-4D97-AF65-F5344CB8AC3E}">
        <p14:creationId xmlns:p14="http://schemas.microsoft.com/office/powerpoint/2010/main" val="14548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5</a:t>
            </a:fld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175" y="662506"/>
            <a:ext cx="4805620" cy="6045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11215" y="3269607"/>
            <a:ext cx="6997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빅데이터</a:t>
            </a:r>
            <a:r>
              <a:rPr lang="ko-KR" altLang="en-US" sz="4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</a:t>
            </a:r>
            <a:r>
              <a:rPr lang="en-US" altLang="ko-KR" sz="4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      insight</a:t>
            </a:r>
            <a:r>
              <a:rPr lang="ko-KR" altLang="en-US" sz="4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</a:p>
        </p:txBody>
      </p:sp>
      <p:sp>
        <p:nvSpPr>
          <p:cNvPr id="5" name="오른쪽 화살표 4"/>
          <p:cNvSpPr/>
          <p:nvPr/>
        </p:nvSpPr>
        <p:spPr>
          <a:xfrm>
            <a:off x="6944040" y="344278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29389" y="96253"/>
            <a:ext cx="613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From Big Data to</a:t>
            </a:r>
            <a:r>
              <a:rPr lang="ko-KR" altLang="en-US" dirty="0"/>
              <a:t> </a:t>
            </a:r>
            <a:r>
              <a:rPr lang="en-US" altLang="ko-KR" dirty="0"/>
              <a:t>insight 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5858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6</a:t>
            </a:fld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308" y="465585"/>
            <a:ext cx="4805620" cy="6045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6230" y="3070081"/>
            <a:ext cx="10474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Research Target </a:t>
            </a:r>
            <a:r>
              <a:rPr lang="ko-KR" altLang="en-US" sz="4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      </a:t>
            </a:r>
            <a:r>
              <a:rPr lang="en-US" altLang="ko-KR" sz="4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Big Data</a:t>
            </a:r>
            <a:endParaRPr lang="ko-KR" altLang="en-US" sz="4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5" name="오른쪽 화살표 4"/>
          <p:cNvSpPr/>
          <p:nvPr/>
        </p:nvSpPr>
        <p:spPr>
          <a:xfrm>
            <a:off x="5117592" y="324326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6230" y="346510"/>
            <a:ext cx="6131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C00000"/>
                </a:solidFill>
              </a:rPr>
              <a:t>From Research Target to Big Data</a:t>
            </a:r>
            <a:endParaRPr lang="ko-KR" altLang="en-US" sz="2800" dirty="0">
              <a:solidFill>
                <a:srgbClr val="C00000"/>
              </a:solidFill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78E02D91-DC8E-44D2-9F16-BA26D9B9B069}"/>
              </a:ext>
            </a:extLst>
          </p:cNvPr>
          <p:cNvSpPr/>
          <p:nvPr/>
        </p:nvSpPr>
        <p:spPr>
          <a:xfrm rot="16200000">
            <a:off x="5172788" y="4175011"/>
            <a:ext cx="868017" cy="69574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48BC9-BA3E-4AAE-B389-DEE92C7375D5}"/>
              </a:ext>
            </a:extLst>
          </p:cNvPr>
          <p:cNvSpPr txBox="1"/>
          <p:nvPr/>
        </p:nvSpPr>
        <p:spPr>
          <a:xfrm>
            <a:off x="4552122" y="5188226"/>
            <a:ext cx="1832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</a:t>
            </a:r>
            <a:endParaRPr lang="ko-KR" alt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8791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BEB182-76F9-516E-37C2-3317CA641E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6EF719-DCAF-8361-BFA0-7CFDA46FB8B6}"/>
              </a:ext>
            </a:extLst>
          </p:cNvPr>
          <p:cNvSpPr/>
          <p:nvPr/>
        </p:nvSpPr>
        <p:spPr>
          <a:xfrm flipV="1">
            <a:off x="0" y="-1"/>
            <a:ext cx="12191999" cy="523218"/>
          </a:xfrm>
          <a:prstGeom prst="rect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" name="Picture 2" descr="C:\Users\Administrator\Desktop\gggg.png">
            <a:extLst>
              <a:ext uri="{FF2B5EF4-FFF2-40B4-BE49-F238E27FC236}">
                <a16:creationId xmlns:a16="http://schemas.microsoft.com/office/drawing/2014/main" id="{694C9397-01BB-4F92-D2EE-E846DFBE0D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grayscl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75"/>
          <a:stretch/>
        </p:blipFill>
        <p:spPr bwMode="auto">
          <a:xfrm>
            <a:off x="671513" y="0"/>
            <a:ext cx="1947445" cy="52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4981B4-204B-A767-7E2D-E7D0EC44249A}"/>
              </a:ext>
            </a:extLst>
          </p:cNvPr>
          <p:cNvSpPr txBox="1"/>
          <p:nvPr/>
        </p:nvSpPr>
        <p:spPr>
          <a:xfrm>
            <a:off x="688260" y="104652"/>
            <a:ext cx="216277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Collection of Data</a:t>
            </a: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94C04989-5A79-2C58-B6D7-EFA70160C1CB}"/>
              </a:ext>
            </a:extLst>
          </p:cNvPr>
          <p:cNvSpPr/>
          <p:nvPr/>
        </p:nvSpPr>
        <p:spPr>
          <a:xfrm rot="16200000" flipV="1">
            <a:off x="3572" y="-3580"/>
            <a:ext cx="748425" cy="755577"/>
          </a:xfrm>
          <a:prstGeom prst="triangle">
            <a:avLst>
              <a:gd name="adj" fmla="val 100000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한쪽 모서리는 잘리고 다른 쪽 모서리는 둥근 사각형 58">
            <a:extLst>
              <a:ext uri="{FF2B5EF4-FFF2-40B4-BE49-F238E27FC236}">
                <a16:creationId xmlns:a16="http://schemas.microsoft.com/office/drawing/2014/main" id="{A5C0735A-5039-81A5-60F4-CC7D2CE9CA8F}"/>
              </a:ext>
            </a:extLst>
          </p:cNvPr>
          <p:cNvSpPr/>
          <p:nvPr/>
        </p:nvSpPr>
        <p:spPr>
          <a:xfrm flipH="1">
            <a:off x="100416" y="72902"/>
            <a:ext cx="571097" cy="602620"/>
          </a:xfrm>
          <a:prstGeom prst="snipRoundRect">
            <a:avLst>
              <a:gd name="adj1" fmla="val 0"/>
              <a:gd name="adj2" fmla="val 28819"/>
            </a:avLst>
          </a:prstGeom>
          <a:solidFill>
            <a:srgbClr val="1B3E1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19EF5-ADF3-F72B-64D6-3E835873CEDA}"/>
              </a:ext>
            </a:extLst>
          </p:cNvPr>
          <p:cNvSpPr txBox="1"/>
          <p:nvPr/>
        </p:nvSpPr>
        <p:spPr>
          <a:xfrm>
            <a:off x="114094" y="143380"/>
            <a:ext cx="54374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4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4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9" name="组合 5">
            <a:extLst>
              <a:ext uri="{FF2B5EF4-FFF2-40B4-BE49-F238E27FC236}">
                <a16:creationId xmlns:a16="http://schemas.microsoft.com/office/drawing/2014/main" id="{245E6EE5-122E-48AA-FE3D-ED509086918A}"/>
              </a:ext>
            </a:extLst>
          </p:cNvPr>
          <p:cNvGrpSpPr/>
          <p:nvPr/>
        </p:nvGrpSpPr>
        <p:grpSpPr>
          <a:xfrm>
            <a:off x="812675" y="716214"/>
            <a:ext cx="8354771" cy="369332"/>
            <a:chOff x="812675" y="856896"/>
            <a:chExt cx="5336079" cy="369332"/>
          </a:xfrm>
        </p:grpSpPr>
        <p:sp>
          <p:nvSpPr>
            <p:cNvPr id="10" name="文本框 15">
              <a:extLst>
                <a:ext uri="{FF2B5EF4-FFF2-40B4-BE49-F238E27FC236}">
                  <a16:creationId xmlns:a16="http://schemas.microsoft.com/office/drawing/2014/main" id="{D361EBAD-A310-B627-4840-DA04AB2B48F4}"/>
                </a:ext>
              </a:extLst>
            </p:cNvPr>
            <p:cNvSpPr txBox="1"/>
            <p:nvPr/>
          </p:nvSpPr>
          <p:spPr>
            <a:xfrm>
              <a:off x="950202" y="856896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r>
                <a:rPr lang="en-US" altLang="ko-KR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Experiment Data</a:t>
              </a:r>
            </a:p>
          </p:txBody>
        </p:sp>
        <p:sp>
          <p:nvSpPr>
            <p:cNvPr id="11" name="矩形 4">
              <a:extLst>
                <a:ext uri="{FF2B5EF4-FFF2-40B4-BE49-F238E27FC236}">
                  <a16:creationId xmlns:a16="http://schemas.microsoft.com/office/drawing/2014/main" id="{C8AF6FDE-350D-979C-0FA9-4FA61508638F}"/>
                </a:ext>
              </a:extLst>
            </p:cNvPr>
            <p:cNvSpPr/>
            <p:nvPr/>
          </p:nvSpPr>
          <p:spPr>
            <a:xfrm>
              <a:off x="812675" y="937749"/>
              <a:ext cx="120181" cy="198782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HY헤드라인M" panose="02030600000101010101" pitchFamily="18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14" name="矩形 4">
            <a:extLst>
              <a:ext uri="{FF2B5EF4-FFF2-40B4-BE49-F238E27FC236}">
                <a16:creationId xmlns:a16="http://schemas.microsoft.com/office/drawing/2014/main" id="{35F46297-F761-2FA5-8C14-7E417E952CAC}"/>
              </a:ext>
            </a:extLst>
          </p:cNvPr>
          <p:cNvSpPr/>
          <p:nvPr/>
        </p:nvSpPr>
        <p:spPr>
          <a:xfrm>
            <a:off x="812675" y="797067"/>
            <a:ext cx="188169" cy="198782"/>
          </a:xfrm>
          <a:prstGeom prst="rect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Y헤드라인M" panose="02030600000101010101" pitchFamily="18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8003" y="1337912"/>
            <a:ext cx="84534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70C0"/>
                </a:solidFill>
              </a:rPr>
              <a:t>Target</a:t>
            </a:r>
            <a:r>
              <a:rPr lang="ko-KR" altLang="en-US" sz="2400" dirty="0">
                <a:solidFill>
                  <a:srgbClr val="0070C0"/>
                </a:solidFill>
              </a:rPr>
              <a:t>  </a:t>
            </a:r>
            <a:r>
              <a:rPr lang="en-US" altLang="ko-KR" sz="2400" dirty="0">
                <a:solidFill>
                  <a:srgbClr val="0070C0"/>
                </a:solidFill>
              </a:rPr>
              <a:t>: </a:t>
            </a:r>
          </a:p>
          <a:p>
            <a:endParaRPr lang="en-US" altLang="ko-KR" sz="2400" dirty="0">
              <a:solidFill>
                <a:srgbClr val="0070C0"/>
              </a:solidFill>
            </a:endParaRPr>
          </a:p>
          <a:p>
            <a:r>
              <a:rPr lang="ko-KR" altLang="en-US" sz="2400" dirty="0">
                <a:solidFill>
                  <a:srgbClr val="0070C0"/>
                </a:solidFill>
              </a:rPr>
              <a:t>노지 채소의 </a:t>
            </a:r>
            <a:r>
              <a:rPr lang="ko-KR" altLang="en-US" sz="2400" dirty="0" err="1">
                <a:solidFill>
                  <a:srgbClr val="0070C0"/>
                </a:solidFill>
              </a:rPr>
              <a:t>수분〮양분</a:t>
            </a:r>
            <a:r>
              <a:rPr lang="ko-KR" altLang="en-US" sz="2400" dirty="0">
                <a:solidFill>
                  <a:srgbClr val="0070C0"/>
                </a:solidFill>
              </a:rPr>
              <a:t> 스트레스를 </a:t>
            </a:r>
            <a:r>
              <a:rPr lang="ko-KR" altLang="en-US" sz="2400" dirty="0" err="1">
                <a:solidFill>
                  <a:srgbClr val="0070C0"/>
                </a:solidFill>
              </a:rPr>
              <a:t>드론</a:t>
            </a:r>
            <a:r>
              <a:rPr lang="ko-KR" altLang="en-US" sz="2400" dirty="0">
                <a:solidFill>
                  <a:srgbClr val="0070C0"/>
                </a:solidFill>
              </a:rPr>
              <a:t> 영상으로 분석하여 정밀 농업 구현 관제 시스템 개발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0F2BEF-D4FC-40B5-8306-7D1137678070}"/>
              </a:ext>
            </a:extLst>
          </p:cNvPr>
          <p:cNvSpPr txBox="1"/>
          <p:nvPr/>
        </p:nvSpPr>
        <p:spPr>
          <a:xfrm>
            <a:off x="1028003" y="3317934"/>
            <a:ext cx="84534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70C0"/>
                </a:solidFill>
              </a:rPr>
              <a:t>How</a:t>
            </a:r>
            <a:r>
              <a:rPr lang="ko-KR" altLang="en-US" sz="2400" dirty="0">
                <a:solidFill>
                  <a:srgbClr val="0070C0"/>
                </a:solidFill>
              </a:rPr>
              <a:t>   </a:t>
            </a:r>
            <a:r>
              <a:rPr lang="en-US" altLang="ko-KR" sz="2400" dirty="0">
                <a:solidFill>
                  <a:srgbClr val="0070C0"/>
                </a:solidFill>
              </a:rPr>
              <a:t>: </a:t>
            </a:r>
          </a:p>
          <a:p>
            <a:endParaRPr lang="en-US" altLang="ko-KR" sz="2400" dirty="0">
              <a:solidFill>
                <a:srgbClr val="0070C0"/>
              </a:solidFill>
            </a:endParaRPr>
          </a:p>
          <a:p>
            <a:r>
              <a:rPr lang="ko-KR" altLang="en-US" sz="2400" dirty="0">
                <a:solidFill>
                  <a:srgbClr val="0070C0"/>
                </a:solidFill>
              </a:rPr>
              <a:t>노지 채소의 </a:t>
            </a:r>
            <a:r>
              <a:rPr lang="ko-KR" altLang="en-US" sz="2400" dirty="0" err="1">
                <a:solidFill>
                  <a:srgbClr val="0070C0"/>
                </a:solidFill>
              </a:rPr>
              <a:t>수분〮양분</a:t>
            </a:r>
            <a:r>
              <a:rPr lang="ko-KR" altLang="en-US" sz="2400" dirty="0">
                <a:solidFill>
                  <a:srgbClr val="0070C0"/>
                </a:solidFill>
              </a:rPr>
              <a:t> 스트레스를 </a:t>
            </a:r>
            <a:r>
              <a:rPr lang="ko-KR" altLang="en-US" sz="2400" dirty="0" err="1">
                <a:solidFill>
                  <a:srgbClr val="0070C0"/>
                </a:solidFill>
              </a:rPr>
              <a:t>만들것인가</a:t>
            </a:r>
            <a:r>
              <a:rPr lang="en-US" altLang="ko-KR" sz="2400" dirty="0">
                <a:solidFill>
                  <a:srgbClr val="0070C0"/>
                </a:solidFill>
              </a:rPr>
              <a:t>? 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2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BEB182-76F9-516E-37C2-3317CA641E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6EF719-DCAF-8361-BFA0-7CFDA46FB8B6}"/>
              </a:ext>
            </a:extLst>
          </p:cNvPr>
          <p:cNvSpPr/>
          <p:nvPr/>
        </p:nvSpPr>
        <p:spPr>
          <a:xfrm flipV="1">
            <a:off x="0" y="-1"/>
            <a:ext cx="12191999" cy="523218"/>
          </a:xfrm>
          <a:prstGeom prst="rect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" name="Picture 2" descr="C:\Users\Administrator\Desktop\gggg.png">
            <a:extLst>
              <a:ext uri="{FF2B5EF4-FFF2-40B4-BE49-F238E27FC236}">
                <a16:creationId xmlns:a16="http://schemas.microsoft.com/office/drawing/2014/main" id="{694C9397-01BB-4F92-D2EE-E846DFBE0D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grayscl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75"/>
          <a:stretch/>
        </p:blipFill>
        <p:spPr bwMode="auto">
          <a:xfrm>
            <a:off x="671513" y="0"/>
            <a:ext cx="1947445" cy="52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4981B4-204B-A767-7E2D-E7D0EC44249A}"/>
              </a:ext>
            </a:extLst>
          </p:cNvPr>
          <p:cNvSpPr txBox="1"/>
          <p:nvPr/>
        </p:nvSpPr>
        <p:spPr>
          <a:xfrm>
            <a:off x="688260" y="104652"/>
            <a:ext cx="216277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Collection of Data</a:t>
            </a: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94C04989-5A79-2C58-B6D7-EFA70160C1CB}"/>
              </a:ext>
            </a:extLst>
          </p:cNvPr>
          <p:cNvSpPr/>
          <p:nvPr/>
        </p:nvSpPr>
        <p:spPr>
          <a:xfrm rot="16200000" flipV="1">
            <a:off x="3572" y="-3580"/>
            <a:ext cx="748425" cy="755577"/>
          </a:xfrm>
          <a:prstGeom prst="triangle">
            <a:avLst>
              <a:gd name="adj" fmla="val 100000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한쪽 모서리는 잘리고 다른 쪽 모서리는 둥근 사각형 58">
            <a:extLst>
              <a:ext uri="{FF2B5EF4-FFF2-40B4-BE49-F238E27FC236}">
                <a16:creationId xmlns:a16="http://schemas.microsoft.com/office/drawing/2014/main" id="{A5C0735A-5039-81A5-60F4-CC7D2CE9CA8F}"/>
              </a:ext>
            </a:extLst>
          </p:cNvPr>
          <p:cNvSpPr/>
          <p:nvPr/>
        </p:nvSpPr>
        <p:spPr>
          <a:xfrm flipH="1">
            <a:off x="100416" y="72902"/>
            <a:ext cx="571097" cy="602620"/>
          </a:xfrm>
          <a:prstGeom prst="snipRoundRect">
            <a:avLst>
              <a:gd name="adj1" fmla="val 0"/>
              <a:gd name="adj2" fmla="val 28819"/>
            </a:avLst>
          </a:prstGeom>
          <a:solidFill>
            <a:srgbClr val="1B3E1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19EF5-ADF3-F72B-64D6-3E835873CEDA}"/>
              </a:ext>
            </a:extLst>
          </p:cNvPr>
          <p:cNvSpPr txBox="1"/>
          <p:nvPr/>
        </p:nvSpPr>
        <p:spPr>
          <a:xfrm>
            <a:off x="114094" y="143380"/>
            <a:ext cx="54374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4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4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9" name="组合 5">
            <a:extLst>
              <a:ext uri="{FF2B5EF4-FFF2-40B4-BE49-F238E27FC236}">
                <a16:creationId xmlns:a16="http://schemas.microsoft.com/office/drawing/2014/main" id="{245E6EE5-122E-48AA-FE3D-ED509086918A}"/>
              </a:ext>
            </a:extLst>
          </p:cNvPr>
          <p:cNvGrpSpPr/>
          <p:nvPr/>
        </p:nvGrpSpPr>
        <p:grpSpPr>
          <a:xfrm>
            <a:off x="812675" y="716214"/>
            <a:ext cx="8354771" cy="369332"/>
            <a:chOff x="812675" y="856896"/>
            <a:chExt cx="5336079" cy="369332"/>
          </a:xfrm>
        </p:grpSpPr>
        <p:sp>
          <p:nvSpPr>
            <p:cNvPr id="10" name="文本框 15">
              <a:extLst>
                <a:ext uri="{FF2B5EF4-FFF2-40B4-BE49-F238E27FC236}">
                  <a16:creationId xmlns:a16="http://schemas.microsoft.com/office/drawing/2014/main" id="{D361EBAD-A310-B627-4840-DA04AB2B48F4}"/>
                </a:ext>
              </a:extLst>
            </p:cNvPr>
            <p:cNvSpPr txBox="1"/>
            <p:nvPr/>
          </p:nvSpPr>
          <p:spPr>
            <a:xfrm>
              <a:off x="950202" y="856896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r>
                <a:rPr lang="en-US" altLang="ko-KR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Experiment Data</a:t>
              </a:r>
            </a:p>
          </p:txBody>
        </p:sp>
        <p:sp>
          <p:nvSpPr>
            <p:cNvPr id="11" name="矩形 4">
              <a:extLst>
                <a:ext uri="{FF2B5EF4-FFF2-40B4-BE49-F238E27FC236}">
                  <a16:creationId xmlns:a16="http://schemas.microsoft.com/office/drawing/2014/main" id="{C8AF6FDE-350D-979C-0FA9-4FA61508638F}"/>
                </a:ext>
              </a:extLst>
            </p:cNvPr>
            <p:cNvSpPr/>
            <p:nvPr/>
          </p:nvSpPr>
          <p:spPr>
            <a:xfrm>
              <a:off x="812675" y="937749"/>
              <a:ext cx="120181" cy="198782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HY헤드라인M" panose="02030600000101010101" pitchFamily="18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14" name="矩形 4">
            <a:extLst>
              <a:ext uri="{FF2B5EF4-FFF2-40B4-BE49-F238E27FC236}">
                <a16:creationId xmlns:a16="http://schemas.microsoft.com/office/drawing/2014/main" id="{35F46297-F761-2FA5-8C14-7E417E952CAC}"/>
              </a:ext>
            </a:extLst>
          </p:cNvPr>
          <p:cNvSpPr/>
          <p:nvPr/>
        </p:nvSpPr>
        <p:spPr>
          <a:xfrm>
            <a:off x="812675" y="797067"/>
            <a:ext cx="188169" cy="198782"/>
          </a:xfrm>
          <a:prstGeom prst="rect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Y헤드라인M" panose="02030600000101010101" pitchFamily="18" charset="-127"/>
              <a:ea typeface="KoPub돋움체 Bold" panose="00000800000000000000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8003" y="1337912"/>
            <a:ext cx="84534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70C0"/>
                </a:solidFill>
              </a:rPr>
              <a:t>How</a:t>
            </a:r>
            <a:r>
              <a:rPr lang="ko-KR" altLang="en-US" sz="2400" dirty="0">
                <a:solidFill>
                  <a:srgbClr val="0070C0"/>
                </a:solidFill>
              </a:rPr>
              <a:t> </a:t>
            </a:r>
            <a:r>
              <a:rPr lang="en-US" altLang="ko-KR" sz="2400" dirty="0">
                <a:solidFill>
                  <a:srgbClr val="0070C0"/>
                </a:solidFill>
              </a:rPr>
              <a:t>: </a:t>
            </a:r>
          </a:p>
          <a:p>
            <a:endParaRPr lang="en-US" altLang="ko-KR" sz="2400" dirty="0">
              <a:solidFill>
                <a:srgbClr val="0070C0"/>
              </a:solidFill>
            </a:endParaRPr>
          </a:p>
          <a:p>
            <a:r>
              <a:rPr lang="ko-KR" altLang="en-US" sz="2400" dirty="0">
                <a:solidFill>
                  <a:srgbClr val="0070C0"/>
                </a:solidFill>
              </a:rPr>
              <a:t>질소 수준 </a:t>
            </a:r>
            <a:r>
              <a:rPr lang="en-US" altLang="ko-KR" sz="2400" dirty="0">
                <a:solidFill>
                  <a:srgbClr val="0070C0"/>
                </a:solidFill>
              </a:rPr>
              <a:t>: N0,</a:t>
            </a:r>
            <a:r>
              <a:rPr lang="ko-KR" altLang="en-US" sz="2400" dirty="0">
                <a:solidFill>
                  <a:srgbClr val="0070C0"/>
                </a:solidFill>
              </a:rPr>
              <a:t> </a:t>
            </a:r>
            <a:r>
              <a:rPr lang="en-US" altLang="ko-KR" sz="2400" dirty="0">
                <a:solidFill>
                  <a:srgbClr val="0070C0"/>
                </a:solidFill>
              </a:rPr>
              <a:t>N1/3,</a:t>
            </a:r>
            <a:r>
              <a:rPr lang="ko-KR" altLang="en-US" sz="2400" dirty="0">
                <a:solidFill>
                  <a:srgbClr val="0070C0"/>
                </a:solidFill>
              </a:rPr>
              <a:t> </a:t>
            </a:r>
            <a:r>
              <a:rPr lang="en-US" altLang="ko-KR" sz="2400" dirty="0">
                <a:solidFill>
                  <a:srgbClr val="0070C0"/>
                </a:solidFill>
              </a:rPr>
              <a:t>N2/3,</a:t>
            </a:r>
            <a:r>
              <a:rPr lang="ko-KR" altLang="en-US" sz="2400" dirty="0">
                <a:solidFill>
                  <a:srgbClr val="0070C0"/>
                </a:solidFill>
              </a:rPr>
              <a:t> </a:t>
            </a:r>
            <a:r>
              <a:rPr lang="en-US" altLang="ko-KR" sz="2400" dirty="0">
                <a:solidFill>
                  <a:srgbClr val="0070C0"/>
                </a:solidFill>
              </a:rPr>
              <a:t>N1</a:t>
            </a:r>
          </a:p>
          <a:p>
            <a:r>
              <a:rPr lang="ko-KR" altLang="en-US" sz="2400" dirty="0">
                <a:solidFill>
                  <a:srgbClr val="0070C0"/>
                </a:solidFill>
              </a:rPr>
              <a:t>관수 수준</a:t>
            </a:r>
            <a:r>
              <a:rPr lang="en-US" altLang="ko-KR" sz="2400" dirty="0">
                <a:solidFill>
                  <a:srgbClr val="0070C0"/>
                </a:solidFill>
              </a:rPr>
              <a:t> : W0, W1/3, W2/3, W1</a:t>
            </a:r>
          </a:p>
          <a:p>
            <a:endParaRPr lang="en-US" altLang="ko-KR" sz="2400" dirty="0">
              <a:solidFill>
                <a:srgbClr val="0070C0"/>
              </a:solidFill>
            </a:endParaRPr>
          </a:p>
          <a:p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0F2BEF-D4FC-40B5-8306-7D1137678070}"/>
              </a:ext>
            </a:extLst>
          </p:cNvPr>
          <p:cNvSpPr txBox="1"/>
          <p:nvPr/>
        </p:nvSpPr>
        <p:spPr>
          <a:xfrm>
            <a:off x="1028003" y="3317934"/>
            <a:ext cx="84534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70C0"/>
                </a:solidFill>
              </a:rPr>
              <a:t>방법론</a:t>
            </a:r>
            <a:r>
              <a:rPr lang="en-US" altLang="ko-KR" sz="2400" dirty="0">
                <a:solidFill>
                  <a:srgbClr val="0070C0"/>
                </a:solidFill>
              </a:rPr>
              <a:t> : </a:t>
            </a:r>
          </a:p>
          <a:p>
            <a:endParaRPr lang="en-US" altLang="ko-KR" sz="2400" dirty="0">
              <a:solidFill>
                <a:srgbClr val="0070C0"/>
              </a:solidFill>
            </a:endParaRPr>
          </a:p>
          <a:p>
            <a:r>
              <a:rPr lang="ko-KR" altLang="en-US" sz="2400" dirty="0" err="1">
                <a:solidFill>
                  <a:srgbClr val="0070C0"/>
                </a:solidFill>
              </a:rPr>
              <a:t>이원배치법</a:t>
            </a:r>
            <a:r>
              <a:rPr lang="en-US" altLang="ko-KR" sz="2400" dirty="0">
                <a:solidFill>
                  <a:srgbClr val="0070C0"/>
                </a:solidFill>
              </a:rPr>
              <a:t> 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7534F06-CFAF-4340-BA15-19C9DCBB3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631931"/>
              </p:ext>
            </p:extLst>
          </p:nvPr>
        </p:nvGraphicFramePr>
        <p:xfrm>
          <a:off x="3623782" y="3056787"/>
          <a:ext cx="6985000" cy="25810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        </a:t>
                      </a:r>
                      <a:r>
                        <a:rPr lang="ko-KR" altLang="en-US" sz="1800" b="1" dirty="0"/>
                        <a:t>관비</a:t>
                      </a:r>
                      <a:endParaRPr lang="en-US" altLang="ko-KR" sz="1800" b="1" dirty="0"/>
                    </a:p>
                    <a:p>
                      <a:pPr algn="l" latinLnBrk="1"/>
                      <a:r>
                        <a:rPr lang="ko-KR" altLang="en-US" sz="1800" b="1" dirty="0"/>
                        <a:t>관수</a:t>
                      </a:r>
                      <a:r>
                        <a:rPr lang="en-US" altLang="ko-KR" sz="1800" b="1" dirty="0"/>
                        <a:t> 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N0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N1/3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N2/3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N1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W0</a:t>
                      </a:r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47.14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48.33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43.57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38.57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W1/3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52.26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53.57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48.87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45.28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W2/3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54.05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54.88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51.43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48.69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W1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55.67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56.01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56.43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56.52</a:t>
                      </a:r>
                      <a:endParaRPr lang="ko-KR" altLang="en-US" sz="1800" b="1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3123345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62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88EAEA-F1B7-4822-A8EB-424B6E57C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151469"/>
              </p:ext>
            </p:extLst>
          </p:nvPr>
        </p:nvGraphicFramePr>
        <p:xfrm>
          <a:off x="3096399" y="1762397"/>
          <a:ext cx="5785524" cy="38731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6381">
                  <a:extLst>
                    <a:ext uri="{9D8B030D-6E8A-4147-A177-3AD203B41FA5}">
                      <a16:colId xmlns:a16="http://schemas.microsoft.com/office/drawing/2014/main" val="3725935396"/>
                    </a:ext>
                  </a:extLst>
                </a:gridCol>
                <a:gridCol w="1446381">
                  <a:extLst>
                    <a:ext uri="{9D8B030D-6E8A-4147-A177-3AD203B41FA5}">
                      <a16:colId xmlns:a16="http://schemas.microsoft.com/office/drawing/2014/main" val="2256175574"/>
                    </a:ext>
                  </a:extLst>
                </a:gridCol>
                <a:gridCol w="1446381">
                  <a:extLst>
                    <a:ext uri="{9D8B030D-6E8A-4147-A177-3AD203B41FA5}">
                      <a16:colId xmlns:a16="http://schemas.microsoft.com/office/drawing/2014/main" val="2166020709"/>
                    </a:ext>
                  </a:extLst>
                </a:gridCol>
                <a:gridCol w="1446381">
                  <a:extLst>
                    <a:ext uri="{9D8B030D-6E8A-4147-A177-3AD203B41FA5}">
                      <a16:colId xmlns:a16="http://schemas.microsoft.com/office/drawing/2014/main" val="993678949"/>
                    </a:ext>
                  </a:extLst>
                </a:gridCol>
              </a:tblGrid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>
                          <a:effectLst/>
                        </a:rPr>
                        <a:t>블록</a:t>
                      </a:r>
                      <a:r>
                        <a:rPr lang="en-US" altLang="ko-KR" sz="1800" u="none" strike="noStrike">
                          <a:effectLst/>
                        </a:rPr>
                        <a:t>1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>
                          <a:effectLst/>
                        </a:rPr>
                        <a:t>블록</a:t>
                      </a:r>
                      <a:r>
                        <a:rPr lang="en-US" altLang="ko-KR" sz="1800" u="none" strike="noStrike">
                          <a:effectLst/>
                        </a:rPr>
                        <a:t>2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>
                          <a:effectLst/>
                        </a:rPr>
                        <a:t>블록</a:t>
                      </a:r>
                      <a:r>
                        <a:rPr lang="en-US" altLang="ko-KR" sz="1800" u="none" strike="noStrike">
                          <a:effectLst/>
                        </a:rPr>
                        <a:t>3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>
                          <a:effectLst/>
                        </a:rPr>
                        <a:t>블록</a:t>
                      </a:r>
                      <a:r>
                        <a:rPr lang="en-US" altLang="ko-KR" sz="1800" u="none" strike="noStrike">
                          <a:effectLst/>
                        </a:rPr>
                        <a:t>4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89063946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45786484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30470719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59979443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74249111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93713688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732542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268105-F1CF-4677-B6FD-E28496CF7CA3}"/>
              </a:ext>
            </a:extLst>
          </p:cNvPr>
          <p:cNvSpPr txBox="1"/>
          <p:nvPr/>
        </p:nvSpPr>
        <p:spPr>
          <a:xfrm>
            <a:off x="1927413" y="3765176"/>
            <a:ext cx="367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95BF9-DCE7-456A-A0B3-E2F2CD3A52BF}"/>
              </a:ext>
            </a:extLst>
          </p:cNvPr>
          <p:cNvSpPr txBox="1"/>
          <p:nvPr/>
        </p:nvSpPr>
        <p:spPr>
          <a:xfrm>
            <a:off x="9780494" y="3182471"/>
            <a:ext cx="735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1898B-1840-4C2D-A346-7DDF5EB1E58D}"/>
              </a:ext>
            </a:extLst>
          </p:cNvPr>
          <p:cNvSpPr txBox="1"/>
          <p:nvPr/>
        </p:nvSpPr>
        <p:spPr>
          <a:xfrm>
            <a:off x="1927413" y="837315"/>
            <a:ext cx="7231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토성이 비슷한 구역으로 블록으로 나눔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48303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88EAEA-F1B7-4822-A8EB-424B6E57C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826125"/>
              </p:ext>
            </p:extLst>
          </p:nvPr>
        </p:nvGraphicFramePr>
        <p:xfrm>
          <a:off x="2381142" y="1790477"/>
          <a:ext cx="6409072" cy="38731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7858">
                  <a:extLst>
                    <a:ext uri="{9D8B030D-6E8A-4147-A177-3AD203B41FA5}">
                      <a16:colId xmlns:a16="http://schemas.microsoft.com/office/drawing/2014/main" val="3725935396"/>
                    </a:ext>
                  </a:extLst>
                </a:gridCol>
                <a:gridCol w="1899557">
                  <a:extLst>
                    <a:ext uri="{9D8B030D-6E8A-4147-A177-3AD203B41FA5}">
                      <a16:colId xmlns:a16="http://schemas.microsoft.com/office/drawing/2014/main" val="2256175574"/>
                    </a:ext>
                  </a:extLst>
                </a:gridCol>
                <a:gridCol w="1872343">
                  <a:extLst>
                    <a:ext uri="{9D8B030D-6E8A-4147-A177-3AD203B41FA5}">
                      <a16:colId xmlns:a16="http://schemas.microsoft.com/office/drawing/2014/main" val="2166020709"/>
                    </a:ext>
                  </a:extLst>
                </a:gridCol>
                <a:gridCol w="1589314">
                  <a:extLst>
                    <a:ext uri="{9D8B030D-6E8A-4147-A177-3AD203B41FA5}">
                      <a16:colId xmlns:a16="http://schemas.microsoft.com/office/drawing/2014/main" val="4250897170"/>
                    </a:ext>
                  </a:extLst>
                </a:gridCol>
              </a:tblGrid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N1/3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</a:rPr>
                        <a:t>N0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</a:rPr>
                        <a:t>N2/3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89063946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45786484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30470719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59979443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74249111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93713688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>
                          <a:effectLst/>
                        </a:rPr>
                        <a:t>　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732542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268105-F1CF-4677-B6FD-E28496CF7CA3}"/>
              </a:ext>
            </a:extLst>
          </p:cNvPr>
          <p:cNvSpPr txBox="1"/>
          <p:nvPr/>
        </p:nvSpPr>
        <p:spPr>
          <a:xfrm>
            <a:off x="1927413" y="3765176"/>
            <a:ext cx="367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95BF9-DCE7-456A-A0B3-E2F2CD3A52BF}"/>
              </a:ext>
            </a:extLst>
          </p:cNvPr>
          <p:cNvSpPr txBox="1"/>
          <p:nvPr/>
        </p:nvSpPr>
        <p:spPr>
          <a:xfrm>
            <a:off x="9780494" y="3182471"/>
            <a:ext cx="735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1898B-1840-4C2D-A346-7DDF5EB1E58D}"/>
              </a:ext>
            </a:extLst>
          </p:cNvPr>
          <p:cNvSpPr txBox="1"/>
          <p:nvPr/>
        </p:nvSpPr>
        <p:spPr>
          <a:xfrm>
            <a:off x="1694330" y="735107"/>
            <a:ext cx="7231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/>
              <a:t>2. </a:t>
            </a:r>
            <a:r>
              <a:rPr lang="ko-KR" altLang="en-US" dirty="0"/>
              <a:t>조절이 더 어려운 인자 선택</a:t>
            </a:r>
            <a:r>
              <a:rPr lang="en-US" altLang="ko-KR" dirty="0"/>
              <a:t>: </a:t>
            </a:r>
            <a:r>
              <a:rPr lang="ko-KR" altLang="en-US" dirty="0"/>
              <a:t>관비의 량 </a:t>
            </a:r>
            <a:endParaRPr lang="en-US" altLang="ko-KR" dirty="0"/>
          </a:p>
          <a:p>
            <a:pPr algn="l"/>
            <a:r>
              <a:rPr lang="en-US" altLang="ko-KR" dirty="0"/>
              <a:t>3. </a:t>
            </a:r>
            <a:r>
              <a:rPr lang="ko-KR" altLang="en-US" dirty="0"/>
              <a:t>관리를 블록과 랜덤하게 </a:t>
            </a:r>
            <a:r>
              <a:rPr lang="ko-KR" altLang="en-US" dirty="0" err="1"/>
              <a:t>교락</a:t>
            </a:r>
            <a:r>
              <a:rPr lang="ko-KR" altLang="en-US" dirty="0"/>
              <a:t> 시킴 </a:t>
            </a:r>
          </a:p>
        </p:txBody>
      </p:sp>
    </p:spTree>
    <p:extLst>
      <p:ext uri="{BB962C8B-B14F-4D97-AF65-F5344CB8AC3E}">
        <p14:creationId xmlns:p14="http://schemas.microsoft.com/office/powerpoint/2010/main" val="411502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3268105-F1CF-4677-B6FD-E28496CF7CA3}"/>
              </a:ext>
            </a:extLst>
          </p:cNvPr>
          <p:cNvSpPr txBox="1"/>
          <p:nvPr/>
        </p:nvSpPr>
        <p:spPr>
          <a:xfrm>
            <a:off x="1927413" y="3765176"/>
            <a:ext cx="367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95BF9-DCE7-456A-A0B3-E2F2CD3A52BF}"/>
              </a:ext>
            </a:extLst>
          </p:cNvPr>
          <p:cNvSpPr txBox="1"/>
          <p:nvPr/>
        </p:nvSpPr>
        <p:spPr>
          <a:xfrm>
            <a:off x="9780494" y="3182471"/>
            <a:ext cx="735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1898B-1840-4C2D-A346-7DDF5EB1E58D}"/>
              </a:ext>
            </a:extLst>
          </p:cNvPr>
          <p:cNvSpPr txBox="1"/>
          <p:nvPr/>
        </p:nvSpPr>
        <p:spPr>
          <a:xfrm>
            <a:off x="1694330" y="735106"/>
            <a:ext cx="7231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/>
              <a:t>4. </a:t>
            </a:r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블록에서 관수를 랜덤하게 배치함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8DD6735-F890-479D-9E13-B80ACCF9E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052064"/>
              </p:ext>
            </p:extLst>
          </p:nvPr>
        </p:nvGraphicFramePr>
        <p:xfrm>
          <a:off x="2891464" y="1615204"/>
          <a:ext cx="6409072" cy="2766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7858">
                  <a:extLst>
                    <a:ext uri="{9D8B030D-6E8A-4147-A177-3AD203B41FA5}">
                      <a16:colId xmlns:a16="http://schemas.microsoft.com/office/drawing/2014/main" val="3725935396"/>
                    </a:ext>
                  </a:extLst>
                </a:gridCol>
                <a:gridCol w="1899557">
                  <a:extLst>
                    <a:ext uri="{9D8B030D-6E8A-4147-A177-3AD203B41FA5}">
                      <a16:colId xmlns:a16="http://schemas.microsoft.com/office/drawing/2014/main" val="2256175574"/>
                    </a:ext>
                  </a:extLst>
                </a:gridCol>
                <a:gridCol w="1872343">
                  <a:extLst>
                    <a:ext uri="{9D8B030D-6E8A-4147-A177-3AD203B41FA5}">
                      <a16:colId xmlns:a16="http://schemas.microsoft.com/office/drawing/2014/main" val="2166020709"/>
                    </a:ext>
                  </a:extLst>
                </a:gridCol>
                <a:gridCol w="1589314">
                  <a:extLst>
                    <a:ext uri="{9D8B030D-6E8A-4147-A177-3AD203B41FA5}">
                      <a16:colId xmlns:a16="http://schemas.microsoft.com/office/drawing/2014/main" val="4250897170"/>
                    </a:ext>
                  </a:extLst>
                </a:gridCol>
              </a:tblGrid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N1/3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</a:rPr>
                        <a:t>N0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</a:rPr>
                        <a:t>N2/3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89063946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45786484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30470719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59979443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74249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942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E81898B-1840-4C2D-A346-7DDF5EB1E58D}"/>
              </a:ext>
            </a:extLst>
          </p:cNvPr>
          <p:cNvSpPr txBox="1"/>
          <p:nvPr/>
        </p:nvSpPr>
        <p:spPr>
          <a:xfrm>
            <a:off x="1694330" y="735106"/>
            <a:ext cx="7231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/>
              <a:t>5. </a:t>
            </a:r>
            <a:r>
              <a:rPr lang="ko-KR" altLang="en-US" dirty="0"/>
              <a:t>반복 </a:t>
            </a:r>
            <a:r>
              <a:rPr lang="en-US" altLang="ko-KR" dirty="0"/>
              <a:t>2</a:t>
            </a:r>
            <a:r>
              <a:rPr lang="ko-KR" altLang="en-US" dirty="0"/>
              <a:t>회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D6231D-11C2-4B20-9A89-59248CDC4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885794"/>
              </p:ext>
            </p:extLst>
          </p:nvPr>
        </p:nvGraphicFramePr>
        <p:xfrm>
          <a:off x="1133421" y="2105587"/>
          <a:ext cx="4750309" cy="2766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6657">
                  <a:extLst>
                    <a:ext uri="{9D8B030D-6E8A-4147-A177-3AD203B41FA5}">
                      <a16:colId xmlns:a16="http://schemas.microsoft.com/office/drawing/2014/main" val="3725935396"/>
                    </a:ext>
                  </a:extLst>
                </a:gridCol>
                <a:gridCol w="1407923">
                  <a:extLst>
                    <a:ext uri="{9D8B030D-6E8A-4147-A177-3AD203B41FA5}">
                      <a16:colId xmlns:a16="http://schemas.microsoft.com/office/drawing/2014/main" val="2256175574"/>
                    </a:ext>
                  </a:extLst>
                </a:gridCol>
                <a:gridCol w="1387753">
                  <a:extLst>
                    <a:ext uri="{9D8B030D-6E8A-4147-A177-3AD203B41FA5}">
                      <a16:colId xmlns:a16="http://schemas.microsoft.com/office/drawing/2014/main" val="2166020709"/>
                    </a:ext>
                  </a:extLst>
                </a:gridCol>
                <a:gridCol w="1177976">
                  <a:extLst>
                    <a:ext uri="{9D8B030D-6E8A-4147-A177-3AD203B41FA5}">
                      <a16:colId xmlns:a16="http://schemas.microsoft.com/office/drawing/2014/main" val="4250897170"/>
                    </a:ext>
                  </a:extLst>
                </a:gridCol>
              </a:tblGrid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N1/3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</a:rPr>
                        <a:t>N0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</a:rPr>
                        <a:t>N2/3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89063946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45786484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30470719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59979443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7424911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6481FE7-DF21-453D-B1F8-5ACF48FF7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83180"/>
              </p:ext>
            </p:extLst>
          </p:nvPr>
        </p:nvGraphicFramePr>
        <p:xfrm>
          <a:off x="6308272" y="2105587"/>
          <a:ext cx="3973652" cy="2766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5986">
                  <a:extLst>
                    <a:ext uri="{9D8B030D-6E8A-4147-A177-3AD203B41FA5}">
                      <a16:colId xmlns:a16="http://schemas.microsoft.com/office/drawing/2014/main" val="2256175574"/>
                    </a:ext>
                  </a:extLst>
                </a:gridCol>
                <a:gridCol w="1070428">
                  <a:extLst>
                    <a:ext uri="{9D8B030D-6E8A-4147-A177-3AD203B41FA5}">
                      <a16:colId xmlns:a16="http://schemas.microsoft.com/office/drawing/2014/main" val="2166020709"/>
                    </a:ext>
                  </a:extLst>
                </a:gridCol>
                <a:gridCol w="908619">
                  <a:extLst>
                    <a:ext uri="{9D8B030D-6E8A-4147-A177-3AD203B41FA5}">
                      <a16:colId xmlns:a16="http://schemas.microsoft.com/office/drawing/2014/main" val="4250897170"/>
                    </a:ext>
                  </a:extLst>
                </a:gridCol>
                <a:gridCol w="908619">
                  <a:extLst>
                    <a:ext uri="{9D8B030D-6E8A-4147-A177-3AD203B41FA5}">
                      <a16:colId xmlns:a16="http://schemas.microsoft.com/office/drawing/2014/main" val="3375706953"/>
                    </a:ext>
                  </a:extLst>
                </a:gridCol>
              </a:tblGrid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</a:rPr>
                        <a:t>N0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</a:rPr>
                        <a:t>N2/3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N1/3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89063946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45786484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30470719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59979443"/>
                  </a:ext>
                </a:extLst>
              </a:tr>
              <a:tr h="5533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W4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W3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W2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</a:rPr>
                        <a:t>　</a:t>
                      </a:r>
                      <a:r>
                        <a:rPr lang="en-US" altLang="ko-KR" sz="1800" u="none" strike="noStrike" dirty="0">
                          <a:effectLst/>
                        </a:rPr>
                        <a:t>W1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742491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677545-EE73-498F-8DE2-20B0443F0936}"/>
              </a:ext>
            </a:extLst>
          </p:cNvPr>
          <p:cNvSpPr txBox="1"/>
          <p:nvPr/>
        </p:nvSpPr>
        <p:spPr>
          <a:xfrm>
            <a:off x="2808514" y="1665514"/>
            <a:ext cx="120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ko-KR" sz="180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R1</a:t>
            </a:r>
            <a:endParaRPr lang="en-US" altLang="ko-KR" sz="1800" b="0" i="0" u="none" strike="noStrike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EC05D-EF5C-410D-B851-E0D33CF915BD}"/>
              </a:ext>
            </a:extLst>
          </p:cNvPr>
          <p:cNvSpPr txBox="1"/>
          <p:nvPr/>
        </p:nvSpPr>
        <p:spPr>
          <a:xfrm>
            <a:off x="7717921" y="1665514"/>
            <a:ext cx="120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ko-KR" sz="180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en-US" altLang="ko-KR" sz="1800" b="0" i="0" u="none" strike="noStrike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0914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BEB182-76F9-516E-37C2-3317CA641E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6EF719-DCAF-8361-BFA0-7CFDA46FB8B6}"/>
              </a:ext>
            </a:extLst>
          </p:cNvPr>
          <p:cNvSpPr/>
          <p:nvPr/>
        </p:nvSpPr>
        <p:spPr>
          <a:xfrm flipV="1">
            <a:off x="0" y="-1"/>
            <a:ext cx="12191999" cy="523218"/>
          </a:xfrm>
          <a:prstGeom prst="rect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" name="Picture 2" descr="C:\Users\Administrator\Desktop\gggg.png">
            <a:extLst>
              <a:ext uri="{FF2B5EF4-FFF2-40B4-BE49-F238E27FC236}">
                <a16:creationId xmlns:a16="http://schemas.microsoft.com/office/drawing/2014/main" id="{694C9397-01BB-4F92-D2EE-E846DFBE0D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grayscl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75"/>
          <a:stretch/>
        </p:blipFill>
        <p:spPr bwMode="auto">
          <a:xfrm>
            <a:off x="671513" y="0"/>
            <a:ext cx="1947445" cy="52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4981B4-204B-A767-7E2D-E7D0EC44249A}"/>
              </a:ext>
            </a:extLst>
          </p:cNvPr>
          <p:cNvSpPr txBox="1"/>
          <p:nvPr/>
        </p:nvSpPr>
        <p:spPr>
          <a:xfrm>
            <a:off x="688260" y="104652"/>
            <a:ext cx="216277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Collection of Data</a:t>
            </a: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94C04989-5A79-2C58-B6D7-EFA70160C1CB}"/>
              </a:ext>
            </a:extLst>
          </p:cNvPr>
          <p:cNvSpPr/>
          <p:nvPr/>
        </p:nvSpPr>
        <p:spPr>
          <a:xfrm rot="16200000" flipV="1">
            <a:off x="3572" y="-3580"/>
            <a:ext cx="748425" cy="755577"/>
          </a:xfrm>
          <a:prstGeom prst="triangle">
            <a:avLst>
              <a:gd name="adj" fmla="val 100000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한쪽 모서리는 잘리고 다른 쪽 모서리는 둥근 사각형 58">
            <a:extLst>
              <a:ext uri="{FF2B5EF4-FFF2-40B4-BE49-F238E27FC236}">
                <a16:creationId xmlns:a16="http://schemas.microsoft.com/office/drawing/2014/main" id="{A5C0735A-5039-81A5-60F4-CC7D2CE9CA8F}"/>
              </a:ext>
            </a:extLst>
          </p:cNvPr>
          <p:cNvSpPr/>
          <p:nvPr/>
        </p:nvSpPr>
        <p:spPr>
          <a:xfrm flipH="1">
            <a:off x="100416" y="72902"/>
            <a:ext cx="571097" cy="602620"/>
          </a:xfrm>
          <a:prstGeom prst="snipRoundRect">
            <a:avLst>
              <a:gd name="adj1" fmla="val 0"/>
              <a:gd name="adj2" fmla="val 28819"/>
            </a:avLst>
          </a:prstGeom>
          <a:solidFill>
            <a:srgbClr val="1B3E1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19EF5-ADF3-F72B-64D6-3E835873CEDA}"/>
              </a:ext>
            </a:extLst>
          </p:cNvPr>
          <p:cNvSpPr txBox="1"/>
          <p:nvPr/>
        </p:nvSpPr>
        <p:spPr>
          <a:xfrm>
            <a:off x="114094" y="143380"/>
            <a:ext cx="54374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4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4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9" name="组合 5">
            <a:extLst>
              <a:ext uri="{FF2B5EF4-FFF2-40B4-BE49-F238E27FC236}">
                <a16:creationId xmlns:a16="http://schemas.microsoft.com/office/drawing/2014/main" id="{245E6EE5-122E-48AA-FE3D-ED509086918A}"/>
              </a:ext>
            </a:extLst>
          </p:cNvPr>
          <p:cNvGrpSpPr/>
          <p:nvPr/>
        </p:nvGrpSpPr>
        <p:grpSpPr>
          <a:xfrm>
            <a:off x="812675" y="716214"/>
            <a:ext cx="8354771" cy="369332"/>
            <a:chOff x="812675" y="856896"/>
            <a:chExt cx="5336079" cy="369332"/>
          </a:xfrm>
        </p:grpSpPr>
        <p:sp>
          <p:nvSpPr>
            <p:cNvPr id="10" name="文本框 15">
              <a:extLst>
                <a:ext uri="{FF2B5EF4-FFF2-40B4-BE49-F238E27FC236}">
                  <a16:creationId xmlns:a16="http://schemas.microsoft.com/office/drawing/2014/main" id="{D361EBAD-A310-B627-4840-DA04AB2B48F4}"/>
                </a:ext>
              </a:extLst>
            </p:cNvPr>
            <p:cNvSpPr txBox="1"/>
            <p:nvPr/>
          </p:nvSpPr>
          <p:spPr>
            <a:xfrm>
              <a:off x="950202" y="856896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r>
                <a:rPr lang="en-US" altLang="ko-KR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Experiment Data</a:t>
              </a:r>
            </a:p>
          </p:txBody>
        </p:sp>
        <p:sp>
          <p:nvSpPr>
            <p:cNvPr id="11" name="矩形 4">
              <a:extLst>
                <a:ext uri="{FF2B5EF4-FFF2-40B4-BE49-F238E27FC236}">
                  <a16:creationId xmlns:a16="http://schemas.microsoft.com/office/drawing/2014/main" id="{C8AF6FDE-350D-979C-0FA9-4FA61508638F}"/>
                </a:ext>
              </a:extLst>
            </p:cNvPr>
            <p:cNvSpPr/>
            <p:nvPr/>
          </p:nvSpPr>
          <p:spPr>
            <a:xfrm>
              <a:off x="812675" y="937749"/>
              <a:ext cx="120181" cy="198782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HY헤드라인M" panose="02030600000101010101" pitchFamily="18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14" name="矩形 4">
            <a:extLst>
              <a:ext uri="{FF2B5EF4-FFF2-40B4-BE49-F238E27FC236}">
                <a16:creationId xmlns:a16="http://schemas.microsoft.com/office/drawing/2014/main" id="{35F46297-F761-2FA5-8C14-7E417E952CAC}"/>
              </a:ext>
            </a:extLst>
          </p:cNvPr>
          <p:cNvSpPr/>
          <p:nvPr/>
        </p:nvSpPr>
        <p:spPr>
          <a:xfrm>
            <a:off x="812675" y="797067"/>
            <a:ext cx="188169" cy="198782"/>
          </a:xfrm>
          <a:prstGeom prst="rect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Y헤드라인M" panose="02030600000101010101" pitchFamily="18" charset="-127"/>
              <a:ea typeface="KoPub돋움체 Bold" panose="00000800000000000000" pitchFamily="2" charset="-127"/>
            </a:endParaRPr>
          </a:p>
        </p:txBody>
      </p:sp>
      <p:pic>
        <p:nvPicPr>
          <p:cNvPr id="13" name="Picture 0">
            <a:extLst>
              <a:ext uri="{FF2B5EF4-FFF2-40B4-BE49-F238E27FC236}">
                <a16:creationId xmlns:a16="http://schemas.microsoft.com/office/drawing/2014/main" id="{81D4A4E5-DD23-62EC-6AC5-C4AF8498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535" y="605045"/>
            <a:ext cx="5348247" cy="617997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1028003" y="1337912"/>
            <a:ext cx="38231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70C0"/>
                </a:solidFill>
              </a:rPr>
              <a:t>Target</a:t>
            </a:r>
            <a:r>
              <a:rPr lang="ko-KR" altLang="en-US" sz="2400" dirty="0">
                <a:solidFill>
                  <a:srgbClr val="0070C0"/>
                </a:solidFill>
              </a:rPr>
              <a:t>  </a:t>
            </a:r>
            <a:r>
              <a:rPr lang="en-US" altLang="ko-KR" sz="2400" dirty="0">
                <a:solidFill>
                  <a:srgbClr val="0070C0"/>
                </a:solidFill>
              </a:rPr>
              <a:t>: </a:t>
            </a:r>
          </a:p>
          <a:p>
            <a:endParaRPr lang="en-US" altLang="ko-KR" sz="2400" dirty="0">
              <a:solidFill>
                <a:srgbClr val="0070C0"/>
              </a:solidFill>
            </a:endParaRPr>
          </a:p>
          <a:p>
            <a:endParaRPr lang="en-US" altLang="ko-KR" sz="2400" dirty="0">
              <a:solidFill>
                <a:srgbClr val="0070C0"/>
              </a:solidFill>
            </a:endParaRPr>
          </a:p>
          <a:p>
            <a:r>
              <a:rPr lang="ko-KR" altLang="en-US" sz="2400" dirty="0">
                <a:solidFill>
                  <a:srgbClr val="0070C0"/>
                </a:solidFill>
              </a:rPr>
              <a:t>노지 채소의 </a:t>
            </a:r>
            <a:r>
              <a:rPr lang="ko-KR" altLang="en-US" sz="2400" dirty="0" err="1">
                <a:solidFill>
                  <a:srgbClr val="0070C0"/>
                </a:solidFill>
              </a:rPr>
              <a:t>드론</a:t>
            </a:r>
            <a:r>
              <a:rPr lang="ko-KR" altLang="en-US" sz="2400" dirty="0">
                <a:solidFill>
                  <a:srgbClr val="0070C0"/>
                </a:solidFill>
              </a:rPr>
              <a:t> 영상에서 수분〮양분 스트레스 관제 시스템 개발   </a:t>
            </a:r>
          </a:p>
        </p:txBody>
      </p:sp>
    </p:spTree>
    <p:extLst>
      <p:ext uri="{BB962C8B-B14F-4D97-AF65-F5344CB8AC3E}">
        <p14:creationId xmlns:p14="http://schemas.microsoft.com/office/powerpoint/2010/main" val="3038788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31645" y="2319689"/>
            <a:ext cx="97744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환경</a:t>
            </a:r>
            <a:r>
              <a:rPr lang="en-US" altLang="ko-KR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생육</a:t>
            </a:r>
            <a:r>
              <a:rPr lang="en-US" altLang="ko-KR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수확량</a:t>
            </a:r>
            <a:r>
              <a:rPr lang="en-US" altLang="ko-KR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무게</a:t>
            </a:r>
            <a:r>
              <a:rPr lang="en-US" altLang="ko-KR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) </a:t>
            </a:r>
            <a:r>
              <a:rPr lang="ko-KR" altLang="en-US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데이터 처리  </a:t>
            </a:r>
          </a:p>
        </p:txBody>
      </p:sp>
    </p:spTree>
    <p:extLst>
      <p:ext uri="{BB962C8B-B14F-4D97-AF65-F5344CB8AC3E}">
        <p14:creationId xmlns:p14="http://schemas.microsoft.com/office/powerpoint/2010/main" val="626084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sz="2800" dirty="0" err="1"/>
              <a:t>스마트팜</a:t>
            </a:r>
            <a:r>
              <a:rPr lang="ko-KR" altLang="en-US" sz="2800" dirty="0"/>
              <a:t> 빅데이터 목적</a:t>
            </a:r>
            <a:r>
              <a:rPr lang="en-US" altLang="ko-KR" sz="2800" dirty="0"/>
              <a:t>(Y)</a:t>
            </a:r>
            <a:endParaRPr lang="ko-KR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809720" y="1196752"/>
            <a:ext cx="79586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Quality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en-US" altLang="ko-KR" sz="2000" dirty="0">
                <a:solidFill>
                  <a:srgbClr val="FF0000"/>
                </a:solidFill>
              </a:rPr>
              <a:t>Cost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en-US" altLang="ko-KR" sz="2000" dirty="0">
                <a:solidFill>
                  <a:srgbClr val="FF0000"/>
                </a:solidFill>
              </a:rPr>
              <a:t>Delivery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en-US" altLang="ko-KR" sz="2000" dirty="0">
                <a:solidFill>
                  <a:srgbClr val="FF0000"/>
                </a:solidFill>
              </a:rPr>
              <a:t>Productivity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en-US" altLang="ko-KR" sz="2000" dirty="0">
                <a:solidFill>
                  <a:srgbClr val="FF0000"/>
                </a:solidFill>
              </a:rPr>
              <a:t>Safety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92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sz="2800" dirty="0" err="1"/>
              <a:t>스마트팜</a:t>
            </a:r>
            <a:r>
              <a:rPr lang="ko-KR" altLang="en-US" sz="2800" dirty="0"/>
              <a:t> 빅데이터 </a:t>
            </a:r>
            <a:r>
              <a:rPr lang="en-US" altLang="ko-KR" sz="2800" dirty="0"/>
              <a:t>Y</a:t>
            </a:r>
            <a:r>
              <a:rPr lang="ko-KR" altLang="en-US" sz="2800" dirty="0"/>
              <a:t> 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8" y="836713"/>
            <a:ext cx="9120066" cy="584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7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317" y="930263"/>
            <a:ext cx="9120066" cy="584145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808" y="985131"/>
            <a:ext cx="2592288" cy="554461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504" y="836712"/>
            <a:ext cx="8869692" cy="584145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1504" y="908721"/>
            <a:ext cx="8928992" cy="5695727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sz="2800" dirty="0" err="1"/>
              <a:t>스마트팜</a:t>
            </a:r>
            <a:r>
              <a:rPr lang="ko-KR" altLang="en-US" sz="2800" dirty="0"/>
              <a:t> </a:t>
            </a:r>
            <a:r>
              <a:rPr lang="ko-KR" altLang="en-US" sz="2800" dirty="0" err="1"/>
              <a:t>빅데이터</a:t>
            </a:r>
            <a:r>
              <a:rPr lang="ko-KR" altLang="en-US" sz="2800" dirty="0"/>
              <a:t> 수단</a:t>
            </a:r>
            <a:r>
              <a:rPr lang="en-US" altLang="ko-KR" sz="2800" dirty="0"/>
              <a:t> X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964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sz="2800" dirty="0"/>
              <a:t>목적</a:t>
            </a:r>
            <a:r>
              <a:rPr lang="en-US" altLang="ko-KR" sz="2800" dirty="0"/>
              <a:t>(Y)</a:t>
            </a:r>
            <a:r>
              <a:rPr lang="ko-KR" altLang="en-US" sz="2800" dirty="0"/>
              <a:t>과</a:t>
            </a:r>
            <a:r>
              <a:rPr lang="en-US" altLang="ko-KR" sz="2800" dirty="0"/>
              <a:t> </a:t>
            </a:r>
            <a:r>
              <a:rPr lang="ko-KR" altLang="en-US" sz="2800" dirty="0"/>
              <a:t>수단</a:t>
            </a:r>
            <a:r>
              <a:rPr lang="en-US" altLang="ko-KR" sz="2800" dirty="0"/>
              <a:t>(X’s)</a:t>
            </a:r>
            <a:r>
              <a:rPr lang="ko-KR" altLang="en-US" sz="2800" dirty="0"/>
              <a:t>과의 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20" y="1196753"/>
            <a:ext cx="795868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</a:rPr>
              <a:t>Y=f(X1, X2, X3, …, </a:t>
            </a:r>
            <a:r>
              <a:rPr lang="en-US" altLang="ko-KR" sz="2000" b="1" dirty="0" err="1">
                <a:solidFill>
                  <a:srgbClr val="0070C0"/>
                </a:solidFill>
              </a:rPr>
              <a:t>Xn</a:t>
            </a:r>
            <a:r>
              <a:rPr lang="en-US" altLang="ko-KR" sz="2000" b="1" dirty="0">
                <a:solidFill>
                  <a:srgbClr val="0070C0"/>
                </a:solidFill>
              </a:rPr>
              <a:t>) </a:t>
            </a:r>
          </a:p>
          <a:p>
            <a:endParaRPr lang="en-US" altLang="ko-KR" sz="2000" dirty="0">
              <a:solidFill>
                <a:srgbClr val="0070C0"/>
              </a:solidFill>
            </a:endParaRPr>
          </a:p>
          <a:p>
            <a:r>
              <a:rPr lang="en-US" altLang="ko-KR" sz="2000" dirty="0">
                <a:solidFill>
                  <a:srgbClr val="0070C0"/>
                </a:solidFill>
              </a:rPr>
              <a:t>1) Y= </a:t>
            </a:r>
            <a:r>
              <a:rPr lang="el-GR" altLang="ko-KR" sz="2000" dirty="0">
                <a:solidFill>
                  <a:srgbClr val="0070C0"/>
                </a:solidFill>
              </a:rPr>
              <a:t>β</a:t>
            </a:r>
            <a:r>
              <a:rPr lang="en-US" altLang="ko-KR" sz="2000" dirty="0">
                <a:solidFill>
                  <a:srgbClr val="0070C0"/>
                </a:solidFill>
              </a:rPr>
              <a:t>0 + </a:t>
            </a:r>
            <a:r>
              <a:rPr lang="el-GR" altLang="ko-KR" sz="2000" dirty="0">
                <a:solidFill>
                  <a:srgbClr val="0070C0"/>
                </a:solidFill>
              </a:rPr>
              <a:t>β</a:t>
            </a:r>
            <a:r>
              <a:rPr lang="en-US" altLang="ko-KR" sz="2000" dirty="0">
                <a:solidFill>
                  <a:srgbClr val="0070C0"/>
                </a:solidFill>
              </a:rPr>
              <a:t>1X1 + …, </a:t>
            </a:r>
            <a:r>
              <a:rPr lang="el-GR" altLang="ko-KR" sz="2000" dirty="0">
                <a:solidFill>
                  <a:srgbClr val="0070C0"/>
                </a:solidFill>
              </a:rPr>
              <a:t>β</a:t>
            </a:r>
            <a:r>
              <a:rPr lang="en-US" altLang="ko-KR" sz="2000" dirty="0" err="1">
                <a:solidFill>
                  <a:srgbClr val="0070C0"/>
                </a:solidFill>
              </a:rPr>
              <a:t>nXn</a:t>
            </a:r>
            <a:r>
              <a:rPr lang="en-US" altLang="ko-KR" sz="2000" dirty="0">
                <a:solidFill>
                  <a:srgbClr val="0070C0"/>
                </a:solidFill>
              </a:rPr>
              <a:t>   (base model)</a:t>
            </a:r>
          </a:p>
          <a:p>
            <a:endParaRPr lang="en-US" altLang="ko-KR" sz="2000" dirty="0">
              <a:solidFill>
                <a:srgbClr val="0070C0"/>
              </a:solidFill>
            </a:endParaRPr>
          </a:p>
          <a:p>
            <a:r>
              <a:rPr lang="en-US" altLang="ko-KR" sz="2000" dirty="0">
                <a:solidFill>
                  <a:srgbClr val="0070C0"/>
                </a:solidFill>
              </a:rPr>
              <a:t>2) PCA, PLS</a:t>
            </a:r>
          </a:p>
          <a:p>
            <a:endParaRPr lang="en-US" altLang="ko-KR" sz="2000" dirty="0">
              <a:solidFill>
                <a:srgbClr val="0070C0"/>
              </a:solidFill>
            </a:endParaRPr>
          </a:p>
          <a:p>
            <a:r>
              <a:rPr lang="en-US" altLang="ko-KR" sz="2000" dirty="0">
                <a:solidFill>
                  <a:srgbClr val="0070C0"/>
                </a:solidFill>
              </a:rPr>
              <a:t>3) Ridge, LASSO, LARS, Elastic</a:t>
            </a:r>
          </a:p>
          <a:p>
            <a:endParaRPr lang="en-US" altLang="ko-KR" sz="2000" dirty="0">
              <a:solidFill>
                <a:srgbClr val="0070C0"/>
              </a:solidFill>
            </a:endParaRPr>
          </a:p>
          <a:p>
            <a:r>
              <a:rPr lang="en-US" altLang="ko-KR" sz="2000" dirty="0">
                <a:solidFill>
                  <a:srgbClr val="0070C0"/>
                </a:solidFill>
              </a:rPr>
              <a:t>4) Deep Learning (CNN, RNN) </a:t>
            </a:r>
          </a:p>
          <a:p>
            <a:endParaRPr lang="en-US" altLang="ko-KR" sz="2000" dirty="0">
              <a:solidFill>
                <a:srgbClr val="0070C0"/>
              </a:solidFill>
            </a:endParaRPr>
          </a:p>
          <a:p>
            <a:r>
              <a:rPr lang="en-US" altLang="ko-KR" sz="2000" dirty="0">
                <a:solidFill>
                  <a:srgbClr val="0070C0"/>
                </a:solidFill>
              </a:rPr>
              <a:t>5) Decision tree</a:t>
            </a:r>
            <a:r>
              <a:rPr lang="ko-KR" altLang="en-US" sz="2000" dirty="0">
                <a:solidFill>
                  <a:srgbClr val="0070C0"/>
                </a:solidFill>
              </a:rPr>
              <a:t>와</a:t>
            </a:r>
            <a:r>
              <a:rPr lang="en-US" altLang="ko-KR" sz="2000" dirty="0">
                <a:solidFill>
                  <a:srgbClr val="0070C0"/>
                </a:solidFill>
              </a:rPr>
              <a:t> </a:t>
            </a:r>
            <a:r>
              <a:rPr lang="ko-KR" altLang="en-US" sz="2000" dirty="0">
                <a:solidFill>
                  <a:srgbClr val="0070C0"/>
                </a:solidFill>
              </a:rPr>
              <a:t>앙상블</a:t>
            </a:r>
            <a:r>
              <a:rPr lang="en-US" altLang="ko-KR" sz="2000" dirty="0">
                <a:solidFill>
                  <a:srgbClr val="0070C0"/>
                </a:solidFill>
              </a:rPr>
              <a:t>(bagging, RF, boosting </a:t>
            </a:r>
            <a:r>
              <a:rPr lang="ko-KR" altLang="en-US" sz="2000" dirty="0">
                <a:solidFill>
                  <a:srgbClr val="0070C0"/>
                </a:solidFill>
              </a:rPr>
              <a:t>등</a:t>
            </a:r>
            <a:r>
              <a:rPr lang="en-US" altLang="ko-KR" sz="2000" dirty="0">
                <a:solidFill>
                  <a:srgbClr val="0070C0"/>
                </a:solidFill>
              </a:rPr>
              <a:t>)</a:t>
            </a:r>
          </a:p>
          <a:p>
            <a:endParaRPr lang="en-US" altLang="ko-KR" sz="2000" dirty="0">
              <a:solidFill>
                <a:srgbClr val="0070C0"/>
              </a:solidFill>
            </a:endParaRPr>
          </a:p>
          <a:p>
            <a:r>
              <a:rPr lang="en-US" altLang="ko-KR" sz="2000" dirty="0">
                <a:solidFill>
                  <a:srgbClr val="0070C0"/>
                </a:solidFill>
              </a:rPr>
              <a:t>6) Dynamic Model </a:t>
            </a:r>
          </a:p>
        </p:txBody>
      </p:sp>
    </p:spTree>
    <p:extLst>
      <p:ext uri="{BB962C8B-B14F-4D97-AF65-F5344CB8AC3E}">
        <p14:creationId xmlns:p14="http://schemas.microsoft.com/office/powerpoint/2010/main" val="974387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6408" y="84797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생산량</a:t>
            </a:r>
            <a:r>
              <a:rPr lang="en-US" altLang="ko-KR" sz="2400" dirty="0"/>
              <a:t>, </a:t>
            </a:r>
            <a:r>
              <a:rPr lang="ko-KR" altLang="en-US" sz="2400" dirty="0"/>
              <a:t>환경요인 및 생육 자료</a:t>
            </a:r>
            <a:endParaRPr lang="en-US" altLang="ko-KR" sz="24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506408" y="232528"/>
            <a:ext cx="8229600" cy="368300"/>
          </a:xfrm>
        </p:spPr>
        <p:txBody>
          <a:bodyPr/>
          <a:lstStyle/>
          <a:p>
            <a:r>
              <a:rPr lang="ko-KR" altLang="en-US" sz="2800" dirty="0"/>
              <a:t>생산량</a:t>
            </a:r>
            <a:r>
              <a:rPr lang="en-US" altLang="ko-KR" sz="2800" dirty="0"/>
              <a:t>, </a:t>
            </a:r>
            <a:r>
              <a:rPr lang="ko-KR" altLang="en-US" sz="2800" dirty="0"/>
              <a:t>환경요인 및 생육 빅데이터 구조 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847528" y="2924944"/>
            <a:ext cx="1180931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29BC907-7045-4987-A27F-77B605E93DB1}"/>
              </a:ext>
            </a:extLst>
          </p:cNvPr>
          <p:cNvGrpSpPr/>
          <p:nvPr/>
        </p:nvGrpSpPr>
        <p:grpSpPr>
          <a:xfrm>
            <a:off x="506408" y="1309642"/>
            <a:ext cx="12378283" cy="5904656"/>
            <a:chOff x="1563042" y="1475760"/>
            <a:chExt cx="12378283" cy="5904656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3042" y="1475760"/>
              <a:ext cx="12378283" cy="5904656"/>
            </a:xfrm>
            <a:prstGeom prst="rect">
              <a:avLst/>
            </a:prstGeom>
          </p:spPr>
        </p:pic>
        <p:sp>
          <p:nvSpPr>
            <p:cNvPr id="9" name="제목 1"/>
            <p:cNvSpPr txBox="1">
              <a:spLocks/>
            </p:cNvSpPr>
            <p:nvPr/>
          </p:nvSpPr>
          <p:spPr>
            <a:xfrm>
              <a:off x="2423592" y="1484784"/>
              <a:ext cx="7653536" cy="368280"/>
            </a:xfrm>
          </p:spPr>
          <p:txBody>
            <a:bodyPr>
              <a:noAutofit/>
            </a:bodyPr>
            <a:lstStyle>
              <a:lvl1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C00000"/>
                  </a:solidFill>
                </a:rPr>
                <a:t> </a:t>
              </a:r>
              <a:r>
                <a:rPr lang="en-US" altLang="ko-KR" sz="2800" dirty="0">
                  <a:solidFill>
                    <a:srgbClr val="C00000"/>
                  </a:solidFill>
                </a:rPr>
                <a:t>X’s </a:t>
              </a:r>
              <a:r>
                <a:rPr lang="ko-KR" altLang="en-US" sz="2800" dirty="0">
                  <a:solidFill>
                    <a:srgbClr val="C00000"/>
                  </a:solidFill>
                </a:rPr>
                <a:t>들의 개수가 </a:t>
              </a:r>
              <a:r>
                <a:rPr lang="en-US" altLang="ko-KR" sz="2800" dirty="0">
                  <a:solidFill>
                    <a:srgbClr val="C00000"/>
                  </a:solidFill>
                </a:rPr>
                <a:t>y</a:t>
              </a:r>
              <a:r>
                <a:rPr lang="ko-KR" altLang="en-US" sz="2800" dirty="0">
                  <a:solidFill>
                    <a:srgbClr val="C00000"/>
                  </a:solidFill>
                </a:rPr>
                <a:t>의 </a:t>
              </a:r>
              <a:r>
                <a:rPr lang="ko-KR" altLang="en-US" sz="2800" dirty="0" err="1">
                  <a:solidFill>
                    <a:srgbClr val="C00000"/>
                  </a:solidFill>
                </a:rPr>
                <a:t>관측값들보다</a:t>
              </a:r>
              <a:r>
                <a:rPr lang="en-US" altLang="ko-KR" sz="2800" dirty="0">
                  <a:solidFill>
                    <a:srgbClr val="C00000"/>
                  </a:solidFill>
                </a:rPr>
                <a:t> </a:t>
              </a:r>
              <a:r>
                <a:rPr lang="ko-KR" altLang="en-US" sz="2800" dirty="0">
                  <a:solidFill>
                    <a:srgbClr val="C00000"/>
                  </a:solidFill>
                </a:rPr>
                <a:t>많다</a:t>
              </a:r>
              <a:r>
                <a:rPr lang="en-US" altLang="ko-KR" sz="2800" dirty="0">
                  <a:solidFill>
                    <a:srgbClr val="C00000"/>
                  </a:solidFill>
                </a:rPr>
                <a:t>. </a:t>
              </a:r>
            </a:p>
            <a:p>
              <a:pPr algn="l"/>
              <a:endParaRPr lang="en-US" altLang="ko-KR" sz="2800" dirty="0">
                <a:solidFill>
                  <a:srgbClr val="C00000"/>
                </a:solidFill>
              </a:endParaRPr>
            </a:p>
            <a:p>
              <a:pPr algn="l"/>
              <a:r>
                <a:rPr lang="ko-KR" altLang="en-US" sz="2800" dirty="0">
                  <a:solidFill>
                    <a:srgbClr val="C00000"/>
                  </a:solidFill>
                </a:rPr>
                <a:t>예로</a:t>
              </a:r>
              <a:r>
                <a:rPr lang="en-US" altLang="ko-KR" sz="2800" dirty="0">
                  <a:solidFill>
                    <a:srgbClr val="C00000"/>
                  </a:solidFill>
                </a:rPr>
                <a:t>, </a:t>
              </a:r>
            </a:p>
            <a:p>
              <a:pPr algn="l"/>
              <a:endParaRPr lang="en-US" altLang="ko-KR" sz="2800" dirty="0">
                <a:solidFill>
                  <a:srgbClr val="C00000"/>
                </a:solidFill>
              </a:endParaRPr>
            </a:p>
            <a:p>
              <a:pPr algn="l"/>
              <a:r>
                <a:rPr lang="en-US" altLang="ko-KR" sz="2800" dirty="0">
                  <a:solidFill>
                    <a:srgbClr val="C00000"/>
                  </a:solidFill>
                </a:rPr>
                <a:t>X1 </a:t>
              </a:r>
              <a:r>
                <a:rPr lang="ko-KR" altLang="en-US" sz="2800" dirty="0">
                  <a:solidFill>
                    <a:srgbClr val="C00000"/>
                  </a:solidFill>
                </a:rPr>
                <a:t>외부온도 하나만 </a:t>
              </a:r>
              <a:r>
                <a:rPr lang="en-US" altLang="ko-KR" sz="2800" dirty="0">
                  <a:solidFill>
                    <a:srgbClr val="C00000"/>
                  </a:solidFill>
                </a:rPr>
                <a:t>1</a:t>
              </a:r>
              <a:r>
                <a:rPr lang="ko-KR" altLang="en-US" sz="2800" dirty="0">
                  <a:solidFill>
                    <a:srgbClr val="C00000"/>
                  </a:solidFill>
                </a:rPr>
                <a:t>주는 </a:t>
              </a:r>
              <a:r>
                <a:rPr lang="en-US" altLang="ko-KR" sz="2800" dirty="0">
                  <a:solidFill>
                    <a:srgbClr val="C00000"/>
                  </a:solidFill>
                </a:rPr>
                <a:t>10,080</a:t>
              </a:r>
              <a:r>
                <a:rPr lang="ko-KR" altLang="en-US" sz="2800" dirty="0">
                  <a:solidFill>
                    <a:srgbClr val="C00000"/>
                  </a:solidFill>
                </a:rPr>
                <a:t>개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1655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6" y="1218163"/>
            <a:ext cx="12378283" cy="590465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43372" y="74400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생산량</a:t>
            </a:r>
            <a:r>
              <a:rPr lang="en-US" altLang="ko-KR" sz="2400" dirty="0"/>
              <a:t>, </a:t>
            </a:r>
            <a:r>
              <a:rPr lang="ko-KR" altLang="en-US" sz="2400" dirty="0"/>
              <a:t>환경요인 및 생육 자료</a:t>
            </a:r>
            <a:endParaRPr lang="en-US" altLang="ko-KR" sz="2400" dirty="0"/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4583832" y="1796460"/>
            <a:ext cx="1944216" cy="368280"/>
          </a:xfrm>
        </p:spPr>
        <p:txBody>
          <a:bodyPr>
            <a:no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l"/>
            <a:r>
              <a:rPr lang="ko-KR" altLang="en-US" sz="2000" dirty="0">
                <a:solidFill>
                  <a:srgbClr val="C00000"/>
                </a:solidFill>
              </a:rPr>
              <a:t> </a:t>
            </a:r>
            <a:r>
              <a:rPr lang="en-US" altLang="ko-KR" sz="2000" dirty="0">
                <a:solidFill>
                  <a:srgbClr val="C00000"/>
                </a:solidFill>
              </a:rPr>
              <a:t>feature </a:t>
            </a:r>
            <a:r>
              <a:rPr lang="ko-KR" altLang="en-US" sz="2000">
                <a:solidFill>
                  <a:srgbClr val="C00000"/>
                </a:solidFill>
              </a:rPr>
              <a:t>추출 </a:t>
            </a:r>
            <a:endParaRPr lang="ko-KR" altLang="en-US" sz="2000" dirty="0">
              <a:solidFill>
                <a:srgbClr val="C0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996" y="1326022"/>
            <a:ext cx="9249038" cy="58414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4717" y="1196752"/>
            <a:ext cx="861774" cy="57606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sz="4400" dirty="0">
                <a:solidFill>
                  <a:srgbClr val="C00000"/>
                </a:solidFill>
              </a:rPr>
              <a:t>하루에 </a:t>
            </a:r>
            <a:r>
              <a:rPr lang="en-US" altLang="ko-KR" sz="4400" dirty="0">
                <a:solidFill>
                  <a:srgbClr val="C00000"/>
                </a:solidFill>
              </a:rPr>
              <a:t>1 4 4 0</a:t>
            </a:r>
            <a:r>
              <a:rPr lang="ko-KR" altLang="en-US" sz="4400" dirty="0">
                <a:solidFill>
                  <a:srgbClr val="C00000"/>
                </a:solidFill>
              </a:rPr>
              <a:t>개 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643656"/>
              </p:ext>
            </p:extLst>
          </p:nvPr>
        </p:nvGraphicFramePr>
        <p:xfrm>
          <a:off x="1049963" y="1326022"/>
          <a:ext cx="6408712" cy="51709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0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외부온도 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일별</a:t>
                      </a:r>
                      <a:r>
                        <a:rPr lang="en-US" altLang="ko-KR" sz="2000" u="none" strike="noStrike" dirty="0">
                          <a:effectLst/>
                        </a:rPr>
                        <a:t>(1,440)</a:t>
                      </a:r>
                      <a:r>
                        <a:rPr lang="ko-KR" altLang="en-US" sz="2000" u="none" strike="noStrike" dirty="0">
                          <a:effectLst/>
                        </a:rPr>
                        <a:t>→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</a:rPr>
                        <a:t>평균온도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</a:rPr>
                        <a:t>최고온도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</a:rPr>
                        <a:t>최저온도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주간평균온도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주간최고온도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</a:rPr>
                        <a:t>주간최저온도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</a:rPr>
                        <a:t>야간평균온도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</a:rPr>
                        <a:t>야간최고온도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</a:rPr>
                        <a:t>야간최저온도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</a:rPr>
                        <a:t>일교차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9697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적산온도</a:t>
                      </a:r>
                      <a:r>
                        <a:rPr lang="en-US" altLang="ko-KR" sz="2000" u="none" strike="noStrike" dirty="0">
                          <a:effectLst/>
                        </a:rPr>
                        <a:t>(</a:t>
                      </a:r>
                      <a:r>
                        <a:rPr lang="ko-KR" altLang="en-US" sz="2000" u="none" strike="noStrike" dirty="0" err="1">
                          <a:effectLst/>
                        </a:rPr>
                        <a:t>생육도일</a:t>
                      </a:r>
                      <a:r>
                        <a:rPr lang="en-US" altLang="ko-KR" sz="2000" u="none" strike="noStrike" dirty="0">
                          <a:effectLst/>
                        </a:rPr>
                        <a:t>)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453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일출전후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온도차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95423249"/>
                  </a:ext>
                </a:extLst>
              </a:tr>
              <a:tr h="149697"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Signal</a:t>
                      </a:r>
                      <a:r>
                        <a:rPr lang="en-US" altLang="ko-KR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process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64829372"/>
                  </a:ext>
                </a:extLst>
              </a:tr>
            </a:tbl>
          </a:graphicData>
        </a:graphic>
      </p:graphicFrame>
      <p:sp>
        <p:nvSpPr>
          <p:cNvPr id="11" name="제목 1">
            <a:extLst>
              <a:ext uri="{FF2B5EF4-FFF2-40B4-BE49-F238E27FC236}">
                <a16:creationId xmlns:a16="http://schemas.microsoft.com/office/drawing/2014/main" id="{189EFA46-CCA8-499A-93B2-262D7A1E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25" y="127000"/>
            <a:ext cx="10972800" cy="368300"/>
          </a:xfrm>
        </p:spPr>
        <p:txBody>
          <a:bodyPr/>
          <a:lstStyle/>
          <a:p>
            <a:r>
              <a:rPr lang="ko-KR" altLang="en-US" sz="2800" dirty="0"/>
              <a:t>생산량</a:t>
            </a:r>
            <a:r>
              <a:rPr lang="en-US" altLang="ko-KR" sz="2800" dirty="0"/>
              <a:t>, </a:t>
            </a:r>
            <a:r>
              <a:rPr lang="ko-KR" altLang="en-US" sz="2800" dirty="0"/>
              <a:t>환경요인 및 생육 빅데이터 구조  </a:t>
            </a:r>
          </a:p>
        </p:txBody>
      </p:sp>
    </p:spTree>
    <p:extLst>
      <p:ext uri="{BB962C8B-B14F-4D97-AF65-F5344CB8AC3E}">
        <p14:creationId xmlns:p14="http://schemas.microsoft.com/office/powerpoint/2010/main" val="335606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72" y="1455192"/>
            <a:ext cx="12378283" cy="590465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43372" y="84797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생산량</a:t>
            </a:r>
            <a:r>
              <a:rPr lang="en-US" altLang="ko-KR" sz="2400" dirty="0"/>
              <a:t>, </a:t>
            </a:r>
            <a:r>
              <a:rPr lang="ko-KR" altLang="en-US" sz="2400" dirty="0"/>
              <a:t>환경요인 및 생육 자료</a:t>
            </a:r>
            <a:endParaRPr lang="en-US" altLang="ko-KR" sz="2400" dirty="0"/>
          </a:p>
        </p:txBody>
      </p:sp>
      <p:sp>
        <p:nvSpPr>
          <p:cNvPr id="7" name="직사각형 6"/>
          <p:cNvSpPr/>
          <p:nvPr/>
        </p:nvSpPr>
        <p:spPr>
          <a:xfrm>
            <a:off x="1847528" y="2924944"/>
            <a:ext cx="1180931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4583832" y="1796460"/>
            <a:ext cx="1944216" cy="368280"/>
          </a:xfrm>
        </p:spPr>
        <p:txBody>
          <a:bodyPr>
            <a:no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l"/>
            <a:r>
              <a:rPr lang="ko-KR" altLang="en-US" sz="2000" dirty="0">
                <a:solidFill>
                  <a:srgbClr val="C00000"/>
                </a:solidFill>
              </a:rPr>
              <a:t> 파생변수</a:t>
            </a:r>
            <a:r>
              <a:rPr lang="en-US" altLang="ko-KR" sz="2000" dirty="0">
                <a:solidFill>
                  <a:srgbClr val="C00000"/>
                </a:solidFill>
              </a:rPr>
              <a:t> </a:t>
            </a:r>
            <a:r>
              <a:rPr lang="ko-KR" altLang="en-US" sz="2000" dirty="0">
                <a:solidFill>
                  <a:srgbClr val="C00000"/>
                </a:solidFill>
              </a:rPr>
              <a:t>추출 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F128D37-8452-4A60-9053-FE21D0C09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ADEB30B-AA5A-4912-858C-6A83A36463D9}"/>
              </a:ext>
            </a:extLst>
          </p:cNvPr>
          <p:cNvSpPr txBox="1">
            <a:spLocks/>
          </p:cNvSpPr>
          <p:nvPr/>
        </p:nvSpPr>
        <p:spPr>
          <a:xfrm>
            <a:off x="506408" y="232528"/>
            <a:ext cx="8229600" cy="3683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/>
              <a:t>생산량</a:t>
            </a:r>
            <a:r>
              <a:rPr lang="en-US" altLang="ko-KR" sz="2800"/>
              <a:t>, </a:t>
            </a:r>
            <a:r>
              <a:rPr lang="ko-KR" altLang="en-US" sz="2800"/>
              <a:t>환경요인 및 생육 빅데이터 구조  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1729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558" y="968186"/>
            <a:ext cx="7130738" cy="5413143"/>
          </a:xfrm>
          <a:prstGeom prst="rect">
            <a:avLst/>
          </a:prstGeom>
        </p:spPr>
      </p:pic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8762346" y="2204866"/>
          <a:ext cx="1654238" cy="28083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174">
                  <a:extLst>
                    <a:ext uri="{9D8B030D-6E8A-4147-A177-3AD203B41FA5}">
                      <a16:colId xmlns:a16="http://schemas.microsoft.com/office/drawing/2014/main" val="2918069775"/>
                    </a:ext>
                  </a:extLst>
                </a:gridCol>
                <a:gridCol w="1391064">
                  <a:extLst>
                    <a:ext uri="{9D8B030D-6E8A-4147-A177-3AD203B41FA5}">
                      <a16:colId xmlns:a16="http://schemas.microsoft.com/office/drawing/2014/main" val="1421821189"/>
                    </a:ext>
                  </a:extLst>
                </a:gridCol>
              </a:tblGrid>
              <a:tr h="4011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x1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Av.outside temp.24h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5285053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x2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Hight temp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2824535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x3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Low temp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0160140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x4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24h Radiation sum(J)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7620588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x5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Av temp.24h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79934501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x6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Av temp.(day)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6224690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x7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Av temp.(night)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2396939"/>
                  </a:ext>
                </a:extLst>
              </a:tr>
            </a:tbl>
          </a:graphicData>
        </a:graphic>
      </p:graphicFrame>
      <p:sp>
        <p:nvSpPr>
          <p:cNvPr id="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sz="2800" dirty="0"/>
              <a:t>EDA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63619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789112" y="1258416"/>
            <a:ext cx="8742726" cy="4559421"/>
            <a:chOff x="165297" y="1173835"/>
            <a:chExt cx="8742726" cy="3528162"/>
          </a:xfrm>
        </p:grpSpPr>
        <p:sp>
          <p:nvSpPr>
            <p:cNvPr id="11" name="TextBox 10"/>
            <p:cNvSpPr txBox="1"/>
            <p:nvPr/>
          </p:nvSpPr>
          <p:spPr>
            <a:xfrm>
              <a:off x="319968" y="1455078"/>
              <a:ext cx="3528392" cy="285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-</a:t>
              </a:r>
              <a:r>
                <a:rPr lang="ko-KR" altLang="en-US" dirty="0"/>
                <a:t>환경요인 변수 </a:t>
              </a:r>
              <a:r>
                <a:rPr lang="en-US" altLang="ko-KR" dirty="0"/>
                <a:t>: x1~x26</a:t>
              </a:r>
              <a:endParaRPr lang="ko-KR" altLang="en-US" dirty="0"/>
            </a:p>
          </p:txBody>
        </p:sp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64849" y="1173835"/>
              <a:ext cx="3445703" cy="993277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73434" y="1916832"/>
              <a:ext cx="3616017" cy="134152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165297" y="1837412"/>
                  <a:ext cx="2995196" cy="11971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=7.76−0.401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𝑎𝑣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𝑡𝑒𝑚𝑝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+0.063 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𝑚𝑎𝑥h𝑢𝑚</m:t>
                        </m:r>
                      </m:oMath>
                    </m:oMathPara>
                  </a14:m>
                  <a:endParaRPr lang="en-US" altLang="ko-KR" sz="16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−0.063 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𝑚𝑖𝑛h𝑢𝑚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−0.019 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𝐶𝑂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2+1.201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𝑔𝑖𝑓𝑡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𝑒𝑐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+0.689 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𝑠𝑙𝑎𝑏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𝑒𝑐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+0.449 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𝑠𝑙𝑎𝑏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𝑝h</m:t>
                        </m:r>
                      </m:oMath>
                    </m:oMathPara>
                  </a14:m>
                  <a:endParaRPr lang="ko-KR" altLang="en-US" sz="1600" i="1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297" y="1837412"/>
                  <a:ext cx="2995196" cy="1197166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9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직선 연결선 23"/>
            <p:cNvCxnSpPr/>
            <p:nvPr/>
          </p:nvCxnSpPr>
          <p:spPr>
            <a:xfrm>
              <a:off x="179512" y="3356992"/>
              <a:ext cx="872851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179512" y="4701997"/>
              <a:ext cx="872851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183864" y="1510333"/>
              <a:ext cx="2396248" cy="1405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/>
                <a:t>Av temp.24h[x5]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/>
                <a:t>Max hum[x10]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/>
                <a:t>Min hum[x11]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/>
                <a:t>CO2[x12]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/>
                <a:t>Gift EC[x23]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 err="1"/>
                <a:t>SlabEC</a:t>
              </a:r>
              <a:r>
                <a:rPr lang="en-US" altLang="ko-KR" sz="1600" dirty="0"/>
                <a:t>[x25]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 err="1"/>
                <a:t>SlabpH</a:t>
              </a:r>
              <a:r>
                <a:rPr lang="en-US" altLang="ko-KR" sz="1600" dirty="0"/>
                <a:t>[x26]</a:t>
              </a:r>
            </a:p>
          </p:txBody>
        </p:sp>
      </p:grpSp>
      <p:sp>
        <p:nvSpPr>
          <p:cNvPr id="2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sz="2800" dirty="0" err="1"/>
              <a:t>스마트팜</a:t>
            </a:r>
            <a:r>
              <a:rPr lang="ko-KR" altLang="en-US" sz="2800" dirty="0"/>
              <a:t> 빅데이터 활용 </a:t>
            </a:r>
            <a:r>
              <a:rPr lang="en-US" altLang="ko-KR" sz="2800" dirty="0"/>
              <a:t>– </a:t>
            </a:r>
            <a:r>
              <a:rPr lang="ko-KR" altLang="en-US" sz="2800" dirty="0"/>
              <a:t>통계적 모델 등   </a:t>
            </a:r>
          </a:p>
        </p:txBody>
      </p:sp>
    </p:spTree>
    <p:extLst>
      <p:ext uri="{BB962C8B-B14F-4D97-AF65-F5344CB8AC3E}">
        <p14:creationId xmlns:p14="http://schemas.microsoft.com/office/powerpoint/2010/main" val="321930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05927" y="2512194"/>
            <a:ext cx="84028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예측</a:t>
            </a:r>
            <a:r>
              <a:rPr lang="en-US" altLang="ko-KR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분류</a:t>
            </a:r>
            <a:r>
              <a:rPr lang="en-US" altLang="ko-KR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) </a:t>
            </a:r>
            <a:r>
              <a:rPr lang="ko-KR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모델 개발  </a:t>
            </a:r>
          </a:p>
        </p:txBody>
      </p:sp>
    </p:spTree>
    <p:extLst>
      <p:ext uri="{BB962C8B-B14F-4D97-AF65-F5344CB8AC3E}">
        <p14:creationId xmlns:p14="http://schemas.microsoft.com/office/powerpoint/2010/main" val="1866021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30E839D-2E7A-4619-9597-0E443D154B09}"/>
              </a:ext>
            </a:extLst>
          </p:cNvPr>
          <p:cNvSpPr/>
          <p:nvPr/>
        </p:nvSpPr>
        <p:spPr>
          <a:xfrm flipV="1">
            <a:off x="0" y="-1"/>
            <a:ext cx="12191999" cy="523218"/>
          </a:xfrm>
          <a:prstGeom prst="rect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" name="Picture 2" descr="C:\Users\Administrator\Desktop\gggg.png">
            <a:extLst>
              <a:ext uri="{FF2B5EF4-FFF2-40B4-BE49-F238E27FC236}">
                <a16:creationId xmlns:a16="http://schemas.microsoft.com/office/drawing/2014/main" id="{DC13BCED-80BC-4F46-BB24-04E3E2AB2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grayscl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75"/>
          <a:stretch/>
        </p:blipFill>
        <p:spPr bwMode="auto">
          <a:xfrm>
            <a:off x="671513" y="0"/>
            <a:ext cx="1947445" cy="52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058FFC-80E6-445E-A0F7-5A9C24055B20}"/>
              </a:ext>
            </a:extLst>
          </p:cNvPr>
          <p:cNvSpPr txBox="1"/>
          <p:nvPr/>
        </p:nvSpPr>
        <p:spPr>
          <a:xfrm>
            <a:off x="688260" y="104652"/>
            <a:ext cx="1231427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모델 개발</a:t>
            </a:r>
            <a:endParaRPr lang="en-US" altLang="ko-KR" sz="2000" spc="-100" dirty="0">
              <a:ln>
                <a:solidFill>
                  <a:schemeClr val="accent1">
                    <a:alpha val="0"/>
                  </a:schemeClr>
                </a:solidFill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B1C82A01-CB73-48E8-8CC1-09F8F84791E3}"/>
              </a:ext>
            </a:extLst>
          </p:cNvPr>
          <p:cNvSpPr/>
          <p:nvPr/>
        </p:nvSpPr>
        <p:spPr>
          <a:xfrm rot="16200000" flipV="1">
            <a:off x="3572" y="-3580"/>
            <a:ext cx="748425" cy="755577"/>
          </a:xfrm>
          <a:prstGeom prst="triangle">
            <a:avLst>
              <a:gd name="adj" fmla="val 100000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한쪽 모서리는 잘리고 다른 쪽 모서리는 둥근 사각형 58">
            <a:extLst>
              <a:ext uri="{FF2B5EF4-FFF2-40B4-BE49-F238E27FC236}">
                <a16:creationId xmlns:a16="http://schemas.microsoft.com/office/drawing/2014/main" id="{E3537D1B-51AF-458F-8A4A-98536B9DDCB5}"/>
              </a:ext>
            </a:extLst>
          </p:cNvPr>
          <p:cNvSpPr/>
          <p:nvPr/>
        </p:nvSpPr>
        <p:spPr>
          <a:xfrm flipH="1">
            <a:off x="100416" y="72902"/>
            <a:ext cx="571097" cy="602620"/>
          </a:xfrm>
          <a:prstGeom prst="snipRoundRect">
            <a:avLst>
              <a:gd name="adj1" fmla="val 0"/>
              <a:gd name="adj2" fmla="val 28819"/>
            </a:avLst>
          </a:prstGeom>
          <a:solidFill>
            <a:srgbClr val="1B3E1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128A3-D0C2-4C0E-886E-B374FA52CDB2}"/>
              </a:ext>
            </a:extLst>
          </p:cNvPr>
          <p:cNvSpPr txBox="1"/>
          <p:nvPr/>
        </p:nvSpPr>
        <p:spPr>
          <a:xfrm>
            <a:off x="114094" y="143380"/>
            <a:ext cx="54374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4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</a:t>
            </a:r>
            <a:endParaRPr lang="ko-KR" altLang="en-US" sz="24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1" name="슬라이드 번호 개체 틀 40">
            <a:extLst>
              <a:ext uri="{FF2B5EF4-FFF2-40B4-BE49-F238E27FC236}">
                <a16:creationId xmlns:a16="http://schemas.microsoft.com/office/drawing/2014/main" id="{518D0B5A-FB6C-4334-9C22-34CE1FFD31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5414" y="6505574"/>
            <a:ext cx="344967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pPr/>
              <a:t>25</a:t>
            </a:fld>
            <a:endParaRPr 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4219AAF-D72C-43F7-ADB8-C8A5F5C01260}"/>
              </a:ext>
            </a:extLst>
          </p:cNvPr>
          <p:cNvGrpSpPr/>
          <p:nvPr/>
        </p:nvGrpSpPr>
        <p:grpSpPr>
          <a:xfrm>
            <a:off x="796346" y="675522"/>
            <a:ext cx="10075393" cy="440802"/>
            <a:chOff x="812675" y="816204"/>
            <a:chExt cx="6435017" cy="44080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1343B5B-74A0-4C5B-8CEE-420CC799589F}"/>
                </a:ext>
              </a:extLst>
            </p:cNvPr>
            <p:cNvSpPr txBox="1"/>
            <p:nvPr/>
          </p:nvSpPr>
          <p:spPr>
            <a:xfrm>
              <a:off x="950202" y="856896"/>
              <a:ext cx="519855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r>
                <a:rPr lang="ko-KR" altLang="en-US" sz="2000" b="1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목표</a:t>
              </a:r>
              <a:r>
                <a:rPr lang="en-US" altLang="ko-KR" sz="2000" b="1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b="1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양파</a:t>
              </a:r>
              <a:r>
                <a:rPr lang="en-US" altLang="ko-KR" sz="2000" b="1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000" b="1" dirty="0" err="1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생구</a:t>
              </a:r>
              <a:r>
                <a:rPr lang="ko-KR" altLang="en-US" sz="2000" b="1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성장 예측 모델 </a:t>
              </a:r>
              <a:endParaRPr lang="en-US" altLang="ko-KR" sz="2000" b="1" dirty="0">
                <a:solidFill>
                  <a:srgbClr val="12121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77EB78-4A72-4B8C-948D-82728EE322B1}"/>
                </a:ext>
              </a:extLst>
            </p:cNvPr>
            <p:cNvSpPr/>
            <p:nvPr/>
          </p:nvSpPr>
          <p:spPr>
            <a:xfrm>
              <a:off x="812675" y="937749"/>
              <a:ext cx="120181" cy="198782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HY헤드라인M" panose="02030600000101010101" pitchFamily="18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3" name="文本框 15">
              <a:extLst>
                <a:ext uri="{FF2B5EF4-FFF2-40B4-BE49-F238E27FC236}">
                  <a16:creationId xmlns:a16="http://schemas.microsoft.com/office/drawing/2014/main" id="{D6E7963F-9A19-44D6-9A70-F64B02C25894}"/>
                </a:ext>
              </a:extLst>
            </p:cNvPr>
            <p:cNvSpPr txBox="1"/>
            <p:nvPr/>
          </p:nvSpPr>
          <p:spPr>
            <a:xfrm>
              <a:off x="2049140" y="816204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endParaRPr lang="en-US" altLang="ko-KR" dirty="0">
                <a:solidFill>
                  <a:srgbClr val="12121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4" name="组合 5">
            <a:extLst>
              <a:ext uri="{FF2B5EF4-FFF2-40B4-BE49-F238E27FC236}">
                <a16:creationId xmlns:a16="http://schemas.microsoft.com/office/drawing/2014/main" id="{55B1C400-C1EA-0E23-CDDB-753289423172}"/>
              </a:ext>
            </a:extLst>
          </p:cNvPr>
          <p:cNvGrpSpPr/>
          <p:nvPr/>
        </p:nvGrpSpPr>
        <p:grpSpPr>
          <a:xfrm>
            <a:off x="837978" y="1748486"/>
            <a:ext cx="10075393" cy="410024"/>
            <a:chOff x="812675" y="816204"/>
            <a:chExt cx="6435017" cy="410024"/>
          </a:xfrm>
        </p:grpSpPr>
        <p:sp>
          <p:nvSpPr>
            <p:cNvPr id="11" name="文本框 15">
              <a:extLst>
                <a:ext uri="{FF2B5EF4-FFF2-40B4-BE49-F238E27FC236}">
                  <a16:creationId xmlns:a16="http://schemas.microsoft.com/office/drawing/2014/main" id="{D371CED3-5364-2DD7-753A-CF236A7BD940}"/>
                </a:ext>
              </a:extLst>
            </p:cNvPr>
            <p:cNvSpPr txBox="1"/>
            <p:nvPr/>
          </p:nvSpPr>
          <p:spPr>
            <a:xfrm>
              <a:off x="950202" y="856896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r>
                <a:rPr lang="en-US" altLang="ko-KR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Data</a:t>
              </a:r>
              <a:r>
                <a:rPr lang="ko-KR" altLang="en-US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endParaRPr lang="en-US" altLang="ko-KR" dirty="0">
                <a:solidFill>
                  <a:srgbClr val="12121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2" name="矩形 4">
              <a:extLst>
                <a:ext uri="{FF2B5EF4-FFF2-40B4-BE49-F238E27FC236}">
                  <a16:creationId xmlns:a16="http://schemas.microsoft.com/office/drawing/2014/main" id="{A94A2E12-1CFB-A943-8C73-530003BB060D}"/>
                </a:ext>
              </a:extLst>
            </p:cNvPr>
            <p:cNvSpPr/>
            <p:nvPr/>
          </p:nvSpPr>
          <p:spPr>
            <a:xfrm>
              <a:off x="812675" y="937749"/>
              <a:ext cx="120181" cy="198782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HY헤드라인M" panose="02030600000101010101" pitchFamily="18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文本框 15">
              <a:extLst>
                <a:ext uri="{FF2B5EF4-FFF2-40B4-BE49-F238E27FC236}">
                  <a16:creationId xmlns:a16="http://schemas.microsoft.com/office/drawing/2014/main" id="{B1AACB51-06DE-5D91-56AF-896373E4D3BB}"/>
                </a:ext>
              </a:extLst>
            </p:cNvPr>
            <p:cNvSpPr txBox="1"/>
            <p:nvPr/>
          </p:nvSpPr>
          <p:spPr>
            <a:xfrm>
              <a:off x="2049140" y="816204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endParaRPr lang="en-US" altLang="ko-KR" dirty="0">
                <a:solidFill>
                  <a:srgbClr val="12121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19" name="직사각형 18"/>
          <p:cNvSpPr/>
          <p:nvPr/>
        </p:nvSpPr>
        <p:spPr>
          <a:xfrm>
            <a:off x="837978" y="5093012"/>
            <a:ext cx="36858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 time : weeks from plant </a:t>
            </a:r>
          </a:p>
          <a:p>
            <a:r>
              <a:rPr lang="en-US" altLang="ko-KR" dirty="0"/>
              <a:t>weight ; Live weight (g)</a:t>
            </a:r>
            <a:endParaRPr lang="ko-KR" altLang="en-US" dirty="0"/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934379"/>
              </p:ext>
            </p:extLst>
          </p:nvPr>
        </p:nvGraphicFramePr>
        <p:xfrm>
          <a:off x="755571" y="2472715"/>
          <a:ext cx="11073876" cy="19837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2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8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28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28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28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28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28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28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28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2705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u="none" strike="noStrike" dirty="0">
                          <a:effectLst/>
                        </a:rPr>
                        <a:t>Weight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8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13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17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21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26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27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28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27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27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29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28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1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Time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195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240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280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 dirty="0">
                          <a:effectLst/>
                        </a:rPr>
                        <a:t>330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380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410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480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530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580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>
                          <a:effectLst/>
                        </a:rPr>
                        <a:t>620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800" u="none" strike="noStrike" dirty="0">
                          <a:effectLst/>
                        </a:rPr>
                        <a:t>680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334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30E839D-2E7A-4619-9597-0E443D154B09}"/>
              </a:ext>
            </a:extLst>
          </p:cNvPr>
          <p:cNvSpPr/>
          <p:nvPr/>
        </p:nvSpPr>
        <p:spPr>
          <a:xfrm flipV="1">
            <a:off x="0" y="-1"/>
            <a:ext cx="12191999" cy="523218"/>
          </a:xfrm>
          <a:prstGeom prst="rect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" name="Picture 2" descr="C:\Users\Administrator\Desktop\gggg.png">
            <a:extLst>
              <a:ext uri="{FF2B5EF4-FFF2-40B4-BE49-F238E27FC236}">
                <a16:creationId xmlns:a16="http://schemas.microsoft.com/office/drawing/2014/main" id="{DC13BCED-80BC-4F46-BB24-04E3E2AB2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grayscl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75"/>
          <a:stretch/>
        </p:blipFill>
        <p:spPr bwMode="auto">
          <a:xfrm>
            <a:off x="671513" y="0"/>
            <a:ext cx="1947445" cy="52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058FFC-80E6-445E-A0F7-5A9C24055B20}"/>
              </a:ext>
            </a:extLst>
          </p:cNvPr>
          <p:cNvSpPr txBox="1"/>
          <p:nvPr/>
        </p:nvSpPr>
        <p:spPr>
          <a:xfrm>
            <a:off x="688260" y="104652"/>
            <a:ext cx="1231427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모델 개발</a:t>
            </a:r>
            <a:endParaRPr lang="en-US" altLang="ko-KR" sz="2000" spc="-100" dirty="0">
              <a:ln>
                <a:solidFill>
                  <a:schemeClr val="accent1">
                    <a:alpha val="0"/>
                  </a:schemeClr>
                </a:solidFill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B1C82A01-CB73-48E8-8CC1-09F8F84791E3}"/>
              </a:ext>
            </a:extLst>
          </p:cNvPr>
          <p:cNvSpPr/>
          <p:nvPr/>
        </p:nvSpPr>
        <p:spPr>
          <a:xfrm rot="16200000" flipV="1">
            <a:off x="3572" y="-3580"/>
            <a:ext cx="748425" cy="755577"/>
          </a:xfrm>
          <a:prstGeom prst="triangle">
            <a:avLst>
              <a:gd name="adj" fmla="val 100000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한쪽 모서리는 잘리고 다른 쪽 모서리는 둥근 사각형 58">
            <a:extLst>
              <a:ext uri="{FF2B5EF4-FFF2-40B4-BE49-F238E27FC236}">
                <a16:creationId xmlns:a16="http://schemas.microsoft.com/office/drawing/2014/main" id="{E3537D1B-51AF-458F-8A4A-98536B9DDCB5}"/>
              </a:ext>
            </a:extLst>
          </p:cNvPr>
          <p:cNvSpPr/>
          <p:nvPr/>
        </p:nvSpPr>
        <p:spPr>
          <a:xfrm flipH="1">
            <a:off x="100416" y="72902"/>
            <a:ext cx="571097" cy="602620"/>
          </a:xfrm>
          <a:prstGeom prst="snipRoundRect">
            <a:avLst>
              <a:gd name="adj1" fmla="val 0"/>
              <a:gd name="adj2" fmla="val 28819"/>
            </a:avLst>
          </a:prstGeom>
          <a:solidFill>
            <a:srgbClr val="1B3E1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128A3-D0C2-4C0E-886E-B374FA52CDB2}"/>
              </a:ext>
            </a:extLst>
          </p:cNvPr>
          <p:cNvSpPr txBox="1"/>
          <p:nvPr/>
        </p:nvSpPr>
        <p:spPr>
          <a:xfrm>
            <a:off x="114094" y="143380"/>
            <a:ext cx="54374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4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</a:t>
            </a:r>
            <a:endParaRPr lang="ko-KR" altLang="en-US" sz="24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1" name="슬라이드 번호 개체 틀 40">
            <a:extLst>
              <a:ext uri="{FF2B5EF4-FFF2-40B4-BE49-F238E27FC236}">
                <a16:creationId xmlns:a16="http://schemas.microsoft.com/office/drawing/2014/main" id="{518D0B5A-FB6C-4334-9C22-34CE1FFD31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5414" y="6505574"/>
            <a:ext cx="344967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pPr/>
              <a:t>26</a:t>
            </a:fld>
            <a:endParaRPr 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4219AAF-D72C-43F7-ADB8-C8A5F5C01260}"/>
              </a:ext>
            </a:extLst>
          </p:cNvPr>
          <p:cNvGrpSpPr/>
          <p:nvPr/>
        </p:nvGrpSpPr>
        <p:grpSpPr>
          <a:xfrm>
            <a:off x="812675" y="675522"/>
            <a:ext cx="10075393" cy="440802"/>
            <a:chOff x="812675" y="816204"/>
            <a:chExt cx="6435017" cy="44080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1343B5B-74A0-4C5B-8CEE-420CC799589F}"/>
                </a:ext>
              </a:extLst>
            </p:cNvPr>
            <p:cNvSpPr txBox="1"/>
            <p:nvPr/>
          </p:nvSpPr>
          <p:spPr>
            <a:xfrm>
              <a:off x="950202" y="856896"/>
              <a:ext cx="519855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r>
                <a:rPr lang="ko-KR" altLang="en-US" sz="2000" b="1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목표</a:t>
              </a:r>
              <a:r>
                <a:rPr lang="en-US" altLang="ko-KR" sz="2000" b="1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</a:t>
              </a:r>
              <a:r>
                <a:rPr lang="ko-KR" altLang="en-US" sz="2000" b="1" dirty="0" err="1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생구</a:t>
              </a:r>
              <a:r>
                <a:rPr lang="en-US" altLang="ko-KR" sz="2000" b="1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000" b="1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성장 예측 모델 </a:t>
              </a:r>
              <a:endParaRPr lang="en-US" altLang="ko-KR" sz="2000" b="1" dirty="0">
                <a:solidFill>
                  <a:srgbClr val="12121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77EB78-4A72-4B8C-948D-82728EE322B1}"/>
                </a:ext>
              </a:extLst>
            </p:cNvPr>
            <p:cNvSpPr/>
            <p:nvPr/>
          </p:nvSpPr>
          <p:spPr>
            <a:xfrm>
              <a:off x="812675" y="937749"/>
              <a:ext cx="120181" cy="198782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HY헤드라인M" panose="02030600000101010101" pitchFamily="18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3" name="文本框 15">
              <a:extLst>
                <a:ext uri="{FF2B5EF4-FFF2-40B4-BE49-F238E27FC236}">
                  <a16:creationId xmlns:a16="http://schemas.microsoft.com/office/drawing/2014/main" id="{D6E7963F-9A19-44D6-9A70-F64B02C25894}"/>
                </a:ext>
              </a:extLst>
            </p:cNvPr>
            <p:cNvSpPr txBox="1"/>
            <p:nvPr/>
          </p:nvSpPr>
          <p:spPr>
            <a:xfrm>
              <a:off x="2049140" y="816204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endParaRPr lang="en-US" altLang="ko-KR" dirty="0">
                <a:solidFill>
                  <a:srgbClr val="12121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rcRect t="7298"/>
          <a:stretch/>
        </p:blipFill>
        <p:spPr>
          <a:xfrm>
            <a:off x="1028003" y="1572986"/>
            <a:ext cx="7711736" cy="477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437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30E839D-2E7A-4619-9597-0E443D154B09}"/>
              </a:ext>
            </a:extLst>
          </p:cNvPr>
          <p:cNvSpPr/>
          <p:nvPr/>
        </p:nvSpPr>
        <p:spPr>
          <a:xfrm flipV="1">
            <a:off x="0" y="-1"/>
            <a:ext cx="12191999" cy="523218"/>
          </a:xfrm>
          <a:prstGeom prst="rect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" name="Picture 2" descr="C:\Users\Administrator\Desktop\gggg.png">
            <a:extLst>
              <a:ext uri="{FF2B5EF4-FFF2-40B4-BE49-F238E27FC236}">
                <a16:creationId xmlns:a16="http://schemas.microsoft.com/office/drawing/2014/main" id="{DC13BCED-80BC-4F46-BB24-04E3E2AB2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grayscl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75"/>
          <a:stretch/>
        </p:blipFill>
        <p:spPr bwMode="auto">
          <a:xfrm>
            <a:off x="671513" y="0"/>
            <a:ext cx="1947445" cy="52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058FFC-80E6-445E-A0F7-5A9C24055B20}"/>
              </a:ext>
            </a:extLst>
          </p:cNvPr>
          <p:cNvSpPr txBox="1"/>
          <p:nvPr/>
        </p:nvSpPr>
        <p:spPr>
          <a:xfrm>
            <a:off x="688260" y="104652"/>
            <a:ext cx="1231427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모델 개발</a:t>
            </a:r>
            <a:endParaRPr lang="en-US" altLang="ko-KR" sz="2000" spc="-100" dirty="0">
              <a:ln>
                <a:solidFill>
                  <a:schemeClr val="accent1">
                    <a:alpha val="0"/>
                  </a:schemeClr>
                </a:solidFill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B1C82A01-CB73-48E8-8CC1-09F8F84791E3}"/>
              </a:ext>
            </a:extLst>
          </p:cNvPr>
          <p:cNvSpPr/>
          <p:nvPr/>
        </p:nvSpPr>
        <p:spPr>
          <a:xfrm rot="16200000" flipV="1">
            <a:off x="3572" y="-3580"/>
            <a:ext cx="748425" cy="755577"/>
          </a:xfrm>
          <a:prstGeom prst="triangle">
            <a:avLst>
              <a:gd name="adj" fmla="val 100000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한쪽 모서리는 잘리고 다른 쪽 모서리는 둥근 사각형 58">
            <a:extLst>
              <a:ext uri="{FF2B5EF4-FFF2-40B4-BE49-F238E27FC236}">
                <a16:creationId xmlns:a16="http://schemas.microsoft.com/office/drawing/2014/main" id="{E3537D1B-51AF-458F-8A4A-98536B9DDCB5}"/>
              </a:ext>
            </a:extLst>
          </p:cNvPr>
          <p:cNvSpPr/>
          <p:nvPr/>
        </p:nvSpPr>
        <p:spPr>
          <a:xfrm flipH="1">
            <a:off x="100416" y="72902"/>
            <a:ext cx="571097" cy="602620"/>
          </a:xfrm>
          <a:prstGeom prst="snipRoundRect">
            <a:avLst>
              <a:gd name="adj1" fmla="val 0"/>
              <a:gd name="adj2" fmla="val 28819"/>
            </a:avLst>
          </a:prstGeom>
          <a:solidFill>
            <a:srgbClr val="1B3E1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128A3-D0C2-4C0E-886E-B374FA52CDB2}"/>
              </a:ext>
            </a:extLst>
          </p:cNvPr>
          <p:cNvSpPr txBox="1"/>
          <p:nvPr/>
        </p:nvSpPr>
        <p:spPr>
          <a:xfrm>
            <a:off x="114094" y="143380"/>
            <a:ext cx="54374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4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</a:t>
            </a:r>
            <a:endParaRPr lang="ko-KR" altLang="en-US" sz="24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1" name="슬라이드 번호 개체 틀 40">
            <a:extLst>
              <a:ext uri="{FF2B5EF4-FFF2-40B4-BE49-F238E27FC236}">
                <a16:creationId xmlns:a16="http://schemas.microsoft.com/office/drawing/2014/main" id="{518D0B5A-FB6C-4334-9C22-34CE1FFD31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5414" y="6505574"/>
            <a:ext cx="344967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pPr/>
              <a:t>27</a:t>
            </a:fld>
            <a:endParaRPr 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4219AAF-D72C-43F7-ADB8-C8A5F5C01260}"/>
              </a:ext>
            </a:extLst>
          </p:cNvPr>
          <p:cNvGrpSpPr/>
          <p:nvPr/>
        </p:nvGrpSpPr>
        <p:grpSpPr>
          <a:xfrm>
            <a:off x="812675" y="675522"/>
            <a:ext cx="10075393" cy="440802"/>
            <a:chOff x="812675" y="816204"/>
            <a:chExt cx="6435017" cy="44080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1343B5B-74A0-4C5B-8CEE-420CC799589F}"/>
                </a:ext>
              </a:extLst>
            </p:cNvPr>
            <p:cNvSpPr txBox="1"/>
            <p:nvPr/>
          </p:nvSpPr>
          <p:spPr>
            <a:xfrm>
              <a:off x="950202" y="856896"/>
              <a:ext cx="519855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r>
                <a:rPr lang="en-US" altLang="ko-KR" sz="2000" b="1" dirty="0">
                  <a:solidFill>
                    <a:srgbClr val="12121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Linear Model Result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77EB78-4A72-4B8C-948D-82728EE322B1}"/>
                </a:ext>
              </a:extLst>
            </p:cNvPr>
            <p:cNvSpPr/>
            <p:nvPr/>
          </p:nvSpPr>
          <p:spPr>
            <a:xfrm>
              <a:off x="812675" y="937749"/>
              <a:ext cx="120181" cy="198782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HY헤드라인M" panose="02030600000101010101" pitchFamily="18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3" name="文本框 15">
              <a:extLst>
                <a:ext uri="{FF2B5EF4-FFF2-40B4-BE49-F238E27FC236}">
                  <a16:creationId xmlns:a16="http://schemas.microsoft.com/office/drawing/2014/main" id="{D6E7963F-9A19-44D6-9A70-F64B02C25894}"/>
                </a:ext>
              </a:extLst>
            </p:cNvPr>
            <p:cNvSpPr txBox="1"/>
            <p:nvPr/>
          </p:nvSpPr>
          <p:spPr>
            <a:xfrm>
              <a:off x="2049140" y="816204"/>
              <a:ext cx="51985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0"/>
              <a:endParaRPr lang="en-US" altLang="ko-KR" dirty="0">
                <a:solidFill>
                  <a:srgbClr val="121212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rcRect t="7331" b="1"/>
          <a:stretch/>
        </p:blipFill>
        <p:spPr>
          <a:xfrm>
            <a:off x="1645235" y="1719943"/>
            <a:ext cx="7417181" cy="461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15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제목 1"/>
          <p:cNvSpPr>
            <a:spLocks noGrp="1"/>
          </p:cNvSpPr>
          <p:nvPr>
            <p:ph type="title"/>
          </p:nvPr>
        </p:nvSpPr>
        <p:spPr>
          <a:xfrm>
            <a:off x="845419" y="338435"/>
            <a:ext cx="8229600" cy="1143000"/>
          </a:xfrm>
        </p:spPr>
        <p:txBody>
          <a:bodyPr/>
          <a:lstStyle/>
          <a:p>
            <a:r>
              <a:rPr lang="en-US" altLang="ko-KR" dirty="0"/>
              <a:t>Dynamic model </a:t>
            </a:r>
            <a:endParaRPr lang="ko-KR" altLang="en-US" dirty="0"/>
          </a:p>
        </p:txBody>
      </p:sp>
      <p:sp>
        <p:nvSpPr>
          <p:cNvPr id="91139" name="TextBox 6"/>
          <p:cNvSpPr txBox="1">
            <a:spLocks noChangeArrowheads="1"/>
          </p:cNvSpPr>
          <p:nvPr/>
        </p:nvSpPr>
        <p:spPr bwMode="auto">
          <a:xfrm>
            <a:off x="1123565" y="1162697"/>
            <a:ext cx="105711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dirty="0"/>
              <a:t>Candidate Model : the live weight of onion</a:t>
            </a:r>
            <a:r>
              <a:rPr lang="ko-KR" altLang="en-US" dirty="0"/>
              <a:t> </a:t>
            </a:r>
            <a:r>
              <a:rPr lang="en-US" altLang="ko-KR" dirty="0"/>
              <a:t>determined from plant</a:t>
            </a:r>
            <a:endParaRPr lang="ko-KR" altLang="en-US" dirty="0"/>
          </a:p>
        </p:txBody>
      </p:sp>
      <p:sp>
        <p:nvSpPr>
          <p:cNvPr id="91140" name="Rectangle 2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1141" name="Rectangle 4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1142" name="Rectangle 2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1197" name="TextBox 5"/>
          <p:cNvSpPr txBox="1">
            <a:spLocks noChangeArrowheads="1"/>
          </p:cNvSpPr>
          <p:nvPr/>
        </p:nvSpPr>
        <p:spPr bwMode="auto">
          <a:xfrm>
            <a:off x="1123565" y="3808699"/>
            <a:ext cx="802758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dirty="0"/>
              <a:t>Reproductive rate proportional to the density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Population(Live weight) reaches a ‘carrying capacity’</a:t>
            </a:r>
          </a:p>
          <a:p>
            <a:pPr eaLnBrk="1" hangingPunct="1"/>
            <a:endParaRPr lang="ko-KR" alt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61044D9A-F2A1-47B3-B6F4-8EABA3EB1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764" y="2178484"/>
            <a:ext cx="4845810" cy="9941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3844062"/>
      </p:ext>
    </p:extLst>
  </p:cSld>
  <p:clrMapOvr>
    <a:masterClrMapping/>
  </p:clrMapOvr>
  <p:transition spd="med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제목 1"/>
          <p:cNvSpPr>
            <a:spLocks noGrp="1"/>
          </p:cNvSpPr>
          <p:nvPr>
            <p:ph type="title"/>
          </p:nvPr>
        </p:nvSpPr>
        <p:spPr>
          <a:xfrm>
            <a:off x="845419" y="338435"/>
            <a:ext cx="8229600" cy="1143000"/>
          </a:xfrm>
        </p:spPr>
        <p:txBody>
          <a:bodyPr/>
          <a:lstStyle/>
          <a:p>
            <a:r>
              <a:rPr lang="en-US" altLang="ko-KR" dirty="0" err="1"/>
              <a:t>Nolinear</a:t>
            </a:r>
            <a:r>
              <a:rPr lang="en-US" altLang="ko-KR" dirty="0"/>
              <a:t> model </a:t>
            </a:r>
            <a:endParaRPr lang="ko-KR" altLang="en-US" dirty="0"/>
          </a:p>
        </p:txBody>
      </p:sp>
      <p:sp>
        <p:nvSpPr>
          <p:cNvPr id="91139" name="TextBox 6"/>
          <p:cNvSpPr txBox="1">
            <a:spLocks noChangeArrowheads="1"/>
          </p:cNvSpPr>
          <p:nvPr/>
        </p:nvSpPr>
        <p:spPr bwMode="auto">
          <a:xfrm>
            <a:off x="1123565" y="1162697"/>
            <a:ext cx="105711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dirty="0"/>
              <a:t>Candidate Model : the live weight of onion determined from plant</a:t>
            </a:r>
            <a:endParaRPr lang="ko-KR" altLang="en-US" dirty="0"/>
          </a:p>
        </p:txBody>
      </p:sp>
      <p:sp>
        <p:nvSpPr>
          <p:cNvPr id="91140" name="Rectangle 2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1141" name="Rectangle 4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1142" name="Rectangle 2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91143" name="_x34715232" descr="DRW0000154444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496" y="2140442"/>
            <a:ext cx="2625725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97" name="TextBox 5"/>
          <p:cNvSpPr txBox="1">
            <a:spLocks noChangeArrowheads="1"/>
          </p:cNvSpPr>
          <p:nvPr/>
        </p:nvSpPr>
        <p:spPr bwMode="auto">
          <a:xfrm>
            <a:off x="1123566" y="3650298"/>
            <a:ext cx="802758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dirty="0"/>
              <a:t>Theta0 : expected value of y at t=0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Theta2 = expected value of y at t -&gt; </a:t>
            </a:r>
            <a:r>
              <a:rPr lang="en-US" altLang="ko-KR" dirty="0" err="1"/>
              <a:t>inf</a:t>
            </a:r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Theta1 : measure of growth rate</a:t>
            </a:r>
          </a:p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429553"/>
      </p:ext>
    </p:extLst>
  </p:cSld>
  <p:clrMapOvr>
    <a:masterClrMapping/>
  </p:clrMapOvr>
  <p:transition spd="med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Nonlinear</a:t>
            </a:r>
            <a:r>
              <a:rPr lang="ko-KR" altLang="en-US" dirty="0"/>
              <a:t> </a:t>
            </a:r>
            <a:r>
              <a:rPr lang="en-US" altLang="ko-KR" dirty="0"/>
              <a:t>regression result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BA4F53-1970-49B1-8515-7D34A9B0E60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382" y="856120"/>
            <a:ext cx="7757618" cy="518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77857"/>
      </p:ext>
    </p:extLst>
  </p:cSld>
  <p:clrMapOvr>
    <a:masterClrMapping/>
  </p:clrMapOvr>
  <p:transition spd="med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05927" y="2512194"/>
            <a:ext cx="84028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Question?</a:t>
            </a:r>
            <a:r>
              <a:rPr lang="ko-KR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31435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5360" y="351482"/>
            <a:ext cx="9299528" cy="784300"/>
          </a:xfrm>
        </p:spPr>
        <p:txBody>
          <a:bodyPr/>
          <a:lstStyle/>
          <a:p>
            <a:r>
              <a:rPr lang="en-US" altLang="ko-KR" dirty="0"/>
              <a:t>Q1 : Live weight depends on only time?</a:t>
            </a:r>
            <a:br>
              <a:rPr lang="en-US" altLang="ko-KR" dirty="0"/>
            </a:br>
            <a:r>
              <a:rPr lang="en-US" altLang="ko-KR" dirty="0"/>
              <a:t>Q2 : Does it depend on environmental factor?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BA4F53-1970-49B1-8515-7D34A9B0E606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384" y="1212254"/>
            <a:ext cx="7757618" cy="51806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46358" y="5524901"/>
            <a:ext cx="3368842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Time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1284" y="1347537"/>
            <a:ext cx="8383604" cy="50783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environmental factor : </a:t>
            </a:r>
          </a:p>
          <a:p>
            <a:r>
              <a:rPr lang="en-US" altLang="ko-KR" sz="3600" dirty="0"/>
              <a:t> - temp. </a:t>
            </a:r>
          </a:p>
          <a:p>
            <a:r>
              <a:rPr lang="en-US" altLang="ko-KR" sz="3600" dirty="0"/>
              <a:t> - R/H</a:t>
            </a:r>
          </a:p>
          <a:p>
            <a:r>
              <a:rPr lang="en-US" altLang="ko-KR" sz="3600" dirty="0"/>
              <a:t> - water temp.</a:t>
            </a:r>
          </a:p>
          <a:p>
            <a:r>
              <a:rPr lang="en-US" altLang="ko-KR" sz="3600" dirty="0"/>
              <a:t> - CO2 Concentration </a:t>
            </a:r>
          </a:p>
          <a:p>
            <a:endParaRPr lang="en-US" altLang="ko-KR" sz="3600" dirty="0"/>
          </a:p>
          <a:p>
            <a:r>
              <a:rPr lang="en-US" altLang="ko-KR" sz="3600" dirty="0"/>
              <a:t>Growth factor : </a:t>
            </a:r>
          </a:p>
          <a:p>
            <a:r>
              <a:rPr lang="en-US" altLang="ko-KR" sz="3600" dirty="0"/>
              <a:t> - amount of food intake  </a:t>
            </a:r>
          </a:p>
          <a:p>
            <a:r>
              <a:rPr lang="en-US" altLang="ko-KR" sz="3600" dirty="0"/>
              <a:t> 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8746463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제목 1"/>
          <p:cNvSpPr>
            <a:spLocks noGrp="1"/>
          </p:cNvSpPr>
          <p:nvPr>
            <p:ph type="title"/>
          </p:nvPr>
        </p:nvSpPr>
        <p:spPr>
          <a:xfrm>
            <a:off x="845419" y="338435"/>
            <a:ext cx="8229600" cy="1143000"/>
          </a:xfrm>
        </p:spPr>
        <p:txBody>
          <a:bodyPr/>
          <a:lstStyle/>
          <a:p>
            <a:r>
              <a:rPr lang="en-US" altLang="ko-KR" dirty="0"/>
              <a:t>Nonlinear model </a:t>
            </a:r>
            <a:endParaRPr lang="ko-KR" altLang="en-US" dirty="0"/>
          </a:p>
        </p:txBody>
      </p:sp>
      <p:sp>
        <p:nvSpPr>
          <p:cNvPr id="91139" name="TextBox 6"/>
          <p:cNvSpPr txBox="1">
            <a:spLocks noChangeArrowheads="1"/>
          </p:cNvSpPr>
          <p:nvPr/>
        </p:nvSpPr>
        <p:spPr bwMode="auto">
          <a:xfrm>
            <a:off x="1123565" y="1162697"/>
            <a:ext cx="105711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dirty="0"/>
              <a:t>Candidate Model : the live weight of onion determined from plant</a:t>
            </a:r>
            <a:endParaRPr lang="ko-KR" altLang="en-US" dirty="0"/>
          </a:p>
        </p:txBody>
      </p:sp>
      <p:sp>
        <p:nvSpPr>
          <p:cNvPr id="91140" name="Rectangle 2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1141" name="Rectangle 4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1142" name="Rectangle 2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1197" name="TextBox 5"/>
          <p:cNvSpPr txBox="1">
            <a:spLocks noChangeArrowheads="1"/>
          </p:cNvSpPr>
          <p:nvPr/>
        </p:nvSpPr>
        <p:spPr bwMode="auto">
          <a:xfrm>
            <a:off x="1242835" y="3401820"/>
            <a:ext cx="8027586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dirty="0"/>
              <a:t>X1  : Temp.</a:t>
            </a:r>
          </a:p>
          <a:p>
            <a:pPr eaLnBrk="1" hangingPunct="1"/>
            <a:r>
              <a:rPr lang="en-US" altLang="ko-KR" dirty="0"/>
              <a:t>X2 : R/H</a:t>
            </a:r>
          </a:p>
          <a:p>
            <a:pPr eaLnBrk="1" hangingPunct="1"/>
            <a:r>
              <a:rPr lang="en-US" altLang="ko-KR" dirty="0"/>
              <a:t>X3 : Water Temp.</a:t>
            </a:r>
          </a:p>
          <a:p>
            <a:pPr eaLnBrk="1" hangingPunct="1"/>
            <a:r>
              <a:rPr lang="en-US" altLang="ko-KR" dirty="0"/>
              <a:t>X4 : CO2 Concentration </a:t>
            </a:r>
          </a:p>
          <a:p>
            <a:pPr eaLnBrk="1" hangingPunct="1"/>
            <a:r>
              <a:rPr lang="en-US" altLang="ko-KR" dirty="0"/>
              <a:t>X5 : amount of food uptake</a:t>
            </a:r>
          </a:p>
          <a:p>
            <a:pPr eaLnBrk="1" hangingPunct="1"/>
            <a:r>
              <a:rPr lang="en-US" altLang="ko-KR" dirty="0"/>
              <a:t>X6 : amount of water uptake</a:t>
            </a:r>
          </a:p>
          <a:p>
            <a:pPr eaLnBrk="1" hangingPunct="1"/>
            <a:endParaRPr lang="ko-KR" altLang="en-US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1" y="17074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3" name="_x286874264" descr="DRW0000ad8431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5" y="2136709"/>
            <a:ext cx="8316562" cy="73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472668" y="3303074"/>
            <a:ext cx="7523330" cy="10772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Problem of This Model : singular error</a:t>
            </a:r>
          </a:p>
          <a:p>
            <a:endParaRPr lang="en-US" altLang="ko-KR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4472668" y="5787088"/>
            <a:ext cx="6548229" cy="5847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Sol) All X’s variable are increasing. 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5739167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1678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450741" y="10302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151044" y="411483"/>
            <a:ext cx="337441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dirty="0">
                <a:latin typeface="HY견명조" pitchFamily="18" charset="-127"/>
                <a:ea typeface="HY견명조" pitchFamily="18" charset="-127"/>
              </a:rPr>
              <a:t>x : </a:t>
            </a:r>
            <a:r>
              <a:rPr lang="ko-KR" altLang="en-US" dirty="0">
                <a:latin typeface="HY견명조" pitchFamily="18" charset="-127"/>
                <a:ea typeface="HY견명조" pitchFamily="18" charset="-127"/>
              </a:rPr>
              <a:t>초장</a:t>
            </a:r>
            <a:r>
              <a:rPr lang="en-US" altLang="ko-KR" dirty="0">
                <a:latin typeface="HY견명조" pitchFamily="18" charset="-127"/>
                <a:ea typeface="HY견명조" pitchFamily="18" charset="-127"/>
              </a:rPr>
              <a:t>, </a:t>
            </a:r>
            <a:r>
              <a:rPr lang="ko-KR" altLang="en-US" dirty="0" err="1">
                <a:latin typeface="HY견명조" pitchFamily="18" charset="-127"/>
                <a:ea typeface="HY견명조" pitchFamily="18" charset="-127"/>
              </a:rPr>
              <a:t>주경장</a:t>
            </a:r>
            <a:r>
              <a:rPr lang="en-US" altLang="ko-KR" dirty="0">
                <a:latin typeface="HY견명조" pitchFamily="18" charset="-127"/>
                <a:ea typeface="HY견명조" pitchFamily="18" charset="-127"/>
              </a:rPr>
              <a:t>, </a:t>
            </a:r>
            <a:r>
              <a:rPr lang="ko-KR" altLang="en-US" dirty="0" err="1">
                <a:latin typeface="HY견명조" pitchFamily="18" charset="-127"/>
                <a:ea typeface="HY견명조" pitchFamily="18" charset="-127"/>
              </a:rPr>
              <a:t>경경</a:t>
            </a:r>
            <a:r>
              <a:rPr lang="en-US" altLang="ko-KR" dirty="0">
                <a:latin typeface="HY견명조" pitchFamily="18" charset="-127"/>
                <a:ea typeface="HY견명조" pitchFamily="18" charset="-127"/>
              </a:rPr>
              <a:t>, </a:t>
            </a:r>
            <a:r>
              <a:rPr lang="ko-KR" altLang="en-US" dirty="0" err="1">
                <a:latin typeface="HY견명조" pitchFamily="18" charset="-127"/>
                <a:ea typeface="HY견명조" pitchFamily="18" charset="-127"/>
              </a:rPr>
              <a:t>분지수</a:t>
            </a:r>
            <a:endParaRPr lang="en-US" altLang="ko-KR" dirty="0">
              <a:latin typeface="HY견명조" pitchFamily="18" charset="-127"/>
              <a:ea typeface="HY견명조" pitchFamily="18" charset="-127"/>
            </a:endParaRPr>
          </a:p>
          <a:p>
            <a:r>
              <a:rPr lang="en-US" altLang="ko-KR" dirty="0">
                <a:latin typeface="HY견명조" pitchFamily="18" charset="-127"/>
                <a:ea typeface="HY견명조" pitchFamily="18" charset="-127"/>
              </a:rPr>
              <a:t>y : </a:t>
            </a:r>
            <a:r>
              <a:rPr lang="ko-KR" altLang="en-US" dirty="0" err="1">
                <a:latin typeface="HY견명조" pitchFamily="18" charset="-127"/>
                <a:ea typeface="HY견명조" pitchFamily="18" charset="-127"/>
              </a:rPr>
              <a:t>수확개체수</a:t>
            </a:r>
            <a:endParaRPr lang="ko-KR" altLang="en-US" dirty="0"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647918" y="2958235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/>
              <a:t>Parameters:</a:t>
            </a:r>
          </a:p>
          <a:p>
            <a:pPr fontAlgn="base"/>
            <a:r>
              <a:rPr lang="en-US" altLang="ko-KR" dirty="0"/>
              <a:t>Estimate Std. Error t value </a:t>
            </a:r>
            <a:r>
              <a:rPr lang="en-US" altLang="ko-KR" dirty="0" err="1"/>
              <a:t>Pr</a:t>
            </a:r>
            <a:r>
              <a:rPr lang="en-US" altLang="ko-KR" dirty="0"/>
              <a:t>(&gt;|t|) </a:t>
            </a:r>
          </a:p>
          <a:p>
            <a:pPr fontAlgn="base"/>
            <a:r>
              <a:rPr lang="en-US" altLang="ko-KR" dirty="0"/>
              <a:t>theta0 2.8191057 0.2474768 11.391 &lt;2e-16 ***</a:t>
            </a:r>
          </a:p>
          <a:p>
            <a:pPr fontAlgn="base"/>
            <a:r>
              <a:rPr lang="en-US" altLang="ko-KR" dirty="0"/>
              <a:t>theta1 -0.0006576 0.0013102 -0.502 0.6166 </a:t>
            </a:r>
          </a:p>
          <a:p>
            <a:pPr fontAlgn="base"/>
            <a:r>
              <a:rPr lang="en-US" altLang="ko-KR" dirty="0"/>
              <a:t>theta2 0.0003771 0.0016262 0.232 0.8170 </a:t>
            </a:r>
          </a:p>
          <a:p>
            <a:pPr fontAlgn="base"/>
            <a:r>
              <a:rPr lang="en-US" altLang="ko-KR" dirty="0"/>
              <a:t>theta3 -0.0052131 0.0024888 -2.095 0.0383 * </a:t>
            </a:r>
          </a:p>
          <a:p>
            <a:pPr fontAlgn="base"/>
            <a:r>
              <a:rPr lang="en-US" altLang="ko-KR" dirty="0"/>
              <a:t>theta4 -0.0174430 0.0122979 -1.418 0.1586 </a:t>
            </a:r>
          </a:p>
          <a:p>
            <a:pPr fontAlgn="base"/>
            <a:r>
              <a:rPr lang="en-US" altLang="ko-KR" dirty="0"/>
              <a:t>---</a:t>
            </a:r>
          </a:p>
          <a:p>
            <a:pPr fontAlgn="base"/>
            <a:r>
              <a:rPr lang="en-US" altLang="ko-KR" dirty="0" err="1"/>
              <a:t>Signif</a:t>
            </a:r>
            <a:r>
              <a:rPr lang="en-US" altLang="ko-KR" dirty="0"/>
              <a:t>. codes: 0 ‘***’ 0.001 ‘**’ 0.01 ‘*’ 0.05 ‘.’ 0.1 ‘ ’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280" y="1895610"/>
                <a:ext cx="11734800" cy="672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/>
                        </a:rPr>
                        <m:t>𝑌</m:t>
                      </m:r>
                      <m:r>
                        <a:rPr lang="en-US" altLang="ko-K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/>
                            </a:rPr>
                            <m:t>119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/>
                            </a:rPr>
                            <m:t>exp</m:t>
                          </m:r>
                          <m:r>
                            <a:rPr lang="en-US" altLang="ko-KR" b="0" i="1" smtClean="0">
                              <a:latin typeface="Cambria Math"/>
                            </a:rPr>
                            <m:t>⁡(</m:t>
                          </m:r>
                          <m:r>
                            <m:rPr>
                              <m:nor/>
                            </m:rPr>
                            <a:rPr lang="en-US" altLang="ko-KR"/>
                            <m:t>4.3334076−0.0008650</m:t>
                          </m:r>
                          <m:r>
                            <a:rPr lang="en-US" altLang="ko-KR" b="0" i="1" dirty="0" smtClean="0">
                              <a:latin typeface="Cambria Math"/>
                            </a:rPr>
                            <m:t>∗</m:t>
                          </m:r>
                          <m:r>
                            <m:rPr>
                              <m:nor/>
                            </m:rPr>
                            <a:rPr lang="ko-KR" altLang="en-US" dirty="0"/>
                            <m:t>초장</m:t>
                          </m:r>
                          <m:r>
                            <m:rPr>
                              <m:nor/>
                            </m:rPr>
                            <a:rPr lang="en-US" altLang="ko-KR"/>
                            <m:t>−0.0007127</m:t>
                          </m:r>
                          <m:r>
                            <a:rPr lang="en-US" altLang="ko-KR" i="1" dirty="0">
                              <a:latin typeface="Cambria Math"/>
                            </a:rPr>
                            <m:t>∗</m:t>
                          </m:r>
                          <m:r>
                            <m:rPr>
                              <m:nor/>
                            </m:rPr>
                            <a:rPr lang="ko-KR" altLang="en-US" dirty="0"/>
                            <m:t>주경장</m:t>
                          </m:r>
                          <m:r>
                            <m:rPr>
                              <m:nor/>
                            </m:rPr>
                            <a:rPr lang="en-US" altLang="ko-KR"/>
                            <m:t>−0.0080845</m:t>
                          </m:r>
                          <m:r>
                            <a:rPr lang="en-US" altLang="ko-KR" i="1" dirty="0">
                              <a:latin typeface="Cambria Math"/>
                            </a:rPr>
                            <m:t>∗</m:t>
                          </m:r>
                          <m:r>
                            <m:rPr>
                              <m:nor/>
                            </m:rPr>
                            <a:rPr lang="ko-KR" altLang="en-US" dirty="0"/>
                            <m:t>경경</m:t>
                          </m:r>
                          <m:r>
                            <m:rPr>
                              <m:nor/>
                            </m:rPr>
                            <a:rPr lang="en-US" altLang="ko-KR"/>
                            <m:t>−0.0286044</m:t>
                          </m:r>
                          <m:r>
                            <a:rPr lang="en-US" altLang="ko-KR" b="0" i="1" dirty="0" smtClean="0">
                              <a:latin typeface="Cambria Math"/>
                            </a:rPr>
                            <m:t>∗</m:t>
                          </m:r>
                          <m:r>
                            <m:rPr>
                              <m:nor/>
                            </m:rPr>
                            <a:rPr lang="ko-KR" altLang="en-US" dirty="0"/>
                            <m:t>분지수</m:t>
                          </m:r>
                          <m:r>
                            <a:rPr lang="en-US" altLang="ko-KR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0" y="1895610"/>
                <a:ext cx="11734800" cy="6722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/>
          <p:cNvSpPr/>
          <p:nvPr/>
        </p:nvSpPr>
        <p:spPr>
          <a:xfrm>
            <a:off x="5284547" y="1559382"/>
            <a:ext cx="2148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“</a:t>
            </a:r>
            <a:r>
              <a:rPr lang="ko-KR" altLang="en-US" dirty="0"/>
              <a:t>수확개체수의 최대값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683478" y="5753854"/>
            <a:ext cx="1854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dirty="0"/>
              <a:t>RMSE = 16.905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159255-E88D-4656-BDA3-422418067636}"/>
              </a:ext>
            </a:extLst>
          </p:cNvPr>
          <p:cNvSpPr/>
          <p:nvPr/>
        </p:nvSpPr>
        <p:spPr>
          <a:xfrm>
            <a:off x="523650" y="268069"/>
            <a:ext cx="37112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600" dirty="0"/>
              <a:t>Nonlinear model</a:t>
            </a:r>
            <a:endParaRPr lang="ko-KR" altLang="en-US" sz="3600" dirty="0"/>
          </a:p>
        </p:txBody>
      </p:sp>
    </p:spTree>
  </p:cSld>
  <p:clrMapOvr>
    <a:masterClrMapping/>
  </p:clrMapOvr>
  <p:transition spd="med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Ex. of increasing variable’s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02737" y="1518246"/>
            <a:ext cx="1152128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600" dirty="0"/>
              <a:t>GDD(Growth Degree of days) </a:t>
            </a:r>
          </a:p>
          <a:p>
            <a:pPr marL="0" indent="0">
              <a:buNone/>
            </a:pPr>
            <a:endParaRPr lang="en-US" altLang="ko-KR" sz="3600" dirty="0"/>
          </a:p>
          <a:p>
            <a:pPr marL="0" indent="0">
              <a:buNone/>
            </a:pPr>
            <a:r>
              <a:rPr lang="en-US" altLang="ko-KR" sz="3600" dirty="0"/>
              <a:t>         GDD = max { (temp. – </a:t>
            </a:r>
            <a:r>
              <a:rPr lang="en-US" altLang="ko-KR" sz="3600" dirty="0" err="1"/>
              <a:t>Tbase</a:t>
            </a:r>
            <a:r>
              <a:rPr lang="en-US" altLang="ko-KR" sz="3600" dirty="0"/>
              <a:t>), 0 }</a:t>
            </a:r>
          </a:p>
          <a:p>
            <a:pPr marL="0" indent="0">
              <a:buNone/>
            </a:pPr>
            <a:r>
              <a:rPr lang="en-US" altLang="ko-KR" sz="3600" dirty="0"/>
              <a:t> </a:t>
            </a:r>
          </a:p>
          <a:p>
            <a:pPr marL="0" indent="0">
              <a:buNone/>
            </a:pPr>
            <a:r>
              <a:rPr lang="en-US" altLang="ko-KR" sz="3600" dirty="0"/>
              <a:t>where</a:t>
            </a:r>
          </a:p>
          <a:p>
            <a:pPr marL="0" indent="0">
              <a:buNone/>
            </a:pPr>
            <a:r>
              <a:rPr lang="en-US" altLang="ko-KR" sz="3600" dirty="0" err="1"/>
              <a:t>Tbase</a:t>
            </a:r>
            <a:r>
              <a:rPr lang="en-US" altLang="ko-KR" sz="3600" dirty="0"/>
              <a:t> = 14 (estimable)  </a:t>
            </a:r>
            <a:endParaRPr lang="ko-KR" altLang="en-US" sz="3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BA4F53-1970-49B1-8515-7D34A9B0E606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9305744"/>
      </p:ext>
    </p:extLst>
  </p:cSld>
  <p:clrMapOvr>
    <a:masterClrMapping/>
  </p:clrMapOvr>
  <p:transition spd="med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Ex. of increasing variable’s</a:t>
            </a:r>
            <a:endParaRPr lang="ko-KR" altLang="en-US" sz="3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BA4F53-1970-49B1-8515-7D34A9B0E606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960393"/>
              </p:ext>
            </p:extLst>
          </p:nvPr>
        </p:nvGraphicFramePr>
        <p:xfrm>
          <a:off x="757187" y="1629336"/>
          <a:ext cx="10658376" cy="1046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1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1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81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81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81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8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81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81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819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819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232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Temp.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12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13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14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15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16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17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18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19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17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14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12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2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GDD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1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2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3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4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5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3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>
                          <a:effectLst/>
                        </a:rPr>
                        <a:t>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u="none" strike="noStrike" dirty="0">
                          <a:effectLst/>
                        </a:rPr>
                        <a:t>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9764" y="3041583"/>
            <a:ext cx="69975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- water temp.</a:t>
            </a:r>
          </a:p>
          <a:p>
            <a:r>
              <a:rPr lang="en-US" altLang="ko-KR" sz="3600" dirty="0"/>
              <a:t>- amount of food uptake</a:t>
            </a:r>
          </a:p>
          <a:p>
            <a:endParaRPr lang="en-US" altLang="ko-KR" sz="3600" b="1" dirty="0"/>
          </a:p>
          <a:p>
            <a:r>
              <a:rPr lang="en-US" altLang="ko-KR" sz="3600" b="1" dirty="0"/>
              <a:t>Other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variables?</a:t>
            </a:r>
          </a:p>
          <a:p>
            <a:r>
              <a:rPr lang="en-US" altLang="ko-KR" sz="3600" dirty="0"/>
              <a:t>- R/H</a:t>
            </a:r>
          </a:p>
          <a:p>
            <a:r>
              <a:rPr lang="en-US" altLang="ko-KR" sz="3600" dirty="0"/>
              <a:t>- CO2 Concentration </a:t>
            </a:r>
          </a:p>
          <a:p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532995653"/>
      </p:ext>
    </p:extLst>
  </p:cSld>
  <p:clrMapOvr>
    <a:masterClrMapping/>
  </p:clrMapOvr>
  <p:transition spd="med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37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05927" y="2512194"/>
            <a:ext cx="84028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Stochastic Model</a:t>
            </a:r>
            <a:r>
              <a:rPr lang="ko-KR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2566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38</a:t>
            </a:fld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7" y="1845141"/>
            <a:ext cx="10414759" cy="30541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0C3BA-B01B-4569-B94D-F37F9057CCE6}"/>
              </a:ext>
            </a:extLst>
          </p:cNvPr>
          <p:cNvSpPr txBox="1"/>
          <p:nvPr/>
        </p:nvSpPr>
        <p:spPr>
          <a:xfrm>
            <a:off x="502917" y="318052"/>
            <a:ext cx="549633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Stochastic Model 1 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34811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39</a:t>
            </a:fld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93" y="1801277"/>
            <a:ext cx="10317496" cy="29151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244D5D-DF6C-44D3-B846-829BD6787AFB}"/>
              </a:ext>
            </a:extLst>
          </p:cNvPr>
          <p:cNvSpPr txBox="1"/>
          <p:nvPr/>
        </p:nvSpPr>
        <p:spPr>
          <a:xfrm>
            <a:off x="502917" y="318052"/>
            <a:ext cx="549633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Stochastic Model 1 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121253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40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E2A2F-FF3E-4207-862B-564A975DA8C2}"/>
              </a:ext>
            </a:extLst>
          </p:cNvPr>
          <p:cNvSpPr txBox="1"/>
          <p:nvPr/>
        </p:nvSpPr>
        <p:spPr>
          <a:xfrm>
            <a:off x="502917" y="318052"/>
            <a:ext cx="549633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Stochastic Model 1 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39190D4-B760-494B-94ED-EC4C6D7FB697}"/>
              </a:ext>
            </a:extLst>
          </p:cNvPr>
          <p:cNvGrpSpPr/>
          <p:nvPr/>
        </p:nvGrpSpPr>
        <p:grpSpPr>
          <a:xfrm>
            <a:off x="1435506" y="1178568"/>
            <a:ext cx="7976849" cy="5327006"/>
            <a:chOff x="1435506" y="1178568"/>
            <a:chExt cx="7976849" cy="532700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6FD840D-7B39-49D9-AF3F-E8D2FDCE9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5506" y="1178568"/>
              <a:ext cx="7976849" cy="5327006"/>
            </a:xfrm>
            <a:prstGeom prst="rect">
              <a:avLst/>
            </a:prstGeom>
          </p:spPr>
        </p:pic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F6382E53-0FB5-4E59-8D38-B6631F5651D8}"/>
                </a:ext>
              </a:extLst>
            </p:cNvPr>
            <p:cNvCxnSpPr/>
            <p:nvPr/>
          </p:nvCxnSpPr>
          <p:spPr>
            <a:xfrm>
              <a:off x="4114800" y="3309730"/>
              <a:ext cx="67586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9C757E28-57B1-42EE-9749-2094168F8EFE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22" y="2435087"/>
              <a:ext cx="9939" cy="8746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B03F60-BB21-4546-904D-EA62884337C0}"/>
                </a:ext>
              </a:extLst>
            </p:cNvPr>
            <p:cNvSpPr txBox="1"/>
            <p:nvPr/>
          </p:nvSpPr>
          <p:spPr>
            <a:xfrm>
              <a:off x="2966832" y="3056706"/>
              <a:ext cx="1396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(t</a:t>
              </a:r>
              <a:r>
                <a:rPr lang="en-US" altLang="ko-KR" baseline="-25000" dirty="0"/>
                <a:t>i-1</a:t>
              </a:r>
              <a:r>
                <a:rPr lang="en-US" altLang="ko-KR" dirty="0"/>
                <a:t>, Y</a:t>
              </a:r>
              <a:r>
                <a:rPr lang="en-US" altLang="ko-KR" baseline="-25000" dirty="0"/>
                <a:t>i-1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D68CB0-20B0-4879-A222-06AAE39E78C2}"/>
                </a:ext>
              </a:extLst>
            </p:cNvPr>
            <p:cNvSpPr txBox="1"/>
            <p:nvPr/>
          </p:nvSpPr>
          <p:spPr>
            <a:xfrm>
              <a:off x="3881230" y="2127473"/>
              <a:ext cx="18089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(</a:t>
              </a:r>
              <a:r>
                <a:rPr lang="en-US" altLang="ko-KR" dirty="0" err="1"/>
                <a:t>t</a:t>
              </a:r>
              <a:r>
                <a:rPr lang="en-US" altLang="ko-KR" baseline="-25000" dirty="0" err="1"/>
                <a:t>i</a:t>
              </a:r>
              <a:r>
                <a:rPr lang="en-US" altLang="ko-KR" dirty="0"/>
                <a:t>, Y</a:t>
              </a:r>
              <a:r>
                <a:rPr lang="en-US" altLang="ko-KR" baseline="-25000" dirty="0"/>
                <a:t>i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D601F5-00E8-4D75-9C18-18A46D8C3F45}"/>
                </a:ext>
              </a:extLst>
            </p:cNvPr>
            <p:cNvSpPr txBox="1"/>
            <p:nvPr/>
          </p:nvSpPr>
          <p:spPr>
            <a:xfrm>
              <a:off x="4114800" y="3426038"/>
              <a:ext cx="23058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△</a:t>
              </a:r>
              <a:r>
                <a:rPr lang="en-US" altLang="ko-KR" dirty="0" err="1"/>
                <a:t>t</a:t>
              </a:r>
              <a:r>
                <a:rPr lang="en-US" altLang="ko-KR" baseline="-25000" dirty="0" err="1"/>
                <a:t>i</a:t>
              </a:r>
              <a:r>
                <a:rPr lang="en-US" altLang="ko-KR" dirty="0"/>
                <a:t> = </a:t>
              </a:r>
              <a:r>
                <a:rPr lang="en-US" altLang="ko-KR" dirty="0" err="1"/>
                <a:t>t</a:t>
              </a:r>
              <a:r>
                <a:rPr lang="en-US" altLang="ko-KR" baseline="-25000" dirty="0" err="1"/>
                <a:t>i</a:t>
              </a:r>
              <a:r>
                <a:rPr lang="en-US" altLang="ko-KR" dirty="0"/>
                <a:t> – t</a:t>
              </a:r>
              <a:r>
                <a:rPr lang="en-US" altLang="ko-KR" baseline="-25000" dirty="0"/>
                <a:t>i-1</a:t>
              </a:r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674F3AD-ED7F-48AE-A210-CEC5A62F2875}"/>
                </a:ext>
              </a:extLst>
            </p:cNvPr>
            <p:cNvSpPr txBox="1"/>
            <p:nvPr/>
          </p:nvSpPr>
          <p:spPr>
            <a:xfrm>
              <a:off x="5009322" y="2663687"/>
              <a:ext cx="15107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Y</a:t>
              </a:r>
              <a:r>
                <a:rPr lang="en-US" altLang="ko-KR" baseline="-25000" dirty="0"/>
                <a:t>i</a:t>
              </a:r>
              <a:r>
                <a:rPr lang="en-US" altLang="ko-KR" baseline="30000" dirty="0"/>
                <a:t>*</a:t>
              </a:r>
              <a:r>
                <a:rPr lang="en-US" altLang="ko-KR" dirty="0"/>
                <a:t> = Y</a:t>
              </a:r>
              <a:r>
                <a:rPr lang="en-US" altLang="ko-KR" baseline="-25000" dirty="0"/>
                <a:t>i</a:t>
              </a:r>
              <a:r>
                <a:rPr lang="en-US" altLang="ko-KR" dirty="0"/>
                <a:t> – Y</a:t>
              </a:r>
              <a:r>
                <a:rPr lang="en-US" altLang="ko-KR" baseline="-25000" dirty="0"/>
                <a:t>i-1</a:t>
              </a:r>
              <a:endParaRPr lang="ko-KR" altLang="en-US" baseline="-2500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34099BC-E063-4FD0-897B-571A112181E2}"/>
              </a:ext>
            </a:extLst>
          </p:cNvPr>
          <p:cNvSpPr txBox="1"/>
          <p:nvPr/>
        </p:nvSpPr>
        <p:spPr>
          <a:xfrm>
            <a:off x="9432931" y="2687742"/>
            <a:ext cx="2547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</a:t>
            </a:r>
            <a:r>
              <a:rPr lang="en-US" altLang="ko-KR" baseline="-25000" dirty="0"/>
              <a:t>i</a:t>
            </a:r>
            <a:r>
              <a:rPr lang="en-US" altLang="ko-KR" baseline="30000" dirty="0"/>
              <a:t>*</a:t>
            </a:r>
            <a:r>
              <a:rPr lang="en-US" altLang="ko-KR" dirty="0"/>
              <a:t> ~ N(</a:t>
            </a:r>
            <a:r>
              <a:rPr lang="el-GR" altLang="ko-KR" dirty="0"/>
              <a:t>υ</a:t>
            </a:r>
            <a:r>
              <a:rPr lang="ko-KR" altLang="en-US" dirty="0"/>
              <a:t> △</a:t>
            </a:r>
            <a:r>
              <a:rPr lang="en-US" altLang="ko-KR" dirty="0" err="1"/>
              <a:t>t</a:t>
            </a:r>
            <a:r>
              <a:rPr lang="en-US" altLang="ko-KR" baseline="-25000" dirty="0" err="1"/>
              <a:t>i</a:t>
            </a:r>
            <a:r>
              <a:rPr lang="en-US" altLang="ko-KR" dirty="0"/>
              <a:t>, </a:t>
            </a:r>
            <a:r>
              <a:rPr lang="el-GR" altLang="ko-KR" dirty="0"/>
              <a:t>σ</a:t>
            </a:r>
            <a:r>
              <a:rPr lang="en-US" altLang="ko-KR" baseline="30000" dirty="0"/>
              <a:t>2</a:t>
            </a:r>
            <a:r>
              <a:rPr lang="en-US" altLang="ko-KR" baseline="-25000" dirty="0"/>
              <a:t> </a:t>
            </a:r>
            <a:r>
              <a:rPr lang="ko-KR" altLang="en-US" dirty="0"/>
              <a:t>△</a:t>
            </a:r>
            <a:r>
              <a:rPr lang="en-US" altLang="ko-KR" dirty="0" err="1"/>
              <a:t>t</a:t>
            </a:r>
            <a:r>
              <a:rPr lang="en-US" altLang="ko-KR" baseline="-25000" dirty="0" err="1"/>
              <a:t>i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56028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41</a:t>
            </a:fld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329" y="1652086"/>
            <a:ext cx="9101121" cy="36995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70CFBB-8170-4817-AA48-AA3FEDB380F9}"/>
              </a:ext>
            </a:extLst>
          </p:cNvPr>
          <p:cNvSpPr txBox="1"/>
          <p:nvPr/>
        </p:nvSpPr>
        <p:spPr>
          <a:xfrm>
            <a:off x="502917" y="318052"/>
            <a:ext cx="549633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Stochastic Model 1 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3806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42</a:t>
            </a:fld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36" y="1191877"/>
            <a:ext cx="10373831" cy="45736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DFE518-56F9-4A25-A08D-12311FFAE2E4}"/>
              </a:ext>
            </a:extLst>
          </p:cNvPr>
          <p:cNvSpPr txBox="1"/>
          <p:nvPr/>
        </p:nvSpPr>
        <p:spPr>
          <a:xfrm>
            <a:off x="502917" y="318052"/>
            <a:ext cx="549633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Stochastic Model 2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46686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43</a:t>
            </a:fld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3" y="864083"/>
            <a:ext cx="10751289" cy="5675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4B392B-9B49-4CD7-9A10-7F9E14ECCFFA}"/>
              </a:ext>
            </a:extLst>
          </p:cNvPr>
          <p:cNvSpPr txBox="1"/>
          <p:nvPr/>
        </p:nvSpPr>
        <p:spPr>
          <a:xfrm>
            <a:off x="502917" y="318052"/>
            <a:ext cx="549633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Stochastic Model 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40978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C4962378-F2CC-4843-AE69-E7109AC1793D}"/>
              </a:ext>
            </a:extLst>
          </p:cNvPr>
          <p:cNvGrpSpPr/>
          <p:nvPr/>
        </p:nvGrpSpPr>
        <p:grpSpPr>
          <a:xfrm>
            <a:off x="1486173" y="1178568"/>
            <a:ext cx="7976849" cy="5327006"/>
            <a:chOff x="1435506" y="1178568"/>
            <a:chExt cx="7976849" cy="5327006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578EFF1-58A3-4390-964A-6AC1C457C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5506" y="1178568"/>
              <a:ext cx="7976849" cy="5327006"/>
            </a:xfrm>
            <a:prstGeom prst="rect">
              <a:avLst/>
            </a:prstGeom>
          </p:spPr>
        </p:pic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B9DF563A-7EAE-4F69-9667-533575638908}"/>
                </a:ext>
              </a:extLst>
            </p:cNvPr>
            <p:cNvCxnSpPr/>
            <p:nvPr/>
          </p:nvCxnSpPr>
          <p:spPr>
            <a:xfrm>
              <a:off x="4114800" y="3309730"/>
              <a:ext cx="67586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951B52D-B88C-46AE-9869-533C0A3B8916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22" y="2435087"/>
              <a:ext cx="9939" cy="8746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1EC805-55BA-478F-8374-FF8E830373FE}"/>
                </a:ext>
              </a:extLst>
            </p:cNvPr>
            <p:cNvSpPr txBox="1"/>
            <p:nvPr/>
          </p:nvSpPr>
          <p:spPr>
            <a:xfrm>
              <a:off x="2966832" y="3056706"/>
              <a:ext cx="1396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(t</a:t>
              </a:r>
              <a:r>
                <a:rPr lang="en-US" altLang="ko-KR" baseline="-25000" dirty="0"/>
                <a:t>i-1</a:t>
              </a:r>
              <a:r>
                <a:rPr lang="en-US" altLang="ko-KR" dirty="0"/>
                <a:t>, Y</a:t>
              </a:r>
              <a:r>
                <a:rPr lang="en-US" altLang="ko-KR" baseline="-25000" dirty="0"/>
                <a:t>i-1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870647-722C-451A-A10D-7B95E5323BF1}"/>
                </a:ext>
              </a:extLst>
            </p:cNvPr>
            <p:cNvSpPr txBox="1"/>
            <p:nvPr/>
          </p:nvSpPr>
          <p:spPr>
            <a:xfrm>
              <a:off x="3881230" y="2127473"/>
              <a:ext cx="18089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(</a:t>
              </a:r>
              <a:r>
                <a:rPr lang="en-US" altLang="ko-KR" dirty="0" err="1"/>
                <a:t>t</a:t>
              </a:r>
              <a:r>
                <a:rPr lang="en-US" altLang="ko-KR" baseline="-25000" dirty="0" err="1"/>
                <a:t>i</a:t>
              </a:r>
              <a:r>
                <a:rPr lang="en-US" altLang="ko-KR" dirty="0"/>
                <a:t>, Y</a:t>
              </a:r>
              <a:r>
                <a:rPr lang="en-US" altLang="ko-KR" baseline="-25000" dirty="0"/>
                <a:t>i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0954CA-9F29-4DBA-921F-8080C1E975D6}"/>
                </a:ext>
              </a:extLst>
            </p:cNvPr>
            <p:cNvSpPr txBox="1"/>
            <p:nvPr/>
          </p:nvSpPr>
          <p:spPr>
            <a:xfrm>
              <a:off x="4114800" y="3426038"/>
              <a:ext cx="23058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△</a:t>
              </a:r>
              <a:r>
                <a:rPr lang="en-US" altLang="ko-KR" dirty="0" err="1"/>
                <a:t>t</a:t>
              </a:r>
              <a:r>
                <a:rPr lang="en-US" altLang="ko-KR" baseline="-25000" dirty="0" err="1"/>
                <a:t>i</a:t>
              </a:r>
              <a:r>
                <a:rPr lang="en-US" altLang="ko-KR" dirty="0"/>
                <a:t> = </a:t>
              </a:r>
              <a:r>
                <a:rPr lang="en-US" altLang="ko-KR" dirty="0" err="1"/>
                <a:t>t</a:t>
              </a:r>
              <a:r>
                <a:rPr lang="en-US" altLang="ko-KR" baseline="-25000" dirty="0" err="1"/>
                <a:t>i</a:t>
              </a:r>
              <a:r>
                <a:rPr lang="en-US" altLang="ko-KR" dirty="0"/>
                <a:t> – t</a:t>
              </a:r>
              <a:r>
                <a:rPr lang="en-US" altLang="ko-KR" baseline="-25000" dirty="0"/>
                <a:t>i-1</a:t>
              </a:r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842F82-BB7E-411A-B5AE-5C8E397A1D35}"/>
                </a:ext>
              </a:extLst>
            </p:cNvPr>
            <p:cNvSpPr txBox="1"/>
            <p:nvPr/>
          </p:nvSpPr>
          <p:spPr>
            <a:xfrm>
              <a:off x="5009322" y="2663687"/>
              <a:ext cx="15107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Y</a:t>
              </a:r>
              <a:r>
                <a:rPr lang="en-US" altLang="ko-KR" baseline="-25000" dirty="0"/>
                <a:t>i</a:t>
              </a:r>
              <a:r>
                <a:rPr lang="en-US" altLang="ko-KR" baseline="30000" dirty="0"/>
                <a:t>*</a:t>
              </a:r>
              <a:r>
                <a:rPr lang="en-US" altLang="ko-KR" dirty="0"/>
                <a:t> = Y</a:t>
              </a:r>
              <a:r>
                <a:rPr lang="en-US" altLang="ko-KR" baseline="-25000" dirty="0"/>
                <a:t>i</a:t>
              </a:r>
              <a:r>
                <a:rPr lang="en-US" altLang="ko-KR" dirty="0"/>
                <a:t> – Y</a:t>
              </a:r>
              <a:r>
                <a:rPr lang="en-US" altLang="ko-KR" baseline="-25000" dirty="0"/>
                <a:t>i-1</a:t>
              </a:r>
              <a:endParaRPr lang="ko-KR" altLang="en-US" baseline="-25000" dirty="0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44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E2A2F-FF3E-4207-862B-564A975DA8C2}"/>
              </a:ext>
            </a:extLst>
          </p:cNvPr>
          <p:cNvSpPr txBox="1"/>
          <p:nvPr/>
        </p:nvSpPr>
        <p:spPr>
          <a:xfrm>
            <a:off x="502917" y="318052"/>
            <a:ext cx="549633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Stochastic Model 1 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4099BC-E063-4FD0-897B-571A112181E2}"/>
              </a:ext>
            </a:extLst>
          </p:cNvPr>
          <p:cNvSpPr txBox="1"/>
          <p:nvPr/>
        </p:nvSpPr>
        <p:spPr>
          <a:xfrm>
            <a:off x="7108418" y="2743201"/>
            <a:ext cx="4902751" cy="156966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Y</a:t>
            </a:r>
            <a:r>
              <a:rPr lang="en-US" altLang="ko-KR" sz="2400" baseline="-25000" dirty="0"/>
              <a:t>i</a:t>
            </a:r>
            <a:r>
              <a:rPr lang="en-US" altLang="ko-KR" sz="2400" baseline="30000" dirty="0"/>
              <a:t>*</a:t>
            </a:r>
            <a:r>
              <a:rPr lang="en-US" altLang="ko-KR" sz="2400" dirty="0"/>
              <a:t> ~ N(</a:t>
            </a:r>
            <a:r>
              <a:rPr lang="el-GR" altLang="ko-KR" sz="2400" dirty="0"/>
              <a:t>υ</a:t>
            </a:r>
            <a:r>
              <a:rPr lang="ko-KR" altLang="en-US" sz="2400" dirty="0"/>
              <a:t> △</a:t>
            </a:r>
            <a:r>
              <a:rPr lang="en-US" altLang="ko-KR" sz="2400" dirty="0" err="1"/>
              <a:t>t</a:t>
            </a:r>
            <a:r>
              <a:rPr lang="en-US" altLang="ko-KR" sz="2400" baseline="-25000" dirty="0" err="1"/>
              <a:t>i</a:t>
            </a:r>
            <a:r>
              <a:rPr lang="en-US" altLang="ko-KR" sz="2400" dirty="0"/>
              <a:t>, </a:t>
            </a:r>
            <a:r>
              <a:rPr lang="el-GR" altLang="ko-KR" sz="2400" dirty="0"/>
              <a:t>σ</a:t>
            </a:r>
            <a:r>
              <a:rPr lang="en-US" altLang="ko-KR" sz="2400" baseline="30000" dirty="0"/>
              <a:t>2</a:t>
            </a:r>
            <a:r>
              <a:rPr lang="en-US" altLang="ko-KR" sz="2400" baseline="-25000" dirty="0"/>
              <a:t> </a:t>
            </a:r>
            <a:r>
              <a:rPr lang="ko-KR" altLang="en-US" sz="2400" dirty="0"/>
              <a:t>△</a:t>
            </a:r>
            <a:r>
              <a:rPr lang="en-US" altLang="ko-KR" sz="2400" dirty="0" err="1"/>
              <a:t>t</a:t>
            </a:r>
            <a:r>
              <a:rPr lang="en-US" altLang="ko-KR" sz="2400" baseline="-25000" dirty="0" err="1"/>
              <a:t>i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l-GR" altLang="ko-KR" sz="2400" dirty="0"/>
              <a:t>υ</a:t>
            </a:r>
            <a:r>
              <a:rPr lang="en-US" altLang="ko-KR" sz="2400" dirty="0"/>
              <a:t> = </a:t>
            </a:r>
            <a:r>
              <a:rPr lang="el-GR" altLang="ko-KR" sz="2400" dirty="0"/>
              <a:t>β</a:t>
            </a:r>
            <a:r>
              <a:rPr lang="en-US" altLang="ko-KR" sz="2400" baseline="-25000" dirty="0"/>
              <a:t>0</a:t>
            </a:r>
            <a:r>
              <a:rPr lang="en-US" altLang="ko-KR" sz="2400" dirty="0"/>
              <a:t>+</a:t>
            </a:r>
            <a:r>
              <a:rPr lang="el-GR" altLang="ko-KR" sz="2400" dirty="0"/>
              <a:t> β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X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(</a:t>
            </a:r>
            <a:r>
              <a:rPr lang="en-US" altLang="ko-KR" sz="2400" dirty="0" err="1"/>
              <a:t>t</a:t>
            </a:r>
            <a:r>
              <a:rPr lang="en-US" altLang="ko-KR" sz="2400" baseline="-25000" dirty="0" err="1"/>
              <a:t>i</a:t>
            </a:r>
            <a:r>
              <a:rPr lang="en-US" altLang="ko-KR" sz="2400" dirty="0"/>
              <a:t>) + … </a:t>
            </a:r>
            <a:r>
              <a:rPr lang="el-GR" altLang="ko-KR" sz="2400" dirty="0"/>
              <a:t>β</a:t>
            </a:r>
            <a:r>
              <a:rPr lang="en-US" altLang="ko-KR" sz="2400" baseline="-25000" dirty="0" err="1"/>
              <a:t>n</a:t>
            </a:r>
            <a:r>
              <a:rPr lang="en-US" altLang="ko-KR" sz="2400" dirty="0" err="1"/>
              <a:t>X</a:t>
            </a:r>
            <a:r>
              <a:rPr lang="en-US" altLang="ko-KR" sz="2400" baseline="-25000" dirty="0" err="1"/>
              <a:t>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t</a:t>
            </a:r>
            <a:r>
              <a:rPr lang="en-US" altLang="ko-KR" sz="2400" baseline="-25000" dirty="0" err="1"/>
              <a:t>i</a:t>
            </a:r>
            <a:r>
              <a:rPr lang="en-US" altLang="ko-KR" sz="2400" dirty="0"/>
              <a:t>)  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36429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45</a:t>
            </a:fld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632" y="668336"/>
            <a:ext cx="7448550" cy="6019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A7ADD5-E932-419B-9ECC-7C02D66B6427}"/>
              </a:ext>
            </a:extLst>
          </p:cNvPr>
          <p:cNvSpPr txBox="1"/>
          <p:nvPr/>
        </p:nvSpPr>
        <p:spPr>
          <a:xfrm>
            <a:off x="502917" y="318052"/>
            <a:ext cx="549633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Stochastic Model 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41758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05927" y="2512194"/>
            <a:ext cx="84028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</a:rPr>
              <a:t>Further Research </a:t>
            </a:r>
            <a:endParaRPr lang="ko-KR" alt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38748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제목 1"/>
          <p:cNvSpPr>
            <a:spLocks noGrp="1"/>
          </p:cNvSpPr>
          <p:nvPr>
            <p:ph type="title"/>
          </p:nvPr>
        </p:nvSpPr>
        <p:spPr>
          <a:xfrm>
            <a:off x="845419" y="338435"/>
            <a:ext cx="8229600" cy="1143000"/>
          </a:xfrm>
        </p:spPr>
        <p:txBody>
          <a:bodyPr/>
          <a:lstStyle/>
          <a:p>
            <a:r>
              <a:rPr lang="en-US" altLang="ko-KR" dirty="0"/>
              <a:t>Dynamic model </a:t>
            </a:r>
            <a:endParaRPr lang="ko-KR" altLang="en-US" dirty="0"/>
          </a:p>
        </p:txBody>
      </p:sp>
      <p:sp>
        <p:nvSpPr>
          <p:cNvPr id="91139" name="TextBox 6"/>
          <p:cNvSpPr txBox="1">
            <a:spLocks noChangeArrowheads="1"/>
          </p:cNvSpPr>
          <p:nvPr/>
        </p:nvSpPr>
        <p:spPr bwMode="auto">
          <a:xfrm>
            <a:off x="1123565" y="1162697"/>
            <a:ext cx="105711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dirty="0"/>
              <a:t>Candidate Model : the live weight of abalone determined from trans</a:t>
            </a:r>
            <a:endParaRPr lang="ko-KR" altLang="en-US" dirty="0"/>
          </a:p>
        </p:txBody>
      </p:sp>
      <p:sp>
        <p:nvSpPr>
          <p:cNvPr id="91140" name="Rectangle 2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1141" name="Rectangle 4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1142" name="Rectangle 2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6826C96C-9A87-4B62-867E-975039740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2220944"/>
            <a:ext cx="8496619" cy="9958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491034-69AE-4426-9586-067B1C5B4C7F}"/>
              </a:ext>
            </a:extLst>
          </p:cNvPr>
          <p:cNvSpPr txBox="1"/>
          <p:nvPr/>
        </p:nvSpPr>
        <p:spPr>
          <a:xfrm>
            <a:off x="1242391" y="3707296"/>
            <a:ext cx="886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Where </a:t>
            </a:r>
            <a:r>
              <a:rPr lang="en-US" altLang="ko-KR" dirty="0" err="1"/>
              <a:t>X_i</a:t>
            </a:r>
            <a:r>
              <a:rPr lang="en-US" altLang="ko-KR" dirty="0"/>
              <a:t>(t), </a:t>
            </a:r>
            <a:r>
              <a:rPr lang="en-US" altLang="ko-KR" dirty="0" err="1"/>
              <a:t>i</a:t>
            </a:r>
            <a:r>
              <a:rPr lang="en-US" altLang="ko-KR" dirty="0"/>
              <a:t>=1,…,n  : environmental factors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5296576"/>
      </p:ext>
    </p:extLst>
  </p:cSld>
  <p:clrMapOvr>
    <a:masterClrMapping/>
  </p:clrMapOvr>
  <p:transition spd="med"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C4962378-F2CC-4843-AE69-E7109AC1793D}"/>
              </a:ext>
            </a:extLst>
          </p:cNvPr>
          <p:cNvGrpSpPr/>
          <p:nvPr/>
        </p:nvGrpSpPr>
        <p:grpSpPr>
          <a:xfrm>
            <a:off x="1486173" y="1178568"/>
            <a:ext cx="7976849" cy="5327006"/>
            <a:chOff x="1435506" y="1178568"/>
            <a:chExt cx="7976849" cy="5327006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578EFF1-58A3-4390-964A-6AC1C457C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5506" y="1178568"/>
              <a:ext cx="7976849" cy="5327006"/>
            </a:xfrm>
            <a:prstGeom prst="rect">
              <a:avLst/>
            </a:prstGeom>
          </p:spPr>
        </p:pic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B9DF563A-7EAE-4F69-9667-533575638908}"/>
                </a:ext>
              </a:extLst>
            </p:cNvPr>
            <p:cNvCxnSpPr/>
            <p:nvPr/>
          </p:nvCxnSpPr>
          <p:spPr>
            <a:xfrm>
              <a:off x="4114800" y="3309730"/>
              <a:ext cx="67586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951B52D-B88C-46AE-9869-533C0A3B8916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22" y="2435087"/>
              <a:ext cx="9939" cy="8746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1EC805-55BA-478F-8374-FF8E830373FE}"/>
                </a:ext>
              </a:extLst>
            </p:cNvPr>
            <p:cNvSpPr txBox="1"/>
            <p:nvPr/>
          </p:nvSpPr>
          <p:spPr>
            <a:xfrm>
              <a:off x="2966832" y="3056706"/>
              <a:ext cx="1396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(t</a:t>
              </a:r>
              <a:r>
                <a:rPr lang="en-US" altLang="ko-KR" baseline="-25000" dirty="0"/>
                <a:t>i-1</a:t>
              </a:r>
              <a:r>
                <a:rPr lang="en-US" altLang="ko-KR" dirty="0"/>
                <a:t>, Y</a:t>
              </a:r>
              <a:r>
                <a:rPr lang="en-US" altLang="ko-KR" baseline="-25000" dirty="0"/>
                <a:t>i-1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870647-722C-451A-A10D-7B95E5323BF1}"/>
                </a:ext>
              </a:extLst>
            </p:cNvPr>
            <p:cNvSpPr txBox="1"/>
            <p:nvPr/>
          </p:nvSpPr>
          <p:spPr>
            <a:xfrm>
              <a:off x="3881230" y="2127473"/>
              <a:ext cx="18089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(</a:t>
              </a:r>
              <a:r>
                <a:rPr lang="en-US" altLang="ko-KR" dirty="0" err="1"/>
                <a:t>t</a:t>
              </a:r>
              <a:r>
                <a:rPr lang="en-US" altLang="ko-KR" baseline="-25000" dirty="0" err="1"/>
                <a:t>i</a:t>
              </a:r>
              <a:r>
                <a:rPr lang="en-US" altLang="ko-KR" dirty="0"/>
                <a:t>, Y</a:t>
              </a:r>
              <a:r>
                <a:rPr lang="en-US" altLang="ko-KR" baseline="-25000" dirty="0"/>
                <a:t>i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0954CA-9F29-4DBA-921F-8080C1E975D6}"/>
                </a:ext>
              </a:extLst>
            </p:cNvPr>
            <p:cNvSpPr txBox="1"/>
            <p:nvPr/>
          </p:nvSpPr>
          <p:spPr>
            <a:xfrm>
              <a:off x="4114800" y="3426038"/>
              <a:ext cx="23058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△</a:t>
              </a:r>
              <a:r>
                <a:rPr lang="en-US" altLang="ko-KR" dirty="0" err="1"/>
                <a:t>t</a:t>
              </a:r>
              <a:r>
                <a:rPr lang="en-US" altLang="ko-KR" baseline="-25000" dirty="0" err="1"/>
                <a:t>i</a:t>
              </a:r>
              <a:r>
                <a:rPr lang="en-US" altLang="ko-KR" dirty="0"/>
                <a:t> = </a:t>
              </a:r>
              <a:r>
                <a:rPr lang="en-US" altLang="ko-KR" dirty="0" err="1"/>
                <a:t>t</a:t>
              </a:r>
              <a:r>
                <a:rPr lang="en-US" altLang="ko-KR" baseline="-25000" dirty="0" err="1"/>
                <a:t>i</a:t>
              </a:r>
              <a:r>
                <a:rPr lang="en-US" altLang="ko-KR" dirty="0"/>
                <a:t> – t</a:t>
              </a:r>
              <a:r>
                <a:rPr lang="en-US" altLang="ko-KR" baseline="-25000" dirty="0"/>
                <a:t>i-1</a:t>
              </a:r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842F82-BB7E-411A-B5AE-5C8E397A1D35}"/>
                </a:ext>
              </a:extLst>
            </p:cNvPr>
            <p:cNvSpPr txBox="1"/>
            <p:nvPr/>
          </p:nvSpPr>
          <p:spPr>
            <a:xfrm>
              <a:off x="5009322" y="2663687"/>
              <a:ext cx="15107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Y</a:t>
              </a:r>
              <a:r>
                <a:rPr lang="en-US" altLang="ko-KR" baseline="-25000" dirty="0"/>
                <a:t>i</a:t>
              </a:r>
              <a:r>
                <a:rPr lang="en-US" altLang="ko-KR" baseline="30000" dirty="0"/>
                <a:t>*</a:t>
              </a:r>
              <a:r>
                <a:rPr lang="en-US" altLang="ko-KR" dirty="0"/>
                <a:t> = Y</a:t>
              </a:r>
              <a:r>
                <a:rPr lang="en-US" altLang="ko-KR" baseline="-25000" dirty="0"/>
                <a:t>i</a:t>
              </a:r>
              <a:r>
                <a:rPr lang="en-US" altLang="ko-KR" dirty="0"/>
                <a:t> – Y</a:t>
              </a:r>
              <a:r>
                <a:rPr lang="en-US" altLang="ko-KR" baseline="-25000" dirty="0"/>
                <a:t>i-1</a:t>
              </a:r>
              <a:endParaRPr lang="ko-KR" altLang="en-US" baseline="-25000" dirty="0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9237182" y="6505574"/>
            <a:ext cx="2743200" cy="365125"/>
          </a:xfrm>
          <a:prstGeom prst="rect">
            <a:avLst/>
          </a:prstGeom>
        </p:spPr>
        <p:txBody>
          <a:bodyPr/>
          <a:lstStyle/>
          <a:p>
            <a:fld id="{1E166D81-5CDB-460B-B535-3BC76EC6BC81}" type="slidenum">
              <a:rPr lang="en-US" altLang="ko-KR" smtClean="0"/>
              <a:pPr/>
              <a:t>48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E2A2F-FF3E-4207-862B-564A975DA8C2}"/>
              </a:ext>
            </a:extLst>
          </p:cNvPr>
          <p:cNvSpPr txBox="1"/>
          <p:nvPr/>
        </p:nvSpPr>
        <p:spPr>
          <a:xfrm>
            <a:off x="502917" y="318052"/>
            <a:ext cx="549633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Model  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4099BC-E063-4FD0-897B-571A112181E2}"/>
              </a:ext>
            </a:extLst>
          </p:cNvPr>
          <p:cNvSpPr txBox="1"/>
          <p:nvPr/>
        </p:nvSpPr>
        <p:spPr>
          <a:xfrm>
            <a:off x="7108418" y="2743201"/>
            <a:ext cx="4902751" cy="156966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Y</a:t>
            </a:r>
            <a:r>
              <a:rPr lang="en-US" altLang="ko-KR" sz="2400" baseline="-25000" dirty="0"/>
              <a:t>i</a:t>
            </a:r>
            <a:r>
              <a:rPr lang="en-US" altLang="ko-KR" sz="2400" baseline="30000" dirty="0"/>
              <a:t>* = </a:t>
            </a:r>
            <a:r>
              <a:rPr lang="el-GR" altLang="ko-KR" sz="2400" dirty="0"/>
              <a:t>υ</a:t>
            </a:r>
            <a:r>
              <a:rPr lang="ko-KR" altLang="en-US" sz="2400" dirty="0"/>
              <a:t> </a:t>
            </a:r>
            <a:r>
              <a:rPr lang="en-US" altLang="ko-KR" sz="2400" dirty="0"/>
              <a:t>Y(t)(M-Y(t))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l-GR" altLang="ko-KR" sz="2400" dirty="0"/>
              <a:t>υ</a:t>
            </a:r>
            <a:r>
              <a:rPr lang="en-US" altLang="ko-KR" sz="2400" dirty="0"/>
              <a:t> = </a:t>
            </a:r>
            <a:r>
              <a:rPr lang="el-GR" altLang="ko-KR" sz="2400" dirty="0"/>
              <a:t>β</a:t>
            </a:r>
            <a:r>
              <a:rPr lang="en-US" altLang="ko-KR" sz="2400" baseline="-25000" dirty="0"/>
              <a:t>0</a:t>
            </a:r>
            <a:r>
              <a:rPr lang="en-US" altLang="ko-KR" sz="2400" dirty="0"/>
              <a:t>+</a:t>
            </a:r>
            <a:r>
              <a:rPr lang="el-GR" altLang="ko-KR" sz="2400" dirty="0"/>
              <a:t> β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X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(</a:t>
            </a:r>
            <a:r>
              <a:rPr lang="en-US" altLang="ko-KR" sz="2400" dirty="0" err="1"/>
              <a:t>t</a:t>
            </a:r>
            <a:r>
              <a:rPr lang="en-US" altLang="ko-KR" sz="2400" baseline="-25000" dirty="0" err="1"/>
              <a:t>i</a:t>
            </a:r>
            <a:r>
              <a:rPr lang="en-US" altLang="ko-KR" sz="2400" dirty="0"/>
              <a:t>) + … </a:t>
            </a:r>
            <a:r>
              <a:rPr lang="el-GR" altLang="ko-KR" sz="2400" dirty="0"/>
              <a:t>β</a:t>
            </a:r>
            <a:r>
              <a:rPr lang="en-US" altLang="ko-KR" sz="2400" baseline="-25000" dirty="0" err="1"/>
              <a:t>n</a:t>
            </a:r>
            <a:r>
              <a:rPr lang="en-US" altLang="ko-KR" sz="2400" dirty="0" err="1"/>
              <a:t>X</a:t>
            </a:r>
            <a:r>
              <a:rPr lang="en-US" altLang="ko-KR" sz="2400" baseline="-25000" dirty="0" err="1"/>
              <a:t>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t</a:t>
            </a:r>
            <a:r>
              <a:rPr lang="en-US" altLang="ko-KR" sz="2400" baseline="-25000" dirty="0" err="1"/>
              <a:t>i</a:t>
            </a:r>
            <a:r>
              <a:rPr lang="en-US" altLang="ko-KR" sz="2400" dirty="0"/>
              <a:t>)  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217421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녹색이(가) 표시된 사진&#10;&#10;자동 생성된 설명">
            <a:extLst>
              <a:ext uri="{FF2B5EF4-FFF2-40B4-BE49-F238E27FC236}">
                <a16:creationId xmlns:a16="http://schemas.microsoft.com/office/drawing/2014/main" id="{31D0B1F3-4CCF-4601-B7F1-D86DBD3E74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" t="2256" r="1632"/>
          <a:stretch/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EEAC7B-6999-40B7-803A-6F75DBA441E3}"/>
              </a:ext>
            </a:extLst>
          </p:cNvPr>
          <p:cNvSpPr txBox="1"/>
          <p:nvPr/>
        </p:nvSpPr>
        <p:spPr>
          <a:xfrm>
            <a:off x="3256120" y="2552182"/>
            <a:ext cx="567976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4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r>
              <a:rPr lang="en-US" altLang="ko-KR" sz="4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DA1701C-49D2-14FE-E2D7-D3FFBBCE8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270" y="148616"/>
            <a:ext cx="1239878" cy="2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24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15124</TotalTime>
  <Words>1504</Words>
  <Application>Microsoft Office PowerPoint</Application>
  <PresentationFormat>와이드스크린</PresentationFormat>
  <Paragraphs>498</Paragraphs>
  <Slides>49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60" baseType="lpstr">
      <vt:lpstr>HY견고딕</vt:lpstr>
      <vt:lpstr>HY헤드라인M</vt:lpstr>
      <vt:lpstr>HY견명조</vt:lpstr>
      <vt:lpstr>굴림</vt:lpstr>
      <vt:lpstr>맑은 고딕</vt:lpstr>
      <vt:lpstr>Cambria Math</vt:lpstr>
      <vt:lpstr>돋움</vt:lpstr>
      <vt:lpstr>함초롬바탕</vt:lpstr>
      <vt:lpstr>-윤명조120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스마트팜 빅데이터 목적(Y)</vt:lpstr>
      <vt:lpstr>스마트팜 빅데이터 Y </vt:lpstr>
      <vt:lpstr>스마트팜 빅데이터 수단 X</vt:lpstr>
      <vt:lpstr>목적(Y)과 수단(X’s)과의 관계</vt:lpstr>
      <vt:lpstr>생산량, 환경요인 및 생육 빅데이터 구조  </vt:lpstr>
      <vt:lpstr>생산량, 환경요인 및 생육 빅데이터 구조  </vt:lpstr>
      <vt:lpstr>PowerPoint 프레젠테이션</vt:lpstr>
      <vt:lpstr>EDA</vt:lpstr>
      <vt:lpstr>스마트팜 빅데이터 활용 – 통계적 모델 등   </vt:lpstr>
      <vt:lpstr>PowerPoint 프레젠테이션</vt:lpstr>
      <vt:lpstr>PowerPoint 프레젠테이션</vt:lpstr>
      <vt:lpstr>PowerPoint 프레젠테이션</vt:lpstr>
      <vt:lpstr>PowerPoint 프레젠테이션</vt:lpstr>
      <vt:lpstr>Dynamic model </vt:lpstr>
      <vt:lpstr>Nolinear model </vt:lpstr>
      <vt:lpstr>Nonlinear regression result </vt:lpstr>
      <vt:lpstr>PowerPoint 프레젠테이션</vt:lpstr>
      <vt:lpstr>Q1 : Live weight depends on only time? Q2 : Does it depend on environmental factor? </vt:lpstr>
      <vt:lpstr>Nonlinear model </vt:lpstr>
      <vt:lpstr>PowerPoint 프레젠테이션</vt:lpstr>
      <vt:lpstr>Ex. of increasing variable’s</vt:lpstr>
      <vt:lpstr>Ex. of increasing variable’s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Dynamic model 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assist</dc:creator>
  <cp:lastModifiedBy>나명환</cp:lastModifiedBy>
  <cp:revision>267</cp:revision>
  <dcterms:created xsi:type="dcterms:W3CDTF">2021-07-23T02:45:46Z</dcterms:created>
  <dcterms:modified xsi:type="dcterms:W3CDTF">2026-03-09T12:56:27Z</dcterms:modified>
</cp:coreProperties>
</file>
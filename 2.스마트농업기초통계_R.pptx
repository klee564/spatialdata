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av" ContentType="audio/wav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1" r:id="rId1"/>
  </p:sldMasterIdLst>
  <p:notesMasterIdLst>
    <p:notesMasterId r:id="rId68"/>
  </p:notesMasterIdLst>
  <p:handoutMasterIdLst>
    <p:handoutMasterId r:id="rId69"/>
  </p:handoutMasterIdLst>
  <p:sldIdLst>
    <p:sldId id="767" r:id="rId2"/>
    <p:sldId id="1017" r:id="rId3"/>
    <p:sldId id="768" r:id="rId4"/>
    <p:sldId id="1018" r:id="rId5"/>
    <p:sldId id="960" r:id="rId6"/>
    <p:sldId id="966" r:id="rId7"/>
    <p:sldId id="967" r:id="rId8"/>
    <p:sldId id="1019" r:id="rId9"/>
    <p:sldId id="770" r:id="rId10"/>
    <p:sldId id="771" r:id="rId11"/>
    <p:sldId id="955" r:id="rId12"/>
    <p:sldId id="772" r:id="rId13"/>
    <p:sldId id="841" r:id="rId14"/>
    <p:sldId id="775" r:id="rId15"/>
    <p:sldId id="776" r:id="rId16"/>
    <p:sldId id="777" r:id="rId17"/>
    <p:sldId id="979" r:id="rId18"/>
    <p:sldId id="980" r:id="rId19"/>
    <p:sldId id="981" r:id="rId20"/>
    <p:sldId id="989" r:id="rId21"/>
    <p:sldId id="999" r:id="rId22"/>
    <p:sldId id="997" r:id="rId23"/>
    <p:sldId id="779" r:id="rId24"/>
    <p:sldId id="780" r:id="rId25"/>
    <p:sldId id="992" r:id="rId26"/>
    <p:sldId id="951" r:id="rId27"/>
    <p:sldId id="952" r:id="rId28"/>
    <p:sldId id="811" r:id="rId29"/>
    <p:sldId id="812" r:id="rId30"/>
    <p:sldId id="787" r:id="rId31"/>
    <p:sldId id="945" r:id="rId32"/>
    <p:sldId id="956" r:id="rId33"/>
    <p:sldId id="996" r:id="rId34"/>
    <p:sldId id="338" r:id="rId35"/>
    <p:sldId id="362" r:id="rId36"/>
    <p:sldId id="363" r:id="rId37"/>
    <p:sldId id="364" r:id="rId38"/>
    <p:sldId id="340" r:id="rId39"/>
    <p:sldId id="456" r:id="rId40"/>
    <p:sldId id="365" r:id="rId41"/>
    <p:sldId id="366" r:id="rId42"/>
    <p:sldId id="368" r:id="rId43"/>
    <p:sldId id="426" r:id="rId44"/>
    <p:sldId id="370" r:id="rId45"/>
    <p:sldId id="375" r:id="rId46"/>
    <p:sldId id="472" r:id="rId47"/>
    <p:sldId id="473" r:id="rId48"/>
    <p:sldId id="474" r:id="rId49"/>
    <p:sldId id="475" r:id="rId50"/>
    <p:sldId id="1115" r:id="rId51"/>
    <p:sldId id="1116" r:id="rId52"/>
    <p:sldId id="1117" r:id="rId53"/>
    <p:sldId id="1118" r:id="rId54"/>
    <p:sldId id="1119" r:id="rId55"/>
    <p:sldId id="1120" r:id="rId56"/>
    <p:sldId id="1121" r:id="rId57"/>
    <p:sldId id="1122" r:id="rId58"/>
    <p:sldId id="1123" r:id="rId59"/>
    <p:sldId id="1124" r:id="rId60"/>
    <p:sldId id="1125" r:id="rId61"/>
    <p:sldId id="1126" r:id="rId62"/>
    <p:sldId id="1127" r:id="rId63"/>
    <p:sldId id="1128" r:id="rId64"/>
    <p:sldId id="1129" r:id="rId65"/>
    <p:sldId id="1130" r:id="rId66"/>
    <p:sldId id="1131" r:id="rId67"/>
  </p:sldIdLst>
  <p:sldSz cx="9144000" cy="6858000" type="screen4x3"/>
  <p:notesSz cx="6761163" cy="9942513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ctr" rtl="0" eaLnBrk="0" fontAlgn="base" hangingPunct="0">
      <a:spcBef>
        <a:spcPct val="0"/>
      </a:spcBef>
      <a:spcAft>
        <a:spcPct val="0"/>
      </a:spcAft>
      <a:defRPr kern="1200">
        <a:solidFill>
          <a:srgbClr val="3333CC"/>
        </a:solidFill>
        <a:latin typeface="Arial" pitchFamily="34" charset="0"/>
        <a:ea typeface="굴림" pitchFamily="50" charset="-127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kern="1200">
        <a:solidFill>
          <a:srgbClr val="3333CC"/>
        </a:solidFill>
        <a:latin typeface="Arial" pitchFamily="34" charset="0"/>
        <a:ea typeface="굴림" pitchFamily="50" charset="-127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kern="1200">
        <a:solidFill>
          <a:srgbClr val="3333CC"/>
        </a:solidFill>
        <a:latin typeface="Arial" pitchFamily="34" charset="0"/>
        <a:ea typeface="굴림" pitchFamily="50" charset="-127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kern="1200">
        <a:solidFill>
          <a:srgbClr val="3333CC"/>
        </a:solidFill>
        <a:latin typeface="Arial" pitchFamily="34" charset="0"/>
        <a:ea typeface="굴림" pitchFamily="50" charset="-127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kern="1200">
        <a:solidFill>
          <a:srgbClr val="3333CC"/>
        </a:solidFill>
        <a:latin typeface="Arial" pitchFamily="34" charset="0"/>
        <a:ea typeface="굴림" pitchFamily="50" charset="-127"/>
        <a:cs typeface="+mn-cs"/>
      </a:defRPr>
    </a:lvl5pPr>
    <a:lvl6pPr marL="2286000" algn="l" defTabSz="914400" rtl="0" eaLnBrk="1" latinLnBrk="1" hangingPunct="1">
      <a:defRPr kern="1200">
        <a:solidFill>
          <a:srgbClr val="3333CC"/>
        </a:solidFill>
        <a:latin typeface="Arial" pitchFamily="34" charset="0"/>
        <a:ea typeface="굴림" pitchFamily="50" charset="-127"/>
        <a:cs typeface="+mn-cs"/>
      </a:defRPr>
    </a:lvl6pPr>
    <a:lvl7pPr marL="2743200" algn="l" defTabSz="914400" rtl="0" eaLnBrk="1" latinLnBrk="1" hangingPunct="1">
      <a:defRPr kern="1200">
        <a:solidFill>
          <a:srgbClr val="3333CC"/>
        </a:solidFill>
        <a:latin typeface="Arial" pitchFamily="34" charset="0"/>
        <a:ea typeface="굴림" pitchFamily="50" charset="-127"/>
        <a:cs typeface="+mn-cs"/>
      </a:defRPr>
    </a:lvl7pPr>
    <a:lvl8pPr marL="3200400" algn="l" defTabSz="914400" rtl="0" eaLnBrk="1" latinLnBrk="1" hangingPunct="1">
      <a:defRPr kern="1200">
        <a:solidFill>
          <a:srgbClr val="3333CC"/>
        </a:solidFill>
        <a:latin typeface="Arial" pitchFamily="34" charset="0"/>
        <a:ea typeface="굴림" pitchFamily="50" charset="-127"/>
        <a:cs typeface="+mn-cs"/>
      </a:defRPr>
    </a:lvl8pPr>
    <a:lvl9pPr marL="3657600" algn="l" defTabSz="914400" rtl="0" eaLnBrk="1" latinLnBrk="1" hangingPunct="1">
      <a:defRPr kern="1200">
        <a:solidFill>
          <a:srgbClr val="3333CC"/>
        </a:solidFill>
        <a:latin typeface="Arial" pitchFamily="34" charset="0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2">
          <p15:clr>
            <a:srgbClr val="A4A3A4"/>
          </p15:clr>
        </p15:guide>
        <p15:guide id="2" pos="213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438E00"/>
    <a:srgbClr val="618FFD"/>
    <a:srgbClr val="E5405D"/>
    <a:srgbClr val="00FF00"/>
    <a:srgbClr val="FFFF99"/>
    <a:srgbClr val="FFFF66"/>
    <a:srgbClr val="A3FFA3"/>
    <a:srgbClr val="33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927" autoAdjust="0"/>
    <p:restoredTop sz="94660"/>
  </p:normalViewPr>
  <p:slideViewPr>
    <p:cSldViewPr snapToGrid="0">
      <p:cViewPr varScale="1">
        <p:scale>
          <a:sx n="183" d="100"/>
          <a:sy n="183" d="100"/>
        </p:scale>
        <p:origin x="4902" y="1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3" d="100"/>
          <a:sy n="53" d="100"/>
        </p:scale>
        <p:origin x="-1926" y="-78"/>
      </p:cViewPr>
      <p:guideLst>
        <p:guide orient="horz" pos="3132"/>
        <p:guide pos="213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17.xml"/><Relationship Id="rId7" Type="http://schemas.openxmlformats.org/officeDocument/2006/relationships/slide" Target="slides/slide30.xml"/><Relationship Id="rId2" Type="http://schemas.openxmlformats.org/officeDocument/2006/relationships/slide" Target="slides/slide16.xml"/><Relationship Id="rId1" Type="http://schemas.openxmlformats.org/officeDocument/2006/relationships/slide" Target="slides/slide11.xml"/><Relationship Id="rId6" Type="http://schemas.openxmlformats.org/officeDocument/2006/relationships/slide" Target="slides/slide24.xml"/><Relationship Id="rId5" Type="http://schemas.openxmlformats.org/officeDocument/2006/relationships/slide" Target="slides/slide23.xml"/><Relationship Id="rId4" Type="http://schemas.openxmlformats.org/officeDocument/2006/relationships/slide" Target="slides/slide19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3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Relationship Id="rId5" Type="http://schemas.openxmlformats.org/officeDocument/2006/relationships/image" Target="../media/image11.wmf"/><Relationship Id="rId4" Type="http://schemas.openxmlformats.org/officeDocument/2006/relationships/image" Target="../media/image10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image" Target="../media/image12.wmf"/><Relationship Id="rId1" Type="http://schemas.openxmlformats.org/officeDocument/2006/relationships/image" Target="../media/image3.wmf"/><Relationship Id="rId4" Type="http://schemas.openxmlformats.org/officeDocument/2006/relationships/image" Target="../media/image14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image" Target="../media/image3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image" Target="../media/image22.wmf"/><Relationship Id="rId1" Type="http://schemas.openxmlformats.org/officeDocument/2006/relationships/image" Target="../media/image3.wmf"/><Relationship Id="rId4" Type="http://schemas.openxmlformats.org/officeDocument/2006/relationships/image" Target="../media/image24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27.wmf"/><Relationship Id="rId1" Type="http://schemas.openxmlformats.org/officeDocument/2006/relationships/image" Target="../media/image26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ChangeArrowheads="1"/>
          </p:cNvSpPr>
          <p:nvPr/>
        </p:nvSpPr>
        <p:spPr bwMode="auto">
          <a:xfrm>
            <a:off x="3071813" y="9583738"/>
            <a:ext cx="642937" cy="303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4449" tIns="46395" rIns="94449" bIns="46395" anchor="ctr">
            <a:spAutoFit/>
          </a:bodyPr>
          <a:lstStyle/>
          <a:p>
            <a:r>
              <a:rPr lang="ko-KR" altLang="en-US" sz="1300">
                <a:solidFill>
                  <a:schemeClr val="tx1"/>
                </a:solidFill>
              </a:rPr>
              <a:t>13-</a:t>
            </a:r>
            <a:fld id="{2B714CC1-4390-4077-A5E0-5E4ABF5F7768}" type="slidenum">
              <a:rPr lang="ko-KR" altLang="en-US" sz="1300">
                <a:solidFill>
                  <a:schemeClr val="tx1"/>
                </a:solidFill>
              </a:rPr>
              <a:pPr/>
              <a:t>‹#›</a:t>
            </a:fld>
            <a:endParaRPr lang="en-US" altLang="ko-KR" sz="13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5506104"/>
      </p:ext>
    </p:extLst>
  </p:cSld>
  <p:clrMap bg1="lt1" tx1="dk1" bg2="lt2" tx2="dk2" accent1="accent1" accent2="accent2" accent3="accent3" accent4="accent4" accent5="accent5" accent6="accent6" hlink="hlink" folHlink="folHlink"/>
  <p:hf sldNum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1700" y="4722813"/>
            <a:ext cx="4957763" cy="44735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4449" tIns="46395" rIns="94449" bIns="4639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noProof="0"/>
              <a:t>Click to edit Master notes styles</a:t>
            </a:r>
          </a:p>
          <a:p>
            <a:pPr lvl="0"/>
            <a:r>
              <a:rPr lang="en-US" altLang="ko-KR" noProof="0"/>
              <a:t>Second Level</a:t>
            </a:r>
          </a:p>
          <a:p>
            <a:pPr lvl="0"/>
            <a:r>
              <a:rPr lang="en-US" altLang="ko-KR" noProof="0"/>
              <a:t>Third Level</a:t>
            </a:r>
          </a:p>
          <a:p>
            <a:pPr lvl="0"/>
            <a:r>
              <a:rPr lang="en-US" altLang="ko-KR" noProof="0"/>
              <a:t>Fourth Level</a:t>
            </a:r>
          </a:p>
          <a:p>
            <a:pPr lvl="0"/>
            <a:r>
              <a:rPr lang="en-US" altLang="ko-KR" noProof="0"/>
              <a:t>Fifth Level</a:t>
            </a:r>
          </a:p>
        </p:txBody>
      </p:sp>
      <p:sp>
        <p:nvSpPr>
          <p:cNvPr id="38915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98525" y="747713"/>
            <a:ext cx="4964113" cy="37242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  <p:extLst>
      <p:ext uri="{BB962C8B-B14F-4D97-AF65-F5344CB8AC3E}">
        <p14:creationId xmlns:p14="http://schemas.microsoft.com/office/powerpoint/2010/main" val="3823123620"/>
      </p:ext>
    </p:extLst>
  </p:cSld>
  <p:clrMap bg1="lt1" tx1="dk1" bg2="lt2" tx2="dk2" accent1="accent1" accent2="accent2" accent3="accent3" accent4="accent4" accent5="accent5" accent6="accent6" hlink="hlink" folHlink="folHlink"/>
  <p:hf sldNum="0" ftr="0" dt="0"/>
  <p:notesStyle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슬라이드 이미지 개체 틀 1">
            <a:extLst>
              <a:ext uri="{FF2B5EF4-FFF2-40B4-BE49-F238E27FC236}">
                <a16:creationId xmlns:a16="http://schemas.microsoft.com/office/drawing/2014/main" id="{803204E1-D75C-3402-1F27-D23309F8E61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6563" name="슬라이드 노트 개체 틀 2">
            <a:extLst>
              <a:ext uri="{FF2B5EF4-FFF2-40B4-BE49-F238E27FC236}">
                <a16:creationId xmlns:a16="http://schemas.microsoft.com/office/drawing/2014/main" id="{030804FC-2089-79F6-A210-B0A82E934C2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66564" name="슬라이드 번호 개체 틀 3">
            <a:extLst>
              <a:ext uri="{FF2B5EF4-FFF2-40B4-BE49-F238E27FC236}">
                <a16:creationId xmlns:a16="http://schemas.microsoft.com/office/drawing/2014/main" id="{80EB7AD7-CE04-3055-5EB7-C26C6BA427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07C5667C-FED8-40CD-A6F5-416D4C210E86}" type="slidenum">
              <a:rPr lang="ko-KR" altLang="en-US"/>
              <a:pPr eaLnBrk="1" hangingPunct="1"/>
              <a:t>34</a:t>
            </a:fld>
            <a:endParaRPr lang="ko-KR" altLang="en-US"/>
          </a:p>
        </p:txBody>
      </p:sp>
      <p:sp>
        <p:nvSpPr>
          <p:cNvPr id="66565" name="날짜 개체 틀 4">
            <a:extLst>
              <a:ext uri="{FF2B5EF4-FFF2-40B4-BE49-F238E27FC236}">
                <a16:creationId xmlns:a16="http://schemas.microsoft.com/office/drawing/2014/main" id="{445BEB9D-F21D-A8F9-B8D5-F33342BCC24F}"/>
              </a:ext>
            </a:extLst>
          </p:cNvPr>
          <p:cNvSpPr>
            <a:spLocks noGrp="1"/>
          </p:cNvSpPr>
          <p:nvPr>
            <p:ph type="dt" sz="quarter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/>
              <a:t>2014-02-05</a:t>
            </a:r>
            <a:endParaRPr lang="ko-KR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>
            <a:extLst>
              <a:ext uri="{FF2B5EF4-FFF2-40B4-BE49-F238E27FC236}">
                <a16:creationId xmlns:a16="http://schemas.microsoft.com/office/drawing/2014/main" id="{FB2B6326-605F-B7AF-2B4B-825F51997A2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CAEF76EC-FA91-46D3-AC87-938A94967517}" type="slidenum">
              <a:rPr lang="en-US" altLang="ko-KR"/>
              <a:pPr eaLnBrk="1" hangingPunct="1"/>
              <a:t>35</a:t>
            </a:fld>
            <a:endParaRPr lang="en-US" altLang="ko-KR"/>
          </a:p>
        </p:txBody>
      </p:sp>
      <p:sp>
        <p:nvSpPr>
          <p:cNvPr id="67587" name="Rectangle 2">
            <a:extLst>
              <a:ext uri="{FF2B5EF4-FFF2-40B4-BE49-F238E27FC236}">
                <a16:creationId xmlns:a16="http://schemas.microsoft.com/office/drawing/2014/main" id="{B54B1EB2-9564-503F-2151-7FAC50CA500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8" name="Rectangle 3">
            <a:extLst>
              <a:ext uri="{FF2B5EF4-FFF2-40B4-BE49-F238E27FC236}">
                <a16:creationId xmlns:a16="http://schemas.microsoft.com/office/drawing/2014/main" id="{1434277F-26E3-4E7F-8286-FC66462050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ko-KR"/>
          </a:p>
        </p:txBody>
      </p:sp>
      <p:sp>
        <p:nvSpPr>
          <p:cNvPr id="67589" name="날짜 개체 틀 4">
            <a:extLst>
              <a:ext uri="{FF2B5EF4-FFF2-40B4-BE49-F238E27FC236}">
                <a16:creationId xmlns:a16="http://schemas.microsoft.com/office/drawing/2014/main" id="{1951DE51-023E-5672-B747-012DC68336B8}"/>
              </a:ext>
            </a:extLst>
          </p:cNvPr>
          <p:cNvSpPr>
            <a:spLocks noGrp="1"/>
          </p:cNvSpPr>
          <p:nvPr>
            <p:ph type="dt" sz="quarter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/>
              <a:t>2014-02-05</a:t>
            </a:r>
            <a:endParaRPr lang="ko-KR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>
            <a:extLst>
              <a:ext uri="{FF2B5EF4-FFF2-40B4-BE49-F238E27FC236}">
                <a16:creationId xmlns:a16="http://schemas.microsoft.com/office/drawing/2014/main" id="{B3505BFB-9DE4-1F81-7A3E-94CC2F9ABDA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0BC5E270-AB13-4E9F-B039-00A600743AD5}" type="slidenum">
              <a:rPr lang="en-US" altLang="ko-KR"/>
              <a:pPr eaLnBrk="1" hangingPunct="1"/>
              <a:t>36</a:t>
            </a:fld>
            <a:endParaRPr lang="en-US" altLang="ko-KR"/>
          </a:p>
        </p:txBody>
      </p:sp>
      <p:sp>
        <p:nvSpPr>
          <p:cNvPr id="68611" name="Rectangle 2">
            <a:extLst>
              <a:ext uri="{FF2B5EF4-FFF2-40B4-BE49-F238E27FC236}">
                <a16:creationId xmlns:a16="http://schemas.microsoft.com/office/drawing/2014/main" id="{4E42BC70-5CAE-70D8-A238-E5AD8917666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2" name="Rectangle 3">
            <a:extLst>
              <a:ext uri="{FF2B5EF4-FFF2-40B4-BE49-F238E27FC236}">
                <a16:creationId xmlns:a16="http://schemas.microsoft.com/office/drawing/2014/main" id="{CA37279C-4DCC-435A-E2E7-21A9F17833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ko-KR"/>
          </a:p>
        </p:txBody>
      </p:sp>
      <p:sp>
        <p:nvSpPr>
          <p:cNvPr id="68613" name="날짜 개체 틀 4">
            <a:extLst>
              <a:ext uri="{FF2B5EF4-FFF2-40B4-BE49-F238E27FC236}">
                <a16:creationId xmlns:a16="http://schemas.microsoft.com/office/drawing/2014/main" id="{EFEACAFE-6763-4DAE-3579-D7BBE1482F67}"/>
              </a:ext>
            </a:extLst>
          </p:cNvPr>
          <p:cNvSpPr>
            <a:spLocks noGrp="1"/>
          </p:cNvSpPr>
          <p:nvPr>
            <p:ph type="dt" sz="quarter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/>
              <a:t>2014-02-05</a:t>
            </a:r>
            <a:endParaRPr lang="ko-KR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>
            <a:extLst>
              <a:ext uri="{FF2B5EF4-FFF2-40B4-BE49-F238E27FC236}">
                <a16:creationId xmlns:a16="http://schemas.microsoft.com/office/drawing/2014/main" id="{91D158D2-F919-03DF-4A42-11ADB7BDDE4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F1C27B56-F293-4921-B4EA-E3A89612C4B3}" type="slidenum">
              <a:rPr lang="en-US" altLang="ko-KR"/>
              <a:pPr eaLnBrk="1" hangingPunct="1"/>
              <a:t>37</a:t>
            </a:fld>
            <a:endParaRPr lang="en-US" altLang="ko-KR"/>
          </a:p>
        </p:txBody>
      </p:sp>
      <p:sp>
        <p:nvSpPr>
          <p:cNvPr id="69635" name="Rectangle 2">
            <a:extLst>
              <a:ext uri="{FF2B5EF4-FFF2-40B4-BE49-F238E27FC236}">
                <a16:creationId xmlns:a16="http://schemas.microsoft.com/office/drawing/2014/main" id="{31C6E125-2101-3444-946F-6E9726FD86A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6" name="Rectangle 3">
            <a:extLst>
              <a:ext uri="{FF2B5EF4-FFF2-40B4-BE49-F238E27FC236}">
                <a16:creationId xmlns:a16="http://schemas.microsoft.com/office/drawing/2014/main" id="{99D1D089-A61B-B23F-D49C-4B7FBAC467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ko-KR"/>
          </a:p>
        </p:txBody>
      </p:sp>
      <p:sp>
        <p:nvSpPr>
          <p:cNvPr id="69637" name="날짜 개체 틀 4">
            <a:extLst>
              <a:ext uri="{FF2B5EF4-FFF2-40B4-BE49-F238E27FC236}">
                <a16:creationId xmlns:a16="http://schemas.microsoft.com/office/drawing/2014/main" id="{DDBE1040-4D60-B7B1-93FB-29817DEC8A27}"/>
              </a:ext>
            </a:extLst>
          </p:cNvPr>
          <p:cNvSpPr>
            <a:spLocks noGrp="1"/>
          </p:cNvSpPr>
          <p:nvPr>
            <p:ph type="dt" sz="quarter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/>
              <a:t>2014-02-05</a:t>
            </a:r>
            <a:endParaRPr lang="ko-KR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슬라이드 이미지 개체 틀 1">
            <a:extLst>
              <a:ext uri="{FF2B5EF4-FFF2-40B4-BE49-F238E27FC236}">
                <a16:creationId xmlns:a16="http://schemas.microsoft.com/office/drawing/2014/main" id="{DBEFD202-C21E-0ADB-802B-D6F8B5FF822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2906713" y="365125"/>
            <a:ext cx="4113212" cy="3084513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7" name="날짜 개체 틀 2">
            <a:extLst>
              <a:ext uri="{FF2B5EF4-FFF2-40B4-BE49-F238E27FC236}">
                <a16:creationId xmlns:a16="http://schemas.microsoft.com/office/drawing/2014/main" id="{7A64FE76-89A1-744C-A6F2-5ADCAB09DEB9}"/>
              </a:ext>
            </a:extLst>
          </p:cNvPr>
          <p:cNvSpPr>
            <a:spLocks noGrp="1"/>
          </p:cNvSpPr>
          <p:nvPr>
            <p:ph type="dt" sz="quarter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/>
              <a:t>2014-02-05</a:t>
            </a:r>
            <a:endParaRPr lang="ko-KR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>
            <a:extLst>
              <a:ext uri="{FF2B5EF4-FFF2-40B4-BE49-F238E27FC236}">
                <a16:creationId xmlns:a16="http://schemas.microsoft.com/office/drawing/2014/main" id="{C57E5608-695A-017B-F098-B62931D30DD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F890CB7D-1D5E-4744-9CC0-2E748124A16A}" type="slidenum">
              <a:rPr lang="en-US" altLang="ko-KR"/>
              <a:pPr eaLnBrk="1" hangingPunct="1"/>
              <a:t>40</a:t>
            </a:fld>
            <a:endParaRPr lang="en-US" altLang="ko-KR"/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F3AA5B3C-6289-DBA5-3D62-9ECCB0349DA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E61A6CBE-6C58-9ABE-139A-BAAB494624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ko-KR"/>
          </a:p>
        </p:txBody>
      </p:sp>
      <p:sp>
        <p:nvSpPr>
          <p:cNvPr id="74757" name="날짜 개체 틀 4">
            <a:extLst>
              <a:ext uri="{FF2B5EF4-FFF2-40B4-BE49-F238E27FC236}">
                <a16:creationId xmlns:a16="http://schemas.microsoft.com/office/drawing/2014/main" id="{8557FC07-B1F8-F69B-778B-452810CD7043}"/>
              </a:ext>
            </a:extLst>
          </p:cNvPr>
          <p:cNvSpPr>
            <a:spLocks noGrp="1"/>
          </p:cNvSpPr>
          <p:nvPr>
            <p:ph type="dt" sz="quarter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/>
              <a:t>2014-02-05</a:t>
            </a:r>
            <a:endParaRPr lang="ko-KR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>
            <a:extLst>
              <a:ext uri="{FF2B5EF4-FFF2-40B4-BE49-F238E27FC236}">
                <a16:creationId xmlns:a16="http://schemas.microsoft.com/office/drawing/2014/main" id="{18AC723C-3D7C-9C7C-081E-E3603AFBD3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A2FE8245-E58E-4527-9E97-41ED71E44CB2}" type="slidenum">
              <a:rPr lang="en-US" altLang="ko-KR"/>
              <a:pPr eaLnBrk="1" hangingPunct="1"/>
              <a:t>41</a:t>
            </a:fld>
            <a:endParaRPr lang="en-US" altLang="ko-KR"/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32530BE0-07B2-FE89-CAA6-A887EA1C53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5780" name="Rectangle 3">
            <a:extLst>
              <a:ext uri="{FF2B5EF4-FFF2-40B4-BE49-F238E27FC236}">
                <a16:creationId xmlns:a16="http://schemas.microsoft.com/office/drawing/2014/main" id="{6D275FD3-A7A5-2159-D026-0ED952EC7F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ko-KR"/>
          </a:p>
        </p:txBody>
      </p:sp>
      <p:sp>
        <p:nvSpPr>
          <p:cNvPr id="75781" name="날짜 개체 틀 4">
            <a:extLst>
              <a:ext uri="{FF2B5EF4-FFF2-40B4-BE49-F238E27FC236}">
                <a16:creationId xmlns:a16="http://schemas.microsoft.com/office/drawing/2014/main" id="{4F7A7E55-DBAF-3169-1981-E3EB3A296E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/>
              <a:t>2014-02-05</a:t>
            </a:r>
            <a:endParaRPr lang="ko-KR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>
            <a:extLst>
              <a:ext uri="{FF2B5EF4-FFF2-40B4-BE49-F238E27FC236}">
                <a16:creationId xmlns:a16="http://schemas.microsoft.com/office/drawing/2014/main" id="{9F579C42-2D2B-EF01-652A-3921891A096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D8691C18-5EF3-48E5-A0A7-593F5FE16AEF}" type="slidenum">
              <a:rPr lang="en-US" altLang="ko-KR"/>
              <a:pPr eaLnBrk="1" hangingPunct="1"/>
              <a:t>42</a:t>
            </a:fld>
            <a:endParaRPr lang="en-US" altLang="ko-KR"/>
          </a:p>
        </p:txBody>
      </p:sp>
      <p:sp>
        <p:nvSpPr>
          <p:cNvPr id="76803" name="Rectangle 2">
            <a:extLst>
              <a:ext uri="{FF2B5EF4-FFF2-40B4-BE49-F238E27FC236}">
                <a16:creationId xmlns:a16="http://schemas.microsoft.com/office/drawing/2014/main" id="{B07DCB62-5065-F9A6-DDB5-BC0EC9D8A05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6804" name="Rectangle 3">
            <a:extLst>
              <a:ext uri="{FF2B5EF4-FFF2-40B4-BE49-F238E27FC236}">
                <a16:creationId xmlns:a16="http://schemas.microsoft.com/office/drawing/2014/main" id="{4664FF10-538A-2476-0064-004449F1F2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ko-KR"/>
          </a:p>
        </p:txBody>
      </p:sp>
      <p:sp>
        <p:nvSpPr>
          <p:cNvPr id="76805" name="날짜 개체 틀 4">
            <a:extLst>
              <a:ext uri="{FF2B5EF4-FFF2-40B4-BE49-F238E27FC236}">
                <a16:creationId xmlns:a16="http://schemas.microsoft.com/office/drawing/2014/main" id="{DB3C0CC6-4BAB-FA52-95E5-922718A2F3B5}"/>
              </a:ext>
            </a:extLst>
          </p:cNvPr>
          <p:cNvSpPr>
            <a:spLocks noGrp="1"/>
          </p:cNvSpPr>
          <p:nvPr>
            <p:ph type="dt" sz="quarter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/>
              <a:t>2014-02-05</a:t>
            </a:r>
            <a:endParaRPr lang="ko-KR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>
            <a:extLst>
              <a:ext uri="{FF2B5EF4-FFF2-40B4-BE49-F238E27FC236}">
                <a16:creationId xmlns:a16="http://schemas.microsoft.com/office/drawing/2014/main" id="{43FBEEDA-B53B-6EFD-42FE-FBE451B85E6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64F66A07-BF45-41C9-88AB-BE30CA62E66C}" type="slidenum">
              <a:rPr lang="en-US" altLang="ko-KR"/>
              <a:pPr eaLnBrk="1" hangingPunct="1"/>
              <a:t>43</a:t>
            </a:fld>
            <a:endParaRPr lang="en-US" altLang="ko-KR"/>
          </a:p>
        </p:txBody>
      </p:sp>
      <p:sp>
        <p:nvSpPr>
          <p:cNvPr id="77827" name="Rectangle 2">
            <a:extLst>
              <a:ext uri="{FF2B5EF4-FFF2-40B4-BE49-F238E27FC236}">
                <a16:creationId xmlns:a16="http://schemas.microsoft.com/office/drawing/2014/main" id="{8E79174F-A64E-F46E-36FF-1545699D95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7828" name="Rectangle 3">
            <a:extLst>
              <a:ext uri="{FF2B5EF4-FFF2-40B4-BE49-F238E27FC236}">
                <a16:creationId xmlns:a16="http://schemas.microsoft.com/office/drawing/2014/main" id="{A6A0A050-0A16-FC7C-F1E5-7A52838CCA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ko-KR" altLang="ko-KR"/>
          </a:p>
        </p:txBody>
      </p:sp>
      <p:sp>
        <p:nvSpPr>
          <p:cNvPr id="77829" name="날짜 개체 틀 4">
            <a:extLst>
              <a:ext uri="{FF2B5EF4-FFF2-40B4-BE49-F238E27FC236}">
                <a16:creationId xmlns:a16="http://schemas.microsoft.com/office/drawing/2014/main" id="{E4F14718-9192-6BD3-4771-88019B40A0CE}"/>
              </a:ext>
            </a:extLst>
          </p:cNvPr>
          <p:cNvSpPr>
            <a:spLocks noGrp="1"/>
          </p:cNvSpPr>
          <p:nvPr>
            <p:ph type="dt" sz="quarter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/>
              <a:t>2014-02-05</a:t>
            </a:r>
            <a:endParaRPr lang="ko-KR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>
            <a:extLst>
              <a:ext uri="{FF2B5EF4-FFF2-40B4-BE49-F238E27FC236}">
                <a16:creationId xmlns:a16="http://schemas.microsoft.com/office/drawing/2014/main" id="{C0507605-E088-6DFE-5752-4153191DF43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683C92C0-CFC1-4BE6-89A5-629FAE8C887C}" type="slidenum">
              <a:rPr lang="en-US" altLang="ko-KR"/>
              <a:pPr eaLnBrk="1" hangingPunct="1"/>
              <a:t>44</a:t>
            </a:fld>
            <a:endParaRPr lang="en-US" altLang="ko-KR"/>
          </a:p>
        </p:txBody>
      </p:sp>
      <p:sp>
        <p:nvSpPr>
          <p:cNvPr id="78851" name="Rectangle 2">
            <a:extLst>
              <a:ext uri="{FF2B5EF4-FFF2-40B4-BE49-F238E27FC236}">
                <a16:creationId xmlns:a16="http://schemas.microsoft.com/office/drawing/2014/main" id="{F2986B03-5ECD-71C1-B307-75C944575F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8852" name="Rectangle 3">
            <a:extLst>
              <a:ext uri="{FF2B5EF4-FFF2-40B4-BE49-F238E27FC236}">
                <a16:creationId xmlns:a16="http://schemas.microsoft.com/office/drawing/2014/main" id="{C4DFE42C-FFFE-0B46-CE62-0741A3D86F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ko-KR"/>
          </a:p>
        </p:txBody>
      </p:sp>
      <p:sp>
        <p:nvSpPr>
          <p:cNvPr id="78853" name="날짜 개체 틀 4">
            <a:extLst>
              <a:ext uri="{FF2B5EF4-FFF2-40B4-BE49-F238E27FC236}">
                <a16:creationId xmlns:a16="http://schemas.microsoft.com/office/drawing/2014/main" id="{95D2301D-3093-5024-ADA2-88FB5875F231}"/>
              </a:ext>
            </a:extLst>
          </p:cNvPr>
          <p:cNvSpPr>
            <a:spLocks noGrp="1"/>
          </p:cNvSpPr>
          <p:nvPr>
            <p:ph type="dt" sz="quarter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/>
              <a:t>2014-02-05</a:t>
            </a:r>
            <a:endParaRPr lang="ko-KR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625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9626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D684B1F2-3B7B-484C-985C-850D11752DC9}" type="slidenum">
              <a:rPr lang="ko-KR" altLang="en-US" smtClean="0">
                <a:latin typeface="굴림" pitchFamily="50" charset="-127"/>
                <a:ea typeface="굴림" pitchFamily="50" charset="-127"/>
              </a:rPr>
              <a:pPr/>
              <a:t>52</a:t>
            </a:fld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0460982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625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9626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D684B1F2-3B7B-484C-985C-850D11752DC9}" type="slidenum">
              <a:rPr lang="ko-KR" altLang="en-US" smtClean="0">
                <a:latin typeface="굴림" pitchFamily="50" charset="-127"/>
                <a:ea typeface="굴림" pitchFamily="50" charset="-127"/>
              </a:rPr>
              <a:pPr/>
              <a:t>53</a:t>
            </a:fld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1948174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625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9626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D684B1F2-3B7B-484C-985C-850D11752DC9}" type="slidenum">
              <a:rPr lang="ko-KR" altLang="en-US" smtClean="0">
                <a:latin typeface="굴림" pitchFamily="50" charset="-127"/>
                <a:ea typeface="굴림" pitchFamily="50" charset="-127"/>
              </a:rPr>
              <a:pPr/>
              <a:t>54</a:t>
            </a:fld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4538036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625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9626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D684B1F2-3B7B-484C-985C-850D11752DC9}" type="slidenum">
              <a:rPr lang="ko-KR" altLang="en-US" smtClean="0">
                <a:latin typeface="굴림" pitchFamily="50" charset="-127"/>
                <a:ea typeface="굴림" pitchFamily="50" charset="-127"/>
              </a:rPr>
              <a:pPr/>
              <a:t>55</a:t>
            </a:fld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8767520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625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9626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D684B1F2-3B7B-484C-985C-850D11752DC9}" type="slidenum">
              <a:rPr lang="ko-KR" altLang="en-US" smtClean="0">
                <a:latin typeface="굴림" pitchFamily="50" charset="-127"/>
                <a:ea typeface="굴림" pitchFamily="50" charset="-127"/>
              </a:rPr>
              <a:pPr/>
              <a:t>56</a:t>
            </a:fld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0121098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625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9626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D684B1F2-3B7B-484C-985C-850D11752DC9}" type="slidenum">
              <a:rPr lang="ko-KR" altLang="en-US" smtClean="0">
                <a:latin typeface="굴림" pitchFamily="50" charset="-127"/>
                <a:ea typeface="굴림" pitchFamily="50" charset="-127"/>
              </a:rPr>
              <a:pPr/>
              <a:t>57</a:t>
            </a:fld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4614208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625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9626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D684B1F2-3B7B-484C-985C-850D11752DC9}" type="slidenum">
              <a:rPr lang="ko-KR" altLang="en-US" smtClean="0">
                <a:latin typeface="굴림" pitchFamily="50" charset="-127"/>
                <a:ea typeface="굴림" pitchFamily="50" charset="-127"/>
              </a:rPr>
              <a:pPr/>
              <a:t>58</a:t>
            </a:fld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9918368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625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9626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D684B1F2-3B7B-484C-985C-850D11752DC9}" type="slidenum">
              <a:rPr lang="ko-KR" altLang="en-US" smtClean="0">
                <a:latin typeface="굴림" pitchFamily="50" charset="-127"/>
                <a:ea typeface="굴림" pitchFamily="50" charset="-127"/>
              </a:rPr>
              <a:pPr/>
              <a:t>59</a:t>
            </a:fld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8801298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625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9626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D684B1F2-3B7B-484C-985C-850D11752DC9}" type="slidenum">
              <a:rPr lang="ko-KR" altLang="en-US" smtClean="0">
                <a:latin typeface="굴림" pitchFamily="50" charset="-127"/>
                <a:ea typeface="굴림" pitchFamily="50" charset="-127"/>
              </a:rPr>
              <a:pPr/>
              <a:t>60</a:t>
            </a:fld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5415654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625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9626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D684B1F2-3B7B-484C-985C-850D11752DC9}" type="slidenum">
              <a:rPr lang="ko-KR" altLang="en-US" smtClean="0">
                <a:latin typeface="굴림" pitchFamily="50" charset="-127"/>
                <a:ea typeface="굴림" pitchFamily="50" charset="-127"/>
              </a:rPr>
              <a:pPr/>
              <a:t>61</a:t>
            </a:fld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5229525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625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9626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D684B1F2-3B7B-484C-985C-850D11752DC9}" type="slidenum">
              <a:rPr lang="ko-KR" altLang="en-US" smtClean="0">
                <a:latin typeface="굴림" pitchFamily="50" charset="-127"/>
                <a:ea typeface="굴림" pitchFamily="50" charset="-127"/>
              </a:rPr>
              <a:pPr/>
              <a:t>62</a:t>
            </a:fld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5139493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625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9626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D684B1F2-3B7B-484C-985C-850D11752DC9}" type="slidenum">
              <a:rPr lang="ko-KR" altLang="en-US" smtClean="0">
                <a:latin typeface="굴림" pitchFamily="50" charset="-127"/>
                <a:ea typeface="굴림" pitchFamily="50" charset="-127"/>
              </a:rPr>
              <a:pPr/>
              <a:t>63</a:t>
            </a:fld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0217987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625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9626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D684B1F2-3B7B-484C-985C-850D11752DC9}" type="slidenum">
              <a:rPr lang="ko-KR" altLang="en-US" smtClean="0">
                <a:latin typeface="굴림" pitchFamily="50" charset="-127"/>
                <a:ea typeface="굴림" pitchFamily="50" charset="-127"/>
              </a:rPr>
              <a:pPr/>
              <a:t>64</a:t>
            </a:fld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5702829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625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9626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D684B1F2-3B7B-484C-985C-850D11752DC9}" type="slidenum">
              <a:rPr lang="ko-KR" altLang="en-US" smtClean="0">
                <a:latin typeface="굴림" pitchFamily="50" charset="-127"/>
                <a:ea typeface="굴림" pitchFamily="50" charset="-127"/>
              </a:rPr>
              <a:pPr/>
              <a:t>65</a:t>
            </a:fld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0070690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625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9626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D684B1F2-3B7B-484C-985C-850D11752DC9}" type="slidenum">
              <a:rPr lang="ko-KR" altLang="en-US" smtClean="0">
                <a:latin typeface="굴림" pitchFamily="50" charset="-127"/>
                <a:ea typeface="굴림" pitchFamily="50" charset="-127"/>
              </a:rPr>
              <a:pPr/>
              <a:t>66</a:t>
            </a:fld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501034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본문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557CAE2-1DEB-496D-A27E-9BAA9A07AF6F}" type="datetimeFigureOut">
              <a:rPr lang="ko-KR" altLang="en-US" smtClean="0"/>
              <a:pPr/>
              <a:t>2026-03-09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D7CC5DD-E127-4ADD-8ECF-22D2DF8F211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6" name="그림 5" descr="의료방사선 내지.jpg"/>
          <p:cNvPicPr>
            <a:picLocks noChangeAspect="1"/>
          </p:cNvPicPr>
          <p:nvPr userDrawn="1"/>
        </p:nvPicPr>
        <p:blipFill>
          <a:blip r:embed="rId2" cstate="print">
            <a:duotone>
              <a:prstClr val="black"/>
              <a:schemeClr val="accent3">
                <a:tint val="45000"/>
                <a:satMod val="400000"/>
              </a:schemeClr>
            </a:duotone>
          </a:blip>
          <a:srcRect t="97656"/>
          <a:stretch>
            <a:fillRect/>
          </a:stretch>
        </p:blipFill>
        <p:spPr>
          <a:xfrm>
            <a:off x="0" y="0"/>
            <a:ext cx="9144000" cy="85723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제목 8"/>
          <p:cNvSpPr>
            <a:spLocks noGrp="1"/>
          </p:cNvSpPr>
          <p:nvPr>
            <p:ph type="title"/>
          </p:nvPr>
        </p:nvSpPr>
        <p:spPr>
          <a:xfrm>
            <a:off x="285720" y="285728"/>
            <a:ext cx="8229600" cy="368280"/>
          </a:xfrm>
        </p:spPr>
        <p:txBody>
          <a:bodyPr>
            <a:noAutofit/>
          </a:bodyPr>
          <a:lstStyle/>
          <a:p>
            <a:pPr algn="l"/>
            <a:endParaRPr lang="ko-KR" altLang="en-US" sz="2400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6400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10"/>
          <p:cNvSpPr>
            <a:spLocks noChangeShapeType="1"/>
          </p:cNvSpPr>
          <p:nvPr userDrawn="1"/>
        </p:nvSpPr>
        <p:spPr bwMode="auto">
          <a:xfrm>
            <a:off x="966788" y="6553200"/>
            <a:ext cx="8177212" cy="1588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3" name="Line 11"/>
          <p:cNvSpPr>
            <a:spLocks noChangeShapeType="1"/>
          </p:cNvSpPr>
          <p:nvPr userDrawn="1"/>
        </p:nvSpPr>
        <p:spPr bwMode="auto">
          <a:xfrm flipV="1">
            <a:off x="0" y="549275"/>
            <a:ext cx="7872413" cy="0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4" name="Line 13"/>
          <p:cNvSpPr>
            <a:spLocks noChangeShapeType="1"/>
          </p:cNvSpPr>
          <p:nvPr userDrawn="1"/>
        </p:nvSpPr>
        <p:spPr bwMode="auto">
          <a:xfrm flipV="1">
            <a:off x="2195513" y="6553200"/>
            <a:ext cx="6948487" cy="44450"/>
          </a:xfrm>
          <a:prstGeom prst="line">
            <a:avLst/>
          </a:prstGeom>
          <a:noFill/>
          <a:ln w="508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5" name="Text Box 14"/>
          <p:cNvSpPr txBox="1">
            <a:spLocks noChangeArrowheads="1"/>
          </p:cNvSpPr>
          <p:nvPr userDrawn="1"/>
        </p:nvSpPr>
        <p:spPr bwMode="auto">
          <a:xfrm>
            <a:off x="288925" y="6399213"/>
            <a:ext cx="2070100" cy="3048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l" eaLnBrk="1" latinLnBrk="1" hangingPunct="1">
              <a:defRPr/>
            </a:pPr>
            <a:r>
              <a:rPr kumimoji="1" lang="ko-KR" altLang="en-US" sz="1400" b="1">
                <a:latin typeface="HY울릉도L" pitchFamily="18" charset="-127"/>
                <a:ea typeface="HY울릉도L" pitchFamily="18" charset="-127"/>
              </a:rPr>
              <a:t>전남대 통계연구소</a:t>
            </a:r>
            <a:endParaRPr kumimoji="1" lang="ko-KR" altLang="en-US" sz="1400">
              <a:latin typeface="HY울릉도L" pitchFamily="18" charset="-127"/>
              <a:ea typeface="HY울릉도L" pitchFamily="18" charset="-127"/>
            </a:endParaRPr>
          </a:p>
        </p:txBody>
      </p:sp>
      <p:sp>
        <p:nvSpPr>
          <p:cNvPr id="6" name="Text Box 16"/>
          <p:cNvSpPr txBox="1">
            <a:spLocks noChangeArrowheads="1"/>
          </p:cNvSpPr>
          <p:nvPr userDrawn="1"/>
        </p:nvSpPr>
        <p:spPr bwMode="auto">
          <a:xfrm>
            <a:off x="3525838" y="6610350"/>
            <a:ext cx="1685925" cy="2746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eaLnBrk="1" latinLnBrk="1" hangingPunct="1">
              <a:spcBef>
                <a:spcPct val="50000"/>
              </a:spcBef>
              <a:defRPr/>
            </a:pPr>
            <a:r>
              <a:rPr kumimoji="1" lang="en-US" altLang="ko-KR" sz="1200" b="1">
                <a:solidFill>
                  <a:schemeClr val="tx1"/>
                </a:solidFill>
                <a:latin typeface="HY울릉도L" pitchFamily="18" charset="-127"/>
                <a:ea typeface="HY울릉도L" pitchFamily="18" charset="-127"/>
              </a:rPr>
              <a:t>Minitab</a:t>
            </a:r>
            <a:r>
              <a:rPr kumimoji="1" lang="ko-KR" altLang="en-US" sz="1200" b="1">
                <a:solidFill>
                  <a:schemeClr val="tx1"/>
                </a:solidFill>
                <a:latin typeface="HY울릉도L" pitchFamily="18" charset="-127"/>
                <a:ea typeface="HY울릉도L" pitchFamily="18" charset="-127"/>
              </a:rPr>
              <a:t>기초통계</a:t>
            </a:r>
            <a:r>
              <a:rPr kumimoji="1" lang="en-US" altLang="ko-KR" sz="1200" b="1">
                <a:solidFill>
                  <a:schemeClr val="tx1"/>
                </a:solidFill>
                <a:latin typeface="HY울릉도L" pitchFamily="18" charset="-127"/>
                <a:ea typeface="HY울릉도L" pitchFamily="18" charset="-127"/>
              </a:rPr>
              <a:t>-</a:t>
            </a:r>
            <a:fld id="{6A9B9C22-5AD2-4274-98B2-CEC205360B34}" type="slidenum">
              <a:rPr kumimoji="1" lang="en-US" altLang="ko-KR" sz="1200" b="1" smtClean="0">
                <a:solidFill>
                  <a:schemeClr val="tx1"/>
                </a:solidFill>
                <a:latin typeface="HY울릉도L" pitchFamily="18" charset="-127"/>
                <a:ea typeface="HY울릉도L" pitchFamily="18" charset="-127"/>
              </a:rPr>
              <a:pPr eaLnBrk="1" latinLnBrk="1" hangingPunct="1">
                <a:spcBef>
                  <a:spcPct val="50000"/>
                </a:spcBef>
                <a:defRPr/>
              </a:pPr>
              <a:t>‹#›</a:t>
            </a:fld>
            <a:endParaRPr kumimoji="1" lang="en-US" altLang="ko-KR" sz="1200" b="1">
              <a:solidFill>
                <a:schemeClr val="tx1"/>
              </a:solidFill>
              <a:latin typeface="HY울릉도L" pitchFamily="18" charset="-127"/>
              <a:ea typeface="HY울릉도L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79786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6140527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7296107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7710928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3783689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143093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993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본문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557CAE2-1DEB-496D-A27E-9BAA9A07AF6F}" type="datetimeFigureOut">
              <a:rPr lang="ko-KR" altLang="en-US" smtClean="0"/>
              <a:pPr/>
              <a:t>2026-03-09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D7CC5DD-E127-4ADD-8ECF-22D2DF8F211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7" name="제목 8"/>
          <p:cNvSpPr>
            <a:spLocks noGrp="1"/>
          </p:cNvSpPr>
          <p:nvPr>
            <p:ph type="title"/>
          </p:nvPr>
        </p:nvSpPr>
        <p:spPr>
          <a:xfrm>
            <a:off x="285720" y="285728"/>
            <a:ext cx="8229600" cy="368280"/>
          </a:xfrm>
        </p:spPr>
        <p:txBody>
          <a:bodyPr>
            <a:noAutofit/>
          </a:bodyPr>
          <a:lstStyle/>
          <a:p>
            <a:pPr algn="l"/>
            <a:endParaRPr lang="ko-KR" altLang="en-US" sz="2400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97172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761626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9218570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9482470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152400"/>
            <a:ext cx="2057400" cy="597376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52400"/>
            <a:ext cx="6019800" cy="59737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6950022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itchFamily="34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itchFamily="34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itchFamily="34" charset="0"/>
                <a:ea typeface="굴림" pitchFamily="50" charset="-127"/>
              </a:defRPr>
            </a:lvl1pPr>
          </a:lstStyle>
          <a:p>
            <a:pPr>
              <a:defRPr/>
            </a:pPr>
            <a:fld id="{B0A85CF3-B5D5-4FCE-BCC7-E332358F744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23352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제목, 텍스트 및 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398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457200" y="1357313"/>
            <a:ext cx="4038600" cy="47688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4648200" y="1357313"/>
            <a:ext cx="4038600" cy="23082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4648200" y="3817938"/>
            <a:ext cx="4038600" cy="23082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날짜 개체 틀 5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itchFamily="34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바닥글 개체 틀 6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itchFamily="34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itchFamily="34" charset="0"/>
                <a:ea typeface="굴림" pitchFamily="50" charset="-127"/>
              </a:defRPr>
            </a:lvl1pPr>
          </a:lstStyle>
          <a:p>
            <a:pPr>
              <a:defRPr/>
            </a:pPr>
            <a:fld id="{6750A46B-1393-41F5-960A-D6679BE6297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726431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본문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91567-6A8B-4843-AA89-61B9C5168B12}" type="datetimeFigureOut">
              <a:rPr lang="ko-KR" altLang="en-US" smtClean="0"/>
              <a:pPr/>
              <a:t>2026-03-09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CBACE-29DB-4CB0-A3E7-518C6D7B39A4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6" name="그림 5" descr="의료방사선 내지.jpg"/>
          <p:cNvPicPr>
            <a:picLocks noChangeAspect="1"/>
          </p:cNvPicPr>
          <p:nvPr userDrawn="1"/>
        </p:nvPicPr>
        <p:blipFill>
          <a:blip r:embed="rId2" cstate="print">
            <a:duotone>
              <a:prstClr val="black"/>
              <a:schemeClr val="accent3">
                <a:tint val="45000"/>
                <a:satMod val="400000"/>
              </a:schemeClr>
            </a:duotone>
          </a:blip>
          <a:srcRect t="97656"/>
          <a:stretch>
            <a:fillRect/>
          </a:stretch>
        </p:blipFill>
        <p:spPr>
          <a:xfrm>
            <a:off x="0" y="0"/>
            <a:ext cx="9144000" cy="85723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제목 8"/>
          <p:cNvSpPr>
            <a:spLocks noGrp="1"/>
          </p:cNvSpPr>
          <p:nvPr>
            <p:ph type="title"/>
          </p:nvPr>
        </p:nvSpPr>
        <p:spPr>
          <a:xfrm>
            <a:off x="285720" y="285728"/>
            <a:ext cx="8229600" cy="368280"/>
          </a:xfrm>
        </p:spPr>
        <p:txBody>
          <a:bodyPr>
            <a:noAutofit/>
          </a:bodyPr>
          <a:lstStyle/>
          <a:p>
            <a:pPr algn="l"/>
            <a:endParaRPr lang="ko-KR" altLang="en-US" sz="2400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24945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:\Documents and Settings\Administrator\바탕 화면\표지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60600" y="2349500"/>
            <a:ext cx="6415088" cy="762000"/>
          </a:xfrm>
          <a:ln/>
          <a:effectLst/>
        </p:spPr>
        <p:txBody>
          <a:bodyPr/>
          <a:lstStyle>
            <a:lvl1pPr algn="r">
              <a:defRPr sz="5000">
                <a:solidFill>
                  <a:schemeClr val="tx1"/>
                </a:solidFill>
              </a:defRPr>
            </a:lvl1pPr>
          </a:lstStyle>
          <a:p>
            <a:r>
              <a:rPr lang="en-US" altLang="ko-KR"/>
              <a:t>Powerpoint Template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 sz="1100">
                <a:solidFill>
                  <a:srgbClr val="0070C0"/>
                </a:solidFill>
                <a:latin typeface="HY견고딕" pitchFamily="18" charset="-127"/>
                <a:ea typeface="HY견고딕" pitchFamily="18" charset="-127"/>
              </a:defRPr>
            </a:lvl1pPr>
          </a:lstStyle>
          <a:p>
            <a:pPr>
              <a:defRPr/>
            </a:pPr>
            <a:fld id="{268FC38D-4D3B-4A57-A58B-52C6127D29F4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70571833"/>
      </p:ext>
    </p:extLst>
  </p:cSld>
  <p:clrMapOvr>
    <a:masterClrMapping/>
  </p:clrMapOvr>
  <p:transition spd="med">
    <p:fade thruBlk="1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5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52400"/>
            <a:ext cx="7010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Line 36"/>
          <p:cNvSpPr>
            <a:spLocks noChangeShapeType="1"/>
          </p:cNvSpPr>
          <p:nvPr userDrawn="1"/>
        </p:nvSpPr>
        <p:spPr bwMode="auto">
          <a:xfrm>
            <a:off x="966788" y="6553200"/>
            <a:ext cx="8177212" cy="1588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028" name="Line 37"/>
          <p:cNvSpPr>
            <a:spLocks noChangeShapeType="1"/>
          </p:cNvSpPr>
          <p:nvPr userDrawn="1"/>
        </p:nvSpPr>
        <p:spPr bwMode="auto">
          <a:xfrm flipV="1">
            <a:off x="0" y="549275"/>
            <a:ext cx="7872413" cy="0"/>
          </a:xfrm>
          <a:prstGeom prst="line">
            <a:avLst/>
          </a:prstGeom>
          <a:noFill/>
          <a:ln w="57150">
            <a:solidFill>
              <a:srgbClr val="339966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86" r:id="rId1"/>
    <p:sldLayoutId id="2147483981" r:id="rId2"/>
    <p:sldLayoutId id="2147483971" r:id="rId3"/>
    <p:sldLayoutId id="2147483972" r:id="rId4"/>
    <p:sldLayoutId id="2147483973" r:id="rId5"/>
    <p:sldLayoutId id="2147483974" r:id="rId6"/>
    <p:sldLayoutId id="2147483975" r:id="rId7"/>
    <p:sldLayoutId id="2147483976" r:id="rId8"/>
    <p:sldLayoutId id="2147483985" r:id="rId9"/>
    <p:sldLayoutId id="2147483977" r:id="rId10"/>
    <p:sldLayoutId id="2147483978" r:id="rId11"/>
    <p:sldLayoutId id="2147483979" r:id="rId12"/>
    <p:sldLayoutId id="2147483980" r:id="rId13"/>
    <p:sldLayoutId id="2147483982" r:id="rId14"/>
    <p:sldLayoutId id="2147483983" r:id="rId15"/>
    <p:sldLayoutId id="2147483984" r:id="rId16"/>
    <p:sldLayoutId id="2147483989" r:id="rId17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40000"/>
        </a:spcBef>
        <a:spcAft>
          <a:spcPct val="0"/>
        </a:spcAft>
        <a:buClr>
          <a:schemeClr val="tx1"/>
        </a:buClr>
        <a:buChar char="•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40000"/>
        </a:spcBef>
        <a:spcAft>
          <a:spcPct val="0"/>
        </a:spcAft>
        <a:buClr>
          <a:schemeClr val="tx1"/>
        </a:buClr>
        <a:buSzPct val="75000"/>
        <a:buFont typeface="Symbol" pitchFamily="18" charset="2"/>
        <a:buChar char="-"/>
        <a:defRPr sz="2200" b="1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40000"/>
        </a:spcBef>
        <a:spcAft>
          <a:spcPct val="0"/>
        </a:spcAft>
        <a:buClr>
          <a:schemeClr val="tx1"/>
        </a:buClr>
        <a:buSzPct val="64000"/>
        <a:buFont typeface="Symbol" pitchFamily="18" charset="2"/>
        <a:buChar char="&gt;"/>
        <a:defRPr sz="2000" b="1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40000"/>
        </a:spcBef>
        <a:spcAft>
          <a:spcPct val="0"/>
        </a:spcAft>
        <a:buSzPct val="100000"/>
        <a:buChar char="–"/>
        <a:defRPr sz="2000" b="1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»"/>
        <a:defRPr sz="2000">
          <a:solidFill>
            <a:schemeClr val="tx1"/>
          </a:solidFill>
          <a:latin typeface="Times New Roman" pitchFamily="18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»"/>
        <a:defRPr sz="2000">
          <a:solidFill>
            <a:schemeClr val="tx1"/>
          </a:solidFill>
          <a:latin typeface="Times New Roman" pitchFamily="18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»"/>
        <a:defRPr sz="2000">
          <a:solidFill>
            <a:schemeClr val="tx1"/>
          </a:solidFill>
          <a:latin typeface="Times New Roman" pitchFamily="18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»"/>
        <a:defRPr sz="2000">
          <a:solidFill>
            <a:schemeClr val="tx1"/>
          </a:solidFill>
          <a:latin typeface="Times New Roman" pitchFamily="18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»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wmf"/><Relationship Id="rId4" Type="http://schemas.openxmlformats.org/officeDocument/2006/relationships/oleObject" Target="../embeddings/oleObject1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3.wmf"/><Relationship Id="rId4" Type="http://schemas.openxmlformats.org/officeDocument/2006/relationships/oleObject" Target="../embeddings/oleObject2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7" Type="http://schemas.openxmlformats.org/officeDocument/2006/relationships/image" Target="../media/image6.wmf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3.wmf"/><Relationship Id="rId4" Type="http://schemas.openxmlformats.org/officeDocument/2006/relationships/oleObject" Target="../embeddings/oleObject3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12" Type="http://schemas.openxmlformats.org/officeDocument/2006/relationships/image" Target="../media/image11.wmf"/><Relationship Id="rId2" Type="http://schemas.openxmlformats.org/officeDocument/2006/relationships/slideLayout" Target="../slideLayouts/slideLayout15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8.wmf"/><Relationship Id="rId11" Type="http://schemas.openxmlformats.org/officeDocument/2006/relationships/oleObject" Target="../embeddings/oleObject9.bin"/><Relationship Id="rId5" Type="http://schemas.openxmlformats.org/officeDocument/2006/relationships/oleObject" Target="../embeddings/oleObject6.bin"/><Relationship Id="rId10" Type="http://schemas.openxmlformats.org/officeDocument/2006/relationships/image" Target="../media/image10.wmf"/><Relationship Id="rId4" Type="http://schemas.openxmlformats.org/officeDocument/2006/relationships/image" Target="../media/image7.wmf"/><Relationship Id="rId9" Type="http://schemas.openxmlformats.org/officeDocument/2006/relationships/oleObject" Target="../embeddings/oleObject8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.bin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12.wmf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11.bin"/><Relationship Id="rId11" Type="http://schemas.openxmlformats.org/officeDocument/2006/relationships/image" Target="../media/image14.wmf"/><Relationship Id="rId5" Type="http://schemas.openxmlformats.org/officeDocument/2006/relationships/image" Target="../media/image3.wmf"/><Relationship Id="rId10" Type="http://schemas.openxmlformats.org/officeDocument/2006/relationships/oleObject" Target="../embeddings/oleObject13.bin"/><Relationship Id="rId4" Type="http://schemas.openxmlformats.org/officeDocument/2006/relationships/oleObject" Target="../embeddings/oleObject10.bin"/><Relationship Id="rId9" Type="http://schemas.openxmlformats.org/officeDocument/2006/relationships/image" Target="../media/image13.wm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7" Type="http://schemas.openxmlformats.org/officeDocument/2006/relationships/image" Target="../media/image17.wmf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5.bin"/><Relationship Id="rId5" Type="http://schemas.openxmlformats.org/officeDocument/2006/relationships/image" Target="../media/image3.wmf"/><Relationship Id="rId4" Type="http://schemas.openxmlformats.org/officeDocument/2006/relationships/oleObject" Target="../embeddings/oleObject14.bin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3" Type="http://schemas.openxmlformats.org/officeDocument/2006/relationships/oleObject" Target="../embeddings/oleObject16.bin"/><Relationship Id="rId7" Type="http://schemas.openxmlformats.org/officeDocument/2006/relationships/oleObject" Target="../embeddings/oleObject18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0.wmf"/><Relationship Id="rId5" Type="http://schemas.openxmlformats.org/officeDocument/2006/relationships/oleObject" Target="../embeddings/oleObject17.bin"/><Relationship Id="rId4" Type="http://schemas.openxmlformats.org/officeDocument/2006/relationships/image" Target="../media/image19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.bin"/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22.wmf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20.bin"/><Relationship Id="rId11" Type="http://schemas.openxmlformats.org/officeDocument/2006/relationships/image" Target="../media/image24.wmf"/><Relationship Id="rId5" Type="http://schemas.openxmlformats.org/officeDocument/2006/relationships/image" Target="../media/image3.wmf"/><Relationship Id="rId10" Type="http://schemas.openxmlformats.org/officeDocument/2006/relationships/oleObject" Target="../embeddings/oleObject22.bin"/><Relationship Id="rId4" Type="http://schemas.openxmlformats.org/officeDocument/2006/relationships/oleObject" Target="../embeddings/oleObject19.bin"/><Relationship Id="rId9" Type="http://schemas.openxmlformats.org/officeDocument/2006/relationships/image" Target="../media/image23.wmf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7" Type="http://schemas.openxmlformats.org/officeDocument/2006/relationships/image" Target="../media/image27.wmf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24.bin"/><Relationship Id="rId5" Type="http://schemas.openxmlformats.org/officeDocument/2006/relationships/image" Target="../media/image26.wmf"/><Relationship Id="rId4" Type="http://schemas.openxmlformats.org/officeDocument/2006/relationships/oleObject" Target="../embeddings/oleObject23.bin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Layout" Target="../slideLayouts/slideLayout15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28.wmf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5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35.wmf"/><Relationship Id="rId5" Type="http://schemas.openxmlformats.org/officeDocument/2006/relationships/image" Target="../media/image34.wmf"/><Relationship Id="rId4" Type="http://schemas.openxmlformats.org/officeDocument/2006/relationships/oleObject" Target="../embeddings/oleObject26.bin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2.vml"/><Relationship Id="rId5" Type="http://schemas.openxmlformats.org/officeDocument/2006/relationships/image" Target="../media/image34.wmf"/><Relationship Id="rId4" Type="http://schemas.openxmlformats.org/officeDocument/2006/relationships/oleObject" Target="../embeddings/oleObject27.bin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3.vml"/><Relationship Id="rId5" Type="http://schemas.openxmlformats.org/officeDocument/2006/relationships/image" Target="../media/image36.wmf"/><Relationship Id="rId4" Type="http://schemas.openxmlformats.org/officeDocument/2006/relationships/oleObject" Target="../embeddings/oleObject28.bin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4.vml"/><Relationship Id="rId5" Type="http://schemas.openxmlformats.org/officeDocument/2006/relationships/image" Target="../media/image34.wmf"/><Relationship Id="rId4" Type="http://schemas.openxmlformats.org/officeDocument/2006/relationships/oleObject" Target="../embeddings/oleObject29.bin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00031" y="1489601"/>
            <a:ext cx="7000875" cy="1525588"/>
          </a:xfrm>
          <a:gradFill rotWithShape="0">
            <a:gsLst>
              <a:gs pos="0">
                <a:schemeClr val="bg1"/>
              </a:gs>
              <a:gs pos="100000">
                <a:srgbClr val="8BA7FF"/>
              </a:gs>
            </a:gsLst>
            <a:path path="shape">
              <a:fillToRect l="50000" t="50000" r="50000" b="50000"/>
            </a:path>
          </a:gradFill>
        </p:spPr>
        <p:txBody>
          <a:bodyPr/>
          <a:lstStyle/>
          <a:p>
            <a:pPr algn="ctr"/>
            <a:r>
              <a:rPr lang="ko-KR" altLang="en-US" sz="4400">
                <a:latin typeface="MD아트체" pitchFamily="18" charset="-127"/>
                <a:ea typeface="MD아트체" pitchFamily="18" charset="-127"/>
              </a:rPr>
              <a:t>스마트농업기초통계</a:t>
            </a:r>
            <a:endParaRPr lang="ko-KR" altLang="en-US" sz="4400" dirty="0">
              <a:latin typeface="MD아트체" pitchFamily="18" charset="-127"/>
              <a:ea typeface="MD아트체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136C39-4D29-894A-DA84-B51150AEA37A}"/>
              </a:ext>
            </a:extLst>
          </p:cNvPr>
          <p:cNvSpPr txBox="1"/>
          <p:nvPr/>
        </p:nvSpPr>
        <p:spPr>
          <a:xfrm>
            <a:off x="1593669" y="3596640"/>
            <a:ext cx="5381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전남대학교</a:t>
            </a:r>
            <a:r>
              <a:rPr lang="en-US" altLang="ko-KR" dirty="0"/>
              <a:t> </a:t>
            </a:r>
            <a:r>
              <a:rPr lang="ko-KR" altLang="en-US" dirty="0" err="1"/>
              <a:t>나명환</a:t>
            </a:r>
            <a:r>
              <a:rPr lang="ko-KR" altLang="en-US" dirty="0"/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A550FB7-0510-D7F3-DB22-022DA926CE7F}"/>
              </a:ext>
            </a:extLst>
          </p:cNvPr>
          <p:cNvSpPr txBox="1"/>
          <p:nvPr/>
        </p:nvSpPr>
        <p:spPr>
          <a:xfrm>
            <a:off x="1114697" y="1271451"/>
            <a:ext cx="63311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dirty="0"/>
              <a:t>통계적 추론 </a:t>
            </a:r>
          </a:p>
        </p:txBody>
      </p:sp>
    </p:spTree>
    <p:extLst>
      <p:ext uri="{BB962C8B-B14F-4D97-AF65-F5344CB8AC3E}">
        <p14:creationId xmlns:p14="http://schemas.microsoft.com/office/powerpoint/2010/main" val="32085432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762000"/>
          </a:xfrm>
          <a:gradFill rotWithShape="0">
            <a:gsLst>
              <a:gs pos="0">
                <a:schemeClr val="bg1"/>
              </a:gs>
              <a:gs pos="100000">
                <a:srgbClr val="FFC9FF"/>
              </a:gs>
            </a:gsLst>
            <a:path path="shape">
              <a:fillToRect l="50000" t="50000" r="50000" b="50000"/>
            </a:path>
          </a:gradFill>
        </p:spPr>
        <p:txBody>
          <a:bodyPr/>
          <a:lstStyle/>
          <a:p>
            <a:r>
              <a:rPr lang="ko-KR" altLang="en-US">
                <a:latin typeface="휴먼매직체" pitchFamily="18" charset="-127"/>
                <a:ea typeface="휴먼매직체" pitchFamily="18" charset="-127"/>
              </a:rPr>
              <a:t>가설 검정의 예 </a:t>
            </a:r>
            <a:r>
              <a:rPr lang="en-US" altLang="ko-KR">
                <a:latin typeface="휴먼매직체" pitchFamily="18" charset="-127"/>
                <a:ea typeface="휴먼매직체" pitchFamily="18" charset="-127"/>
              </a:rPr>
              <a:t>1</a:t>
            </a:r>
          </a:p>
        </p:txBody>
      </p:sp>
      <p:sp>
        <p:nvSpPr>
          <p:cNvPr id="6147" name="Text Box 11"/>
          <p:cNvSpPr txBox="1">
            <a:spLocks noChangeArrowheads="1"/>
          </p:cNvSpPr>
          <p:nvPr/>
        </p:nvSpPr>
        <p:spPr bwMode="auto">
          <a:xfrm>
            <a:off x="609600" y="1447800"/>
            <a:ext cx="8077200" cy="440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l"/>
            <a:r>
              <a:rPr lang="ko-KR" altLang="en-US" sz="2800"/>
              <a:t>한 제약회사의 연구소에서는 진통효과가 더 빨리 나타날 것으로 기대되는 새로운 진통제를 개발하였다</a:t>
            </a:r>
            <a:r>
              <a:rPr lang="en-US" altLang="ko-KR" sz="2800"/>
              <a:t>. </a:t>
            </a:r>
          </a:p>
          <a:p>
            <a:pPr algn="l"/>
            <a:endParaRPr lang="en-US" altLang="ko-KR" sz="2800"/>
          </a:p>
          <a:p>
            <a:pPr algn="l"/>
            <a:r>
              <a:rPr lang="ko-KR" altLang="en-US" sz="2800"/>
              <a:t>이제</a:t>
            </a:r>
            <a:r>
              <a:rPr lang="en-US" altLang="ko-KR" sz="2800"/>
              <a:t>, </a:t>
            </a:r>
            <a:r>
              <a:rPr lang="ko-KR" altLang="en-US" sz="2800"/>
              <a:t>새로운 진통제의 진통효과가 더 빠르다는 것이 확실해지면 생산 공정을 변경하여 새로운 진통제를 생산하려고 한다</a:t>
            </a:r>
            <a:r>
              <a:rPr lang="en-US" altLang="ko-KR" sz="2800"/>
              <a:t>. </a:t>
            </a:r>
          </a:p>
          <a:p>
            <a:pPr algn="l"/>
            <a:endParaRPr lang="en-US" altLang="ko-KR" sz="2800"/>
          </a:p>
          <a:p>
            <a:pPr algn="l"/>
            <a:r>
              <a:rPr lang="ko-KR" altLang="en-US" sz="2800"/>
              <a:t>새로운 진통제의 진통효과가 더 빠른가를 확인하자</a:t>
            </a:r>
            <a:r>
              <a:rPr lang="en-US" altLang="ko-KR" sz="2800"/>
              <a:t>.</a:t>
            </a:r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17B8FA4B-AD53-4A91-2C24-57E248B5EC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762000"/>
          </a:xfrm>
          <a:gradFill rotWithShape="0">
            <a:gsLst>
              <a:gs pos="0">
                <a:schemeClr val="bg1"/>
              </a:gs>
              <a:gs pos="100000">
                <a:srgbClr val="FFC9FF"/>
              </a:gs>
            </a:gsLst>
            <a:path path="shape">
              <a:fillToRect l="50000" t="50000" r="50000" b="50000"/>
            </a:path>
          </a:gradFill>
        </p:spPr>
        <p:txBody>
          <a:bodyPr/>
          <a:lstStyle/>
          <a:p>
            <a:r>
              <a:rPr lang="ko-KR" altLang="en-US">
                <a:latin typeface="휴먼매직체" panose="02030504000101010101" pitchFamily="18" charset="-127"/>
                <a:ea typeface="휴먼매직체" panose="02030504000101010101" pitchFamily="18" charset="-127"/>
              </a:rPr>
              <a:t>가설 검정의 예 </a:t>
            </a:r>
            <a:r>
              <a:rPr lang="en-US" altLang="ko-KR">
                <a:latin typeface="휴먼매직체" panose="02030504000101010101" pitchFamily="18" charset="-127"/>
                <a:ea typeface="휴먼매직체" panose="02030504000101010101" pitchFamily="18" charset="-127"/>
              </a:rPr>
              <a:t>2</a:t>
            </a:r>
          </a:p>
        </p:txBody>
      </p:sp>
      <p:sp>
        <p:nvSpPr>
          <p:cNvPr id="9219" name="Text Box 11">
            <a:extLst>
              <a:ext uri="{FF2B5EF4-FFF2-40B4-BE49-F238E27FC236}">
                <a16:creationId xmlns:a16="http://schemas.microsoft.com/office/drawing/2014/main" id="{746D1DC5-C30B-7B47-7D3A-4E61F4B74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447800"/>
            <a:ext cx="8077200" cy="310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>
              <a:defRPr>
                <a:solidFill>
                  <a:srgbClr val="3333CC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defRPr>
                <a:solidFill>
                  <a:srgbClr val="3333CC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defRPr>
                <a:solidFill>
                  <a:srgbClr val="3333CC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defRPr>
                <a:solidFill>
                  <a:srgbClr val="3333CC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defRPr>
                <a:solidFill>
                  <a:srgbClr val="3333CC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l"/>
            <a:r>
              <a:rPr lang="ko-KR" altLang="en-US" sz="2800" dirty="0"/>
              <a:t>한 비료 제조회사의 연구소에서 생산중인 표준</a:t>
            </a:r>
            <a:r>
              <a:rPr lang="en-US" altLang="ko-KR" sz="2800" dirty="0"/>
              <a:t> </a:t>
            </a:r>
            <a:r>
              <a:rPr lang="ko-KR" altLang="en-US" sz="2800" dirty="0"/>
              <a:t>양파의 </a:t>
            </a:r>
            <a:r>
              <a:rPr lang="ko-KR" altLang="en-US" sz="2800" dirty="0" err="1"/>
              <a:t>수확률</a:t>
            </a:r>
            <a:r>
              <a:rPr lang="en-US" altLang="ko-KR" sz="2800" dirty="0"/>
              <a:t>(growth</a:t>
            </a:r>
            <a:r>
              <a:rPr lang="ko-KR" altLang="en-US" sz="2800" dirty="0"/>
              <a:t> </a:t>
            </a:r>
            <a:r>
              <a:rPr lang="en-US" altLang="ko-KR" sz="2800" dirty="0"/>
              <a:t>rate)</a:t>
            </a:r>
            <a:r>
              <a:rPr lang="ko-KR" altLang="en-US" sz="2800" dirty="0"/>
              <a:t>보다 더 수확률이 좋은 비료를 생산하고자 새로운 공법을 개발하였다</a:t>
            </a:r>
            <a:r>
              <a:rPr lang="en-US" altLang="ko-KR" sz="2800" dirty="0"/>
              <a:t>. </a:t>
            </a:r>
          </a:p>
          <a:p>
            <a:pPr algn="l"/>
            <a:endParaRPr lang="en-US" altLang="ko-KR" sz="2800" dirty="0"/>
          </a:p>
          <a:p>
            <a:pPr algn="l"/>
            <a:r>
              <a:rPr lang="ko-KR" altLang="en-US" sz="2800" dirty="0"/>
              <a:t>이 회사의 연구소에서 개발중인 새 공법에 의해 시제품을 생산하여 비료의 수확률을 측정하여 새로운 공법이 성공적인가를 확인하자</a:t>
            </a:r>
            <a:r>
              <a:rPr lang="en-US" altLang="ko-KR" sz="2800" dirty="0"/>
              <a:t>.</a:t>
            </a:r>
            <a:endParaRPr lang="ko-KR" alt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762000"/>
          </a:xfrm>
          <a:gradFill rotWithShape="0">
            <a:gsLst>
              <a:gs pos="0">
                <a:schemeClr val="bg1"/>
              </a:gs>
              <a:gs pos="100000">
                <a:srgbClr val="FFC9FF"/>
              </a:gs>
            </a:gsLst>
            <a:path path="shape">
              <a:fillToRect l="50000" t="50000" r="50000" b="50000"/>
            </a:path>
          </a:gradFill>
        </p:spPr>
        <p:txBody>
          <a:bodyPr/>
          <a:lstStyle/>
          <a:p>
            <a:r>
              <a:rPr lang="ko-KR" altLang="en-US">
                <a:latin typeface="휴먼매직체" pitchFamily="18" charset="-127"/>
                <a:ea typeface="휴먼매직체" pitchFamily="18" charset="-127"/>
              </a:rPr>
              <a:t>가설 검정의 예 </a:t>
            </a:r>
            <a:r>
              <a:rPr lang="en-US" altLang="ko-KR">
                <a:latin typeface="휴먼매직체" pitchFamily="18" charset="-127"/>
                <a:ea typeface="휴먼매직체" pitchFamily="18" charset="-127"/>
              </a:rPr>
              <a:t>3</a:t>
            </a:r>
          </a:p>
        </p:txBody>
      </p:sp>
      <p:sp>
        <p:nvSpPr>
          <p:cNvPr id="8195" name="Text Box 11"/>
          <p:cNvSpPr txBox="1">
            <a:spLocks noChangeArrowheads="1"/>
          </p:cNvSpPr>
          <p:nvPr/>
        </p:nvSpPr>
        <p:spPr bwMode="auto">
          <a:xfrm>
            <a:off x="609600" y="1447800"/>
            <a:ext cx="8077200" cy="354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l"/>
            <a:r>
              <a:rPr lang="ko-KR" altLang="en-US" sz="2800"/>
              <a:t>어떤 연구자가 새로운 다이어트 제품이 혈중 콜레스테롤 농도를 낮추는가에 대하여 연구를 하고 있다</a:t>
            </a:r>
            <a:r>
              <a:rPr lang="en-US" altLang="ko-KR" sz="2800"/>
              <a:t>. </a:t>
            </a:r>
            <a:r>
              <a:rPr lang="ko-KR" altLang="en-US" sz="2800"/>
              <a:t>대상 집단은 </a:t>
            </a:r>
            <a:r>
              <a:rPr lang="en-US" altLang="ko-KR" sz="2800"/>
              <a:t>40-59</a:t>
            </a:r>
            <a:r>
              <a:rPr lang="ko-KR" altLang="en-US" sz="2800"/>
              <a:t>세 사이의 성인 남자이다</a:t>
            </a:r>
            <a:r>
              <a:rPr lang="en-US" altLang="ko-KR" sz="2800"/>
              <a:t>. </a:t>
            </a:r>
          </a:p>
          <a:p>
            <a:pPr algn="l"/>
            <a:endParaRPr lang="en-US" altLang="ko-KR" sz="2800"/>
          </a:p>
          <a:p>
            <a:pPr algn="l"/>
            <a:r>
              <a:rPr lang="ko-KR" altLang="en-US" sz="2800"/>
              <a:t>그가 알고자 하는 것은 새로운 다이어트 제품을 먹는 사람과 정상인들 간에 혈중 콜레스테롤 농도가 같은가 다른가 이다</a:t>
            </a:r>
            <a:r>
              <a:rPr lang="en-US" altLang="ko-KR" sz="2800"/>
              <a:t>.</a:t>
            </a:r>
            <a:r>
              <a:rPr lang="ko-KR" altLang="en-US" sz="2800"/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solidFill>
                  <a:srgbClr val="000000"/>
                </a:solidFill>
                <a:ea typeface="굴림" pitchFamily="50" charset="-127"/>
              </a:rPr>
              <a:t>실험계획법의 기본원리 </a:t>
            </a:r>
            <a:r>
              <a:rPr lang="en-US" altLang="ko-KR">
                <a:solidFill>
                  <a:srgbClr val="000000"/>
                </a:solidFill>
                <a:ea typeface="굴림" pitchFamily="50" charset="-127"/>
              </a:rPr>
              <a:t>- </a:t>
            </a:r>
            <a:r>
              <a:rPr lang="ko-KR" altLang="en-US">
                <a:solidFill>
                  <a:srgbClr val="000000"/>
                </a:solidFill>
                <a:ea typeface="굴림" pitchFamily="50" charset="-127"/>
              </a:rPr>
              <a:t>비교실험</a:t>
            </a:r>
          </a:p>
        </p:txBody>
      </p:sp>
      <p:sp>
        <p:nvSpPr>
          <p:cNvPr id="9219" name="Text Box 3"/>
          <p:cNvSpPr txBox="1">
            <a:spLocks noChangeArrowheads="1"/>
          </p:cNvSpPr>
          <p:nvPr/>
        </p:nvSpPr>
        <p:spPr bwMode="auto">
          <a:xfrm>
            <a:off x="611188" y="1341438"/>
            <a:ext cx="8064500" cy="217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>
              <a:spcBef>
                <a:spcPct val="50000"/>
              </a:spcBef>
            </a:pPr>
            <a:r>
              <a:rPr lang="ko-KR" altLang="en-US" b="1"/>
              <a:t>예 </a:t>
            </a:r>
            <a:r>
              <a:rPr lang="en-US" altLang="ko-KR" b="1"/>
              <a:t>: </a:t>
            </a:r>
            <a:r>
              <a:rPr lang="ko-KR" altLang="en-US" b="1"/>
              <a:t>위냉동법</a:t>
            </a:r>
            <a:r>
              <a:rPr lang="en-US" altLang="ko-KR" b="1"/>
              <a:t>(gastric freezing) – </a:t>
            </a:r>
            <a:r>
              <a:rPr lang="ko-KR" altLang="en-US" b="1"/>
              <a:t>십이지장 궤양 치료법</a:t>
            </a:r>
          </a:p>
          <a:p>
            <a:pPr>
              <a:spcBef>
                <a:spcPct val="50000"/>
              </a:spcBef>
            </a:pPr>
            <a:r>
              <a:rPr lang="ko-KR" altLang="en-US"/>
              <a:t>환자에게 튜브와 연결된 오그라든 풍선을 삼키게 한 후 </a:t>
            </a:r>
            <a:r>
              <a:rPr lang="en-US" altLang="ko-KR"/>
              <a:t>1</a:t>
            </a:r>
            <a:r>
              <a:rPr lang="ko-KR" altLang="en-US"/>
              <a:t>시간동안 냉동용액을 풍선안으로 펌프질해 넣는 방법</a:t>
            </a:r>
            <a:r>
              <a:rPr lang="en-US" altLang="ko-KR"/>
              <a:t>. </a:t>
            </a:r>
            <a:r>
              <a:rPr lang="ko-KR" altLang="en-US"/>
              <a:t>위를 식혀서 위산분비를 억제하여 궤양을 완화               </a:t>
            </a:r>
          </a:p>
          <a:p>
            <a:pPr>
              <a:spcBef>
                <a:spcPct val="50000"/>
              </a:spcBef>
            </a:pPr>
            <a:r>
              <a:rPr lang="ko-KR" altLang="en-US"/>
              <a:t>실험 방법 </a:t>
            </a:r>
            <a:r>
              <a:rPr lang="en-US" altLang="ko-KR"/>
              <a:t>: </a:t>
            </a:r>
            <a:r>
              <a:rPr lang="ko-KR" altLang="en-US"/>
              <a:t>고통관측 </a:t>
            </a:r>
            <a:r>
              <a:rPr lang="en-US" altLang="ko-KR"/>
              <a:t>-&gt; </a:t>
            </a:r>
            <a:r>
              <a:rPr lang="ko-KR" altLang="en-US"/>
              <a:t>위냉동법처리 </a:t>
            </a:r>
            <a:r>
              <a:rPr lang="en-US" altLang="ko-KR"/>
              <a:t>-&gt; </a:t>
            </a:r>
            <a:r>
              <a:rPr lang="ko-KR" altLang="en-US"/>
              <a:t>고통관측 </a:t>
            </a:r>
          </a:p>
          <a:p>
            <a:pPr>
              <a:spcBef>
                <a:spcPct val="50000"/>
              </a:spcBef>
            </a:pPr>
            <a:r>
              <a:rPr lang="ko-KR" altLang="en-US"/>
              <a:t> </a:t>
            </a:r>
            <a:endParaRPr lang="en-US" altLang="ko-KR"/>
          </a:p>
        </p:txBody>
      </p:sp>
      <p:sp>
        <p:nvSpPr>
          <p:cNvPr id="2" name="TextBox 1"/>
          <p:cNvSpPr txBox="1">
            <a:spLocks noChangeArrowheads="1"/>
          </p:cNvSpPr>
          <p:nvPr/>
        </p:nvSpPr>
        <p:spPr bwMode="auto">
          <a:xfrm>
            <a:off x="749300" y="3409950"/>
            <a:ext cx="7743825" cy="1339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>
              <a:spcBef>
                <a:spcPct val="50000"/>
              </a:spcBef>
            </a:pPr>
            <a:r>
              <a:rPr lang="ko-KR" altLang="en-US">
                <a:solidFill>
                  <a:srgbClr val="1A0CD0"/>
                </a:solidFill>
              </a:rPr>
              <a:t>위약효과</a:t>
            </a:r>
            <a:r>
              <a:rPr lang="en-US" altLang="ko-KR">
                <a:solidFill>
                  <a:srgbClr val="1A0CD0"/>
                </a:solidFill>
              </a:rPr>
              <a:t>(placebo effect)</a:t>
            </a:r>
            <a:r>
              <a:rPr lang="en-US" altLang="ko-KR"/>
              <a:t> : </a:t>
            </a:r>
            <a:r>
              <a:rPr lang="ko-KR" altLang="en-US"/>
              <a:t>의사에 대한 신뢰감과 치료에 대한 기대감 때문으로 어떤 처방에도 환자는 긍정적인 반응</a:t>
            </a:r>
          </a:p>
          <a:p>
            <a:pPr>
              <a:spcBef>
                <a:spcPct val="50000"/>
              </a:spcBef>
            </a:pPr>
            <a:endParaRPr lang="en-US" altLang="ko-KR"/>
          </a:p>
          <a:p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solidFill>
                  <a:srgbClr val="000000"/>
                </a:solidFill>
                <a:ea typeface="굴림" pitchFamily="50" charset="-127"/>
              </a:rPr>
              <a:t>실험계획법의 기본원리 </a:t>
            </a:r>
            <a:r>
              <a:rPr lang="en-US" altLang="ko-KR">
                <a:solidFill>
                  <a:srgbClr val="000000"/>
                </a:solidFill>
                <a:ea typeface="굴림" pitchFamily="50" charset="-127"/>
              </a:rPr>
              <a:t>- </a:t>
            </a:r>
            <a:r>
              <a:rPr lang="ko-KR" altLang="en-US">
                <a:solidFill>
                  <a:srgbClr val="000000"/>
                </a:solidFill>
                <a:ea typeface="굴림" pitchFamily="50" charset="-127"/>
              </a:rPr>
              <a:t>비교실험</a:t>
            </a:r>
          </a:p>
        </p:txBody>
      </p:sp>
      <p:sp>
        <p:nvSpPr>
          <p:cNvPr id="10243" name="Text Box 3"/>
          <p:cNvSpPr txBox="1">
            <a:spLocks noChangeArrowheads="1"/>
          </p:cNvSpPr>
          <p:nvPr/>
        </p:nvSpPr>
        <p:spPr bwMode="auto">
          <a:xfrm>
            <a:off x="611188" y="1341438"/>
            <a:ext cx="8064500" cy="3560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>
              <a:spcBef>
                <a:spcPct val="50000"/>
              </a:spcBef>
            </a:pPr>
            <a:r>
              <a:rPr lang="ko-KR" altLang="en-US" b="1"/>
              <a:t>위냉동법</a:t>
            </a:r>
            <a:r>
              <a:rPr lang="en-US" altLang="ko-KR" b="1"/>
              <a:t>(gastric freezing) – </a:t>
            </a:r>
            <a:r>
              <a:rPr lang="ko-KR" altLang="en-US" b="1"/>
              <a:t>비교실험</a:t>
            </a:r>
          </a:p>
          <a:p>
            <a:pPr>
              <a:spcBef>
                <a:spcPct val="50000"/>
              </a:spcBef>
            </a:pPr>
            <a:r>
              <a:rPr lang="ko-KR" altLang="en-US">
                <a:solidFill>
                  <a:srgbClr val="1A0CD0"/>
                </a:solidFill>
              </a:rPr>
              <a:t>처리집단</a:t>
            </a:r>
            <a:r>
              <a:rPr lang="en-US" altLang="ko-KR">
                <a:solidFill>
                  <a:srgbClr val="1A0CD0"/>
                </a:solidFill>
              </a:rPr>
              <a:t>(treatment group)</a:t>
            </a:r>
            <a:r>
              <a:rPr lang="en-US" altLang="ko-KR"/>
              <a:t> : </a:t>
            </a:r>
            <a:r>
              <a:rPr lang="ko-KR" altLang="en-US"/>
              <a:t>위냉동법 처리를 받은 그룹              </a:t>
            </a:r>
          </a:p>
          <a:p>
            <a:pPr>
              <a:spcBef>
                <a:spcPct val="50000"/>
              </a:spcBef>
            </a:pPr>
            <a:r>
              <a:rPr lang="ko-KR" altLang="en-US"/>
              <a:t>      </a:t>
            </a:r>
            <a:r>
              <a:rPr lang="en-US" altLang="ko-KR"/>
              <a:t>82</a:t>
            </a:r>
            <a:r>
              <a:rPr lang="ko-KR" altLang="en-US"/>
              <a:t>명 환자중 </a:t>
            </a:r>
            <a:r>
              <a:rPr lang="en-US" altLang="ko-KR"/>
              <a:t>34%</a:t>
            </a:r>
            <a:r>
              <a:rPr lang="ko-KR" altLang="en-US"/>
              <a:t>가 증상 호전</a:t>
            </a:r>
          </a:p>
          <a:p>
            <a:pPr>
              <a:spcBef>
                <a:spcPct val="50000"/>
              </a:spcBef>
            </a:pPr>
            <a:r>
              <a:rPr lang="ko-KR" altLang="en-US">
                <a:solidFill>
                  <a:srgbClr val="1A0CD0"/>
                </a:solidFill>
              </a:rPr>
              <a:t>통제집단</a:t>
            </a:r>
            <a:r>
              <a:rPr lang="en-US" altLang="ko-KR">
                <a:solidFill>
                  <a:srgbClr val="1A0CD0"/>
                </a:solidFill>
              </a:rPr>
              <a:t>(control group)</a:t>
            </a:r>
            <a:r>
              <a:rPr lang="en-US" altLang="ko-KR"/>
              <a:t> : </a:t>
            </a:r>
            <a:r>
              <a:rPr lang="ko-KR" altLang="en-US"/>
              <a:t>상온처리를 받은 환자그룹</a:t>
            </a:r>
          </a:p>
          <a:p>
            <a:pPr>
              <a:spcBef>
                <a:spcPct val="50000"/>
              </a:spcBef>
            </a:pPr>
            <a:r>
              <a:rPr lang="ko-KR" altLang="en-US"/>
              <a:t>      </a:t>
            </a:r>
            <a:r>
              <a:rPr lang="en-US" altLang="ko-KR"/>
              <a:t>78</a:t>
            </a:r>
            <a:r>
              <a:rPr lang="ko-KR" altLang="en-US"/>
              <a:t>명 환자중 </a:t>
            </a:r>
            <a:r>
              <a:rPr lang="en-US" altLang="ko-KR"/>
              <a:t>38%</a:t>
            </a:r>
            <a:r>
              <a:rPr lang="ko-KR" altLang="en-US"/>
              <a:t>가 증상 호전</a:t>
            </a:r>
          </a:p>
          <a:p>
            <a:pPr>
              <a:spcBef>
                <a:spcPct val="50000"/>
              </a:spcBef>
            </a:pPr>
            <a:r>
              <a:rPr lang="ko-KR" altLang="en-US"/>
              <a:t>통제집단은 관심인자 이외의 다른 외부인자의 효과를 통제하는 그룹</a:t>
            </a:r>
          </a:p>
        </p:txBody>
      </p:sp>
      <p:sp>
        <p:nvSpPr>
          <p:cNvPr id="65540" name="Text Box 7"/>
          <p:cNvSpPr txBox="1">
            <a:spLocks noChangeArrowheads="1"/>
          </p:cNvSpPr>
          <p:nvPr/>
        </p:nvSpPr>
        <p:spPr bwMode="auto">
          <a:xfrm>
            <a:off x="611188" y="5229225"/>
            <a:ext cx="784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>
              <a:spcBef>
                <a:spcPct val="50000"/>
              </a:spcBef>
            </a:pPr>
            <a:r>
              <a:rPr lang="ko-KR" altLang="en-US" b="1"/>
              <a:t>관심인자 이외의 다른 외부인자의 효과를 최소화한다</a:t>
            </a:r>
            <a:r>
              <a:rPr lang="en-US" altLang="ko-KR" b="1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4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제목 1">
            <a:extLst>
              <a:ext uri="{FF2B5EF4-FFF2-40B4-BE49-F238E27FC236}">
                <a16:creationId xmlns:a16="http://schemas.microsoft.com/office/drawing/2014/main" id="{60598A44-3A27-577E-ABAD-0E5AE157A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ea typeface="굴림" panose="020B0600000101010101" pitchFamily="50" charset="-127"/>
              </a:rPr>
              <a:t>비교 실험 결과 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40A0FB26-56BA-8E62-BBF9-9D9BF8667BA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089150" y="1185863"/>
          <a:ext cx="4851400" cy="4083052"/>
        </p:xfrm>
        <a:graphic>
          <a:graphicData uri="http://schemas.openxmlformats.org/drawingml/2006/table">
            <a:tbl>
              <a:tblPr/>
              <a:tblGrid>
                <a:gridCol w="269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5222"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Standard fertilizer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T="45723" marB="4572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Extragrow</a:t>
                      </a: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fertilizer 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T="45723" marB="4572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83"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0.8    1.1    0.7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T="45723" marB="4572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1.9    2.3    1.0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T="45723" marB="4572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83"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0.8    1.2    1.7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T="45723" marB="4572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1.0    1.8    1.1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T="45723" marB="4572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83"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1.3    1.0    1.5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T="45723" marB="4572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1.8    2.2    1.2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T="45723" marB="4572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83"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0.5    1.3    1.4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T="45723" marB="4572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1.7    1.7    2.2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T="45723" marB="4572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83"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1.8    0.9    1.1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T="45723" marB="4572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0.8    1.1    1.2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T="45723" marB="4572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83"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1.6    1.0    1.2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T="45723" marB="4572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0.9    1.5    0.7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T="45723" marB="4572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83"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0.7    0.5    0.9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T="45723" marB="4572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0.9    1.1    2.0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T="45723" marB="4572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83"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0.4    0.8    1.3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T="45723" marB="4572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1.5    1.6    0.7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T="45723" marB="4572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83"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1.0    1.4    0.4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T="45723" marB="4572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0.7    0.9    1.3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T="45723" marB="4572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83"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1.3    1.2    1.3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T="45723" marB="4572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1.0    0.8    1.0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T="45723" marB="4572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2D7B0E1-2779-FE02-2C7B-33FAD2FF3D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2438" y="5527675"/>
            <a:ext cx="3327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>
              <a:defRPr>
                <a:solidFill>
                  <a:srgbClr val="3333CC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defRPr>
                <a:solidFill>
                  <a:srgbClr val="3333CC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defRPr>
                <a:solidFill>
                  <a:srgbClr val="3333CC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defRPr>
                <a:solidFill>
                  <a:srgbClr val="3333CC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defRPr>
                <a:solidFill>
                  <a:srgbClr val="3333CC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ko-KR" altLang="en-US"/>
              <a:t>분석</a:t>
            </a:r>
            <a:r>
              <a:rPr lang="en-US" altLang="ko-KR"/>
              <a:t> </a:t>
            </a:r>
            <a:r>
              <a:rPr lang="ko-KR" altLang="en-US"/>
              <a:t>방법은</a:t>
            </a:r>
            <a:r>
              <a:rPr lang="en-US" altLang="ko-KR"/>
              <a:t>? </a:t>
            </a:r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935073-ADDE-5F62-4314-5FFE40EB10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0275" y="5514975"/>
            <a:ext cx="33289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>
              <a:defRPr>
                <a:solidFill>
                  <a:srgbClr val="3333CC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ctr">
              <a:defRPr>
                <a:solidFill>
                  <a:srgbClr val="3333CC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ctr">
              <a:defRPr>
                <a:solidFill>
                  <a:srgbClr val="3333CC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ctr">
              <a:defRPr>
                <a:solidFill>
                  <a:srgbClr val="3333CC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ctr">
              <a:defRPr>
                <a:solidFill>
                  <a:srgbClr val="3333CC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ko-KR" altLang="en-US"/>
              <a:t>독립표본 </a:t>
            </a:r>
            <a:r>
              <a:rPr lang="en-US" altLang="ko-KR"/>
              <a:t>T – </a:t>
            </a:r>
            <a:r>
              <a:rPr lang="ko-KR" altLang="en-US"/>
              <a:t>검정</a:t>
            </a:r>
            <a:r>
              <a:rPr lang="en-US" altLang="ko-KR"/>
              <a:t> </a:t>
            </a:r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762000"/>
          </a:xfrm>
          <a:gradFill rotWithShape="0">
            <a:gsLst>
              <a:gs pos="0">
                <a:schemeClr val="bg1"/>
              </a:gs>
              <a:gs pos="100000">
                <a:srgbClr val="FFC9FF"/>
              </a:gs>
            </a:gsLst>
            <a:path path="shape">
              <a:fillToRect l="50000" t="50000" r="50000" b="50000"/>
            </a:path>
          </a:gradFill>
        </p:spPr>
        <p:txBody>
          <a:bodyPr/>
          <a:lstStyle/>
          <a:p>
            <a:r>
              <a:rPr lang="ko-KR" altLang="en-US">
                <a:latin typeface="휴먼매직체" pitchFamily="18" charset="-127"/>
                <a:ea typeface="휴먼매직체" pitchFamily="18" charset="-127"/>
              </a:rPr>
              <a:t>가설 검정이란</a:t>
            </a:r>
            <a:r>
              <a:rPr lang="en-US" altLang="ko-KR">
                <a:latin typeface="휴먼매직체" pitchFamily="18" charset="-127"/>
                <a:ea typeface="휴먼매직체" pitchFamily="18" charset="-127"/>
              </a:rPr>
              <a:t>?</a:t>
            </a:r>
          </a:p>
        </p:txBody>
      </p:sp>
      <p:sp>
        <p:nvSpPr>
          <p:cNvPr id="12291" name="Text Box 11"/>
          <p:cNvSpPr txBox="1">
            <a:spLocks noChangeArrowheads="1"/>
          </p:cNvSpPr>
          <p:nvPr/>
        </p:nvSpPr>
        <p:spPr bwMode="auto">
          <a:xfrm>
            <a:off x="609600" y="1447800"/>
            <a:ext cx="8077200" cy="440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ko-KR" altLang="en-US" sz="2800" dirty="0"/>
              <a:t>가설 </a:t>
            </a:r>
            <a:r>
              <a:rPr lang="en-US" altLang="ko-KR" sz="2800" dirty="0"/>
              <a:t>: </a:t>
            </a:r>
            <a:r>
              <a:rPr lang="ko-KR" altLang="en-US" sz="2800" dirty="0"/>
              <a:t>진위가 밝혀지지 않은 잠정적인 진술</a:t>
            </a:r>
            <a:r>
              <a:rPr lang="en-US" altLang="ko-KR" sz="2800" dirty="0"/>
              <a:t> </a:t>
            </a:r>
            <a:endParaRPr lang="ko-KR" altLang="en-US" sz="2800" dirty="0"/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ko-KR" altLang="en-US" sz="2800" dirty="0"/>
              <a:t>가설 종류 </a:t>
            </a:r>
            <a:r>
              <a:rPr lang="en-US" altLang="ko-KR" sz="2800" dirty="0"/>
              <a:t>: </a:t>
            </a:r>
            <a:r>
              <a:rPr lang="ko-KR" altLang="en-US" sz="2800" dirty="0"/>
              <a:t>상반되는 두 가설</a:t>
            </a:r>
            <a:r>
              <a:rPr lang="en-US" altLang="ko-KR" sz="2800" dirty="0"/>
              <a:t>(</a:t>
            </a:r>
            <a:r>
              <a:rPr lang="ko-KR" altLang="en-US" sz="2800" dirty="0" err="1"/>
              <a:t>귀무가설</a:t>
            </a:r>
            <a:r>
              <a:rPr lang="en-US" altLang="ko-KR" sz="2800" dirty="0"/>
              <a:t>, </a:t>
            </a:r>
            <a:r>
              <a:rPr lang="ko-KR" altLang="en-US" sz="2800" dirty="0" err="1"/>
              <a:t>대립가설</a:t>
            </a:r>
            <a:r>
              <a:rPr lang="en-US" altLang="ko-KR" sz="2800" dirty="0"/>
              <a:t>)</a:t>
            </a:r>
            <a:r>
              <a:rPr lang="ko-KR" altLang="en-US" sz="2800" dirty="0"/>
              <a:t> 을 설정</a:t>
            </a:r>
            <a:r>
              <a:rPr lang="en-US" altLang="ko-KR" sz="2800" dirty="0"/>
              <a:t>.</a:t>
            </a:r>
            <a:r>
              <a:rPr lang="ko-KR" altLang="en-US" sz="2800" dirty="0"/>
              <a:t> </a:t>
            </a: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ko-KR" altLang="en-US" sz="2800" dirty="0" err="1"/>
              <a:t>귀무가설</a:t>
            </a:r>
            <a:endParaRPr lang="en-US" altLang="ko-KR" sz="2800" dirty="0"/>
          </a:p>
          <a:p>
            <a:pPr algn="l"/>
            <a:r>
              <a:rPr lang="ko-KR" altLang="en-US" sz="2800" dirty="0"/>
              <a:t> </a:t>
            </a:r>
            <a:r>
              <a:rPr lang="en-US" altLang="ko-KR" sz="2800" dirty="0"/>
              <a:t>- </a:t>
            </a:r>
            <a:r>
              <a:rPr lang="ko-KR" altLang="en-US" sz="2800" dirty="0"/>
              <a:t>반대 증거를 찾기 위하여 상정된 가설</a:t>
            </a:r>
            <a:endParaRPr lang="en-US" altLang="ko-KR" sz="2800" dirty="0"/>
          </a:p>
          <a:p>
            <a:pPr algn="l"/>
            <a:r>
              <a:rPr lang="en-US" altLang="ko-KR" sz="2800" dirty="0"/>
              <a:t> - </a:t>
            </a:r>
            <a:r>
              <a:rPr lang="ko-KR" altLang="en-US" sz="2800" dirty="0"/>
              <a:t>두 가설 중 더 일반적인 사실 또는 기존 연구에서 인정된 사실 등을 진술하는 가설</a:t>
            </a:r>
            <a:r>
              <a:rPr lang="en-US" altLang="ko-KR" sz="2800" dirty="0"/>
              <a:t>. </a:t>
            </a:r>
            <a:endParaRPr lang="ko-KR" altLang="en-US" sz="2800" dirty="0"/>
          </a:p>
          <a:p>
            <a:pPr algn="l"/>
            <a:r>
              <a:rPr lang="en-US" altLang="ko-KR" sz="2800" dirty="0"/>
              <a:t> - </a:t>
            </a:r>
            <a:r>
              <a:rPr lang="ko-KR" altLang="en-US" sz="2800" dirty="0"/>
              <a:t>보통 ‘</a:t>
            </a:r>
            <a:r>
              <a:rPr lang="en-US" altLang="ko-KR" sz="2800" dirty="0"/>
              <a:t>~</a:t>
            </a:r>
            <a:r>
              <a:rPr lang="ko-KR" altLang="en-US" sz="2800" dirty="0"/>
              <a:t>이다’</a:t>
            </a:r>
            <a:r>
              <a:rPr lang="en-US" altLang="ko-KR" sz="2800" dirty="0"/>
              <a:t>, ‘</a:t>
            </a:r>
            <a:r>
              <a:rPr lang="ko-KR" altLang="en-US" sz="2800" dirty="0"/>
              <a:t>같다’</a:t>
            </a:r>
            <a:r>
              <a:rPr lang="en-US" altLang="ko-KR" sz="2800" dirty="0"/>
              <a:t>, ‘</a:t>
            </a:r>
            <a:r>
              <a:rPr lang="ko-KR" altLang="en-US" sz="2800" dirty="0"/>
              <a:t>차이가 없다’ 등의 의미로 표현 </a:t>
            </a:r>
          </a:p>
          <a:p>
            <a:pPr algn="l"/>
            <a:r>
              <a:rPr lang="ko-KR" altLang="en-US" sz="2800" dirty="0"/>
              <a:t>   예</a:t>
            </a:r>
            <a:r>
              <a:rPr lang="en-US" altLang="ko-KR" sz="2800" dirty="0"/>
              <a:t>) </a:t>
            </a:r>
            <a:r>
              <a:rPr lang="ko-KR" altLang="en-US" sz="2800" dirty="0"/>
              <a:t>혈중 콜레스테롤 농도가 같다</a:t>
            </a:r>
            <a:r>
              <a:rPr lang="en-US" altLang="ko-KR" sz="2800" dirty="0"/>
              <a:t>.</a:t>
            </a:r>
            <a:r>
              <a:rPr lang="ko-KR" altLang="en-US" sz="2800" dirty="0"/>
              <a:t>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762000"/>
          </a:xfrm>
          <a:gradFill rotWithShape="0">
            <a:gsLst>
              <a:gs pos="0">
                <a:schemeClr val="bg1"/>
              </a:gs>
              <a:gs pos="100000">
                <a:srgbClr val="FFC9FF"/>
              </a:gs>
            </a:gsLst>
            <a:path path="shape">
              <a:fillToRect l="50000" t="50000" r="50000" b="50000"/>
            </a:path>
          </a:gradFill>
        </p:spPr>
        <p:txBody>
          <a:bodyPr/>
          <a:lstStyle/>
          <a:p>
            <a:r>
              <a:rPr lang="ko-KR" altLang="en-US">
                <a:latin typeface="휴먼매직체" pitchFamily="18" charset="-127"/>
                <a:ea typeface="휴먼매직체" pitchFamily="18" charset="-127"/>
              </a:rPr>
              <a:t>가설 검정이란</a:t>
            </a:r>
            <a:r>
              <a:rPr lang="en-US" altLang="ko-KR">
                <a:latin typeface="휴먼매직체" pitchFamily="18" charset="-127"/>
                <a:ea typeface="휴먼매직체" pitchFamily="18" charset="-127"/>
              </a:rPr>
              <a:t>?</a:t>
            </a:r>
          </a:p>
        </p:txBody>
      </p:sp>
      <p:sp>
        <p:nvSpPr>
          <p:cNvPr id="13315" name="Text Box 11"/>
          <p:cNvSpPr txBox="1">
            <a:spLocks noChangeArrowheads="1"/>
          </p:cNvSpPr>
          <p:nvPr/>
        </p:nvSpPr>
        <p:spPr bwMode="auto">
          <a:xfrm>
            <a:off x="609600" y="1447800"/>
            <a:ext cx="8077200" cy="3970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ko-KR" altLang="en-US" sz="2800" dirty="0" err="1"/>
              <a:t>대립가설</a:t>
            </a:r>
            <a:r>
              <a:rPr lang="ko-KR" altLang="en-US" sz="2800" dirty="0"/>
              <a:t> </a:t>
            </a:r>
            <a:endParaRPr lang="en-US" altLang="ko-KR" sz="2800" dirty="0"/>
          </a:p>
          <a:p>
            <a:pPr algn="l"/>
            <a:r>
              <a:rPr lang="ko-KR" altLang="en-US" sz="2800" dirty="0"/>
              <a:t> </a:t>
            </a:r>
            <a:r>
              <a:rPr lang="en-US" altLang="ko-KR" sz="2800" dirty="0"/>
              <a:t>- </a:t>
            </a:r>
            <a:r>
              <a:rPr lang="ko-KR" altLang="en-US" sz="2800" dirty="0"/>
              <a:t>자료로 부터 확실한 근거에 의하여 입증하고자 하는 가설</a:t>
            </a:r>
            <a:endParaRPr lang="en-US" altLang="ko-KR" sz="2800" dirty="0"/>
          </a:p>
          <a:p>
            <a:pPr algn="l"/>
            <a:r>
              <a:rPr lang="en-US" altLang="ko-KR" sz="2800" dirty="0"/>
              <a:t> - </a:t>
            </a:r>
            <a:r>
              <a:rPr lang="ko-KR" altLang="en-US" sz="2800" dirty="0" err="1"/>
              <a:t>귀무가설에</a:t>
            </a:r>
            <a:r>
              <a:rPr lang="ko-KR" altLang="en-US" sz="2800" dirty="0"/>
              <a:t> 상반되는 가설 </a:t>
            </a:r>
          </a:p>
          <a:p>
            <a:pPr algn="l"/>
            <a:r>
              <a:rPr lang="ko-KR" altLang="en-US" sz="2800" dirty="0"/>
              <a:t> </a:t>
            </a:r>
            <a:r>
              <a:rPr lang="en-US" altLang="ko-KR" sz="2800" dirty="0"/>
              <a:t>- </a:t>
            </a:r>
            <a:r>
              <a:rPr lang="ko-KR" altLang="en-US" sz="2800" dirty="0"/>
              <a:t>보통은 연구자가 밝히고자</a:t>
            </a:r>
            <a:r>
              <a:rPr lang="en-US" altLang="ko-KR" sz="2800" dirty="0"/>
              <a:t>(</a:t>
            </a:r>
            <a:r>
              <a:rPr lang="ko-KR" altLang="en-US" sz="2800" dirty="0"/>
              <a:t>주장</a:t>
            </a:r>
            <a:r>
              <a:rPr lang="en-US" altLang="ko-KR" sz="2800" dirty="0"/>
              <a:t>) </a:t>
            </a:r>
            <a:r>
              <a:rPr lang="ko-KR" altLang="en-US" sz="2800" dirty="0"/>
              <a:t>하는 사실에 해당</a:t>
            </a:r>
            <a:r>
              <a:rPr lang="en-US" altLang="ko-KR" sz="2800" dirty="0"/>
              <a:t>.</a:t>
            </a:r>
            <a:r>
              <a:rPr lang="ko-KR" altLang="en-US" sz="2800" dirty="0"/>
              <a:t> </a:t>
            </a:r>
          </a:p>
          <a:p>
            <a:pPr algn="l"/>
            <a:r>
              <a:rPr lang="ko-KR" altLang="en-US" sz="2800" dirty="0"/>
              <a:t> </a:t>
            </a:r>
            <a:r>
              <a:rPr lang="en-US" altLang="ko-KR" sz="2800" dirty="0"/>
              <a:t>- </a:t>
            </a:r>
            <a:r>
              <a:rPr lang="ko-KR" altLang="en-US" sz="2800" dirty="0"/>
              <a:t>보통 ‘</a:t>
            </a:r>
            <a:r>
              <a:rPr lang="en-US" altLang="ko-KR" sz="2800" dirty="0"/>
              <a:t>~</a:t>
            </a:r>
            <a:r>
              <a:rPr lang="ko-KR" altLang="en-US" sz="2800" dirty="0"/>
              <a:t>아니다’</a:t>
            </a:r>
            <a:r>
              <a:rPr lang="en-US" altLang="ko-KR" sz="2800" dirty="0"/>
              <a:t>,‘</a:t>
            </a:r>
            <a:r>
              <a:rPr lang="ko-KR" altLang="en-US" sz="2800" dirty="0"/>
              <a:t>같지 않다’</a:t>
            </a:r>
            <a:r>
              <a:rPr lang="en-US" altLang="ko-KR" sz="2800" dirty="0"/>
              <a:t>, ‘</a:t>
            </a:r>
            <a:r>
              <a:rPr lang="ko-KR" altLang="en-US" sz="2800" dirty="0"/>
              <a:t>차이가 있다’</a:t>
            </a:r>
            <a:r>
              <a:rPr lang="en-US" altLang="ko-KR" sz="2800" dirty="0"/>
              <a:t>, ‘</a:t>
            </a:r>
            <a:r>
              <a:rPr lang="ko-KR" altLang="en-US" sz="2800" dirty="0"/>
              <a:t>크다’</a:t>
            </a:r>
            <a:r>
              <a:rPr lang="en-US" altLang="ko-KR" sz="2800" dirty="0"/>
              <a:t>, ‘</a:t>
            </a:r>
            <a:r>
              <a:rPr lang="ko-KR" altLang="en-US" sz="2800" dirty="0"/>
              <a:t>작다’ 등의 의미로 표현 </a:t>
            </a:r>
          </a:p>
          <a:p>
            <a:r>
              <a:rPr lang="ko-KR" altLang="en-US" sz="2800" dirty="0"/>
              <a:t>  예</a:t>
            </a:r>
            <a:r>
              <a:rPr lang="en-US" altLang="ko-KR" sz="2800" dirty="0"/>
              <a:t>) </a:t>
            </a:r>
            <a:r>
              <a:rPr lang="ko-KR" altLang="en-US" sz="2800" dirty="0"/>
              <a:t>새로운 진통제의 진통효과가 더 빠르다</a:t>
            </a:r>
            <a:r>
              <a:rPr lang="en-US" altLang="ko-KR" sz="2800" dirty="0"/>
              <a:t>.</a:t>
            </a:r>
            <a:endParaRPr lang="ko-KR" altLang="en-US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3"/>
          <p:cNvSpPr>
            <a:spLocks noChangeArrowheads="1"/>
          </p:cNvSpPr>
          <p:nvPr/>
        </p:nvSpPr>
        <p:spPr bwMode="auto">
          <a:xfrm>
            <a:off x="304800" y="1295400"/>
            <a:ext cx="8458200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>
              <a:lnSpc>
                <a:spcPct val="150000"/>
              </a:lnSpc>
              <a:spcBef>
                <a:spcPct val="50000"/>
              </a:spcBef>
              <a:buFont typeface="Wingdings" pitchFamily="2" charset="2"/>
              <a:buChar char="Ø"/>
            </a:pPr>
            <a:r>
              <a:rPr lang="en-US" altLang="ko-KR" b="1">
                <a:solidFill>
                  <a:srgbClr val="A50021"/>
                </a:solidFill>
              </a:rPr>
              <a:t>  (</a:t>
            </a:r>
            <a:r>
              <a:rPr lang="ko-KR" altLang="en-US" b="1">
                <a:solidFill>
                  <a:srgbClr val="A50021"/>
                </a:solidFill>
              </a:rPr>
              <a:t>가설</a:t>
            </a:r>
            <a:r>
              <a:rPr lang="en-US" altLang="ko-KR" b="1">
                <a:solidFill>
                  <a:srgbClr val="A50021"/>
                </a:solidFill>
              </a:rPr>
              <a:t>)</a:t>
            </a:r>
            <a:endParaRPr lang="en-US" altLang="ko-KR" sz="1600" b="1"/>
          </a:p>
        </p:txBody>
      </p:sp>
      <p:graphicFrame>
        <p:nvGraphicFramePr>
          <p:cNvPr id="14339" name="Object 2"/>
          <p:cNvGraphicFramePr>
            <a:graphicFrameLocks noChangeAspect="1"/>
          </p:cNvGraphicFramePr>
          <p:nvPr/>
        </p:nvGraphicFramePr>
        <p:xfrm>
          <a:off x="4521200" y="3333750"/>
          <a:ext cx="1016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3" name="Equation" r:id="rId4" imgW="101556" imgH="190417" progId="Equation.3">
                  <p:embed/>
                </p:oleObj>
              </mc:Choice>
              <mc:Fallback>
                <p:oleObj name="Equation" r:id="rId4" imgW="101556" imgH="190417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1200" y="3333750"/>
                        <a:ext cx="101600" cy="190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340" name="Group 10"/>
          <p:cNvGrpSpPr>
            <a:grpSpLocks noChangeAspect="1"/>
          </p:cNvGrpSpPr>
          <p:nvPr/>
        </p:nvGrpSpPr>
        <p:grpSpPr bwMode="auto">
          <a:xfrm>
            <a:off x="1258888" y="1844675"/>
            <a:ext cx="6985000" cy="2112963"/>
            <a:chOff x="793" y="1162"/>
            <a:chExt cx="4400" cy="1331"/>
          </a:xfrm>
        </p:grpSpPr>
        <p:sp>
          <p:nvSpPr>
            <p:cNvPr id="14342" name="AutoShape 9"/>
            <p:cNvSpPr>
              <a:spLocks noChangeAspect="1" noChangeArrowheads="1" noTextEdit="1"/>
            </p:cNvSpPr>
            <p:nvPr/>
          </p:nvSpPr>
          <p:spPr bwMode="auto">
            <a:xfrm>
              <a:off x="793" y="1162"/>
              <a:ext cx="4400" cy="1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343" name="Rectangle 11"/>
            <p:cNvSpPr>
              <a:spLocks noChangeArrowheads="1"/>
            </p:cNvSpPr>
            <p:nvPr/>
          </p:nvSpPr>
          <p:spPr bwMode="auto">
            <a:xfrm>
              <a:off x="3808" y="2283"/>
              <a:ext cx="10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>
                  <a:solidFill>
                    <a:srgbClr val="000000"/>
                  </a:solidFill>
                  <a:latin typeface="Times New Roman" pitchFamily="18" charset="0"/>
                </a:rPr>
                <a:t>.</a:t>
              </a:r>
              <a:endParaRPr lang="en-US" altLang="ko-KR"/>
            </a:p>
          </p:txBody>
        </p:sp>
        <p:sp>
          <p:nvSpPr>
            <p:cNvPr id="14344" name="Rectangle 12"/>
            <p:cNvSpPr>
              <a:spLocks noChangeArrowheads="1"/>
            </p:cNvSpPr>
            <p:nvPr/>
          </p:nvSpPr>
          <p:spPr bwMode="auto">
            <a:xfrm>
              <a:off x="3372" y="2288"/>
              <a:ext cx="400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1900">
                  <a:solidFill>
                    <a:srgbClr val="000000"/>
                  </a:solidFill>
                  <a:latin typeface="Times New Roman" pitchFamily="18" charset="0"/>
                </a:rPr>
                <a:t>설정</a:t>
              </a:r>
              <a:endParaRPr lang="ko-KR" altLang="en-US"/>
            </a:p>
          </p:txBody>
        </p:sp>
        <p:sp>
          <p:nvSpPr>
            <p:cNvPr id="14345" name="Rectangle 13"/>
            <p:cNvSpPr>
              <a:spLocks noChangeArrowheads="1"/>
            </p:cNvSpPr>
            <p:nvPr/>
          </p:nvSpPr>
          <p:spPr bwMode="auto">
            <a:xfrm>
              <a:off x="3304" y="2283"/>
              <a:ext cx="14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>
                  <a:solidFill>
                    <a:srgbClr val="000000"/>
                  </a:solidFill>
                  <a:latin typeface="Times New Roman" pitchFamily="18" charset="0"/>
                </a:rPr>
                <a:t>  </a:t>
              </a:r>
              <a:endParaRPr lang="en-US" altLang="ko-KR"/>
            </a:p>
          </p:txBody>
        </p:sp>
        <p:sp>
          <p:nvSpPr>
            <p:cNvPr id="14346" name="Rectangle 14"/>
            <p:cNvSpPr>
              <a:spLocks noChangeArrowheads="1"/>
            </p:cNvSpPr>
            <p:nvPr/>
          </p:nvSpPr>
          <p:spPr bwMode="auto">
            <a:xfrm>
              <a:off x="2867" y="2288"/>
              <a:ext cx="400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1900">
                  <a:solidFill>
                    <a:srgbClr val="000000"/>
                  </a:solidFill>
                  <a:latin typeface="Times New Roman" pitchFamily="18" charset="0"/>
                </a:rPr>
                <a:t>가설</a:t>
              </a:r>
              <a:endParaRPr lang="ko-KR" altLang="en-US"/>
            </a:p>
          </p:txBody>
        </p:sp>
        <p:sp>
          <p:nvSpPr>
            <p:cNvPr id="14347" name="Rectangle 15"/>
            <p:cNvSpPr>
              <a:spLocks noChangeArrowheads="1"/>
            </p:cNvSpPr>
            <p:nvPr/>
          </p:nvSpPr>
          <p:spPr bwMode="auto">
            <a:xfrm>
              <a:off x="2496" y="2283"/>
              <a:ext cx="14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>
                  <a:solidFill>
                    <a:srgbClr val="000000"/>
                  </a:solidFill>
                  <a:latin typeface="Times New Roman" pitchFamily="18" charset="0"/>
                </a:rPr>
                <a:t>  </a:t>
              </a:r>
              <a:endParaRPr lang="en-US" altLang="ko-KR"/>
            </a:p>
          </p:txBody>
        </p:sp>
        <p:sp>
          <p:nvSpPr>
            <p:cNvPr id="14348" name="Rectangle 16"/>
            <p:cNvSpPr>
              <a:spLocks noChangeArrowheads="1"/>
            </p:cNvSpPr>
            <p:nvPr/>
          </p:nvSpPr>
          <p:spPr bwMode="auto">
            <a:xfrm>
              <a:off x="2059" y="2288"/>
              <a:ext cx="561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1900">
                  <a:solidFill>
                    <a:srgbClr val="000000"/>
                  </a:solidFill>
                  <a:latin typeface="Times New Roman" pitchFamily="18" charset="0"/>
                </a:rPr>
                <a:t>하나의</a:t>
              </a:r>
              <a:endParaRPr lang="ko-KR" altLang="en-US"/>
            </a:p>
          </p:txBody>
        </p:sp>
        <p:sp>
          <p:nvSpPr>
            <p:cNvPr id="14349" name="Rectangle 17"/>
            <p:cNvSpPr>
              <a:spLocks noChangeArrowheads="1"/>
            </p:cNvSpPr>
            <p:nvPr/>
          </p:nvSpPr>
          <p:spPr bwMode="auto">
            <a:xfrm>
              <a:off x="1991" y="2283"/>
              <a:ext cx="14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>
                  <a:solidFill>
                    <a:srgbClr val="000000"/>
                  </a:solidFill>
                  <a:latin typeface="Times New Roman" pitchFamily="18" charset="0"/>
                </a:rPr>
                <a:t>  </a:t>
              </a:r>
              <a:endParaRPr lang="en-US" altLang="ko-KR"/>
            </a:p>
          </p:txBody>
        </p:sp>
        <p:sp>
          <p:nvSpPr>
            <p:cNvPr id="14350" name="Rectangle 18"/>
            <p:cNvSpPr>
              <a:spLocks noChangeArrowheads="1"/>
            </p:cNvSpPr>
            <p:nvPr/>
          </p:nvSpPr>
          <p:spPr bwMode="auto">
            <a:xfrm>
              <a:off x="1845" y="2288"/>
              <a:ext cx="240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1900">
                  <a:solidFill>
                    <a:srgbClr val="000000"/>
                  </a:solidFill>
                  <a:latin typeface="Times New Roman" pitchFamily="18" charset="0"/>
                </a:rPr>
                <a:t>중</a:t>
              </a:r>
              <a:endParaRPr lang="ko-KR" altLang="en-US"/>
            </a:p>
          </p:txBody>
        </p:sp>
        <p:sp>
          <p:nvSpPr>
            <p:cNvPr id="14351" name="Rectangle 19"/>
            <p:cNvSpPr>
              <a:spLocks noChangeArrowheads="1"/>
            </p:cNvSpPr>
            <p:nvPr/>
          </p:nvSpPr>
          <p:spPr bwMode="auto">
            <a:xfrm>
              <a:off x="1777" y="2283"/>
              <a:ext cx="14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>
                  <a:solidFill>
                    <a:srgbClr val="000000"/>
                  </a:solidFill>
                  <a:latin typeface="Times New Roman" pitchFamily="18" charset="0"/>
                </a:rPr>
                <a:t>  </a:t>
              </a:r>
              <a:endParaRPr lang="en-US" altLang="ko-KR"/>
            </a:p>
          </p:txBody>
        </p:sp>
        <p:sp>
          <p:nvSpPr>
            <p:cNvPr id="14352" name="Rectangle 20"/>
            <p:cNvSpPr>
              <a:spLocks noChangeArrowheads="1"/>
            </p:cNvSpPr>
            <p:nvPr/>
          </p:nvSpPr>
          <p:spPr bwMode="auto">
            <a:xfrm>
              <a:off x="1654" y="2283"/>
              <a:ext cx="19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>
                  <a:solidFill>
                    <a:srgbClr val="000000"/>
                  </a:solidFill>
                  <a:latin typeface="Times New Roman" pitchFamily="18" charset="0"/>
                </a:rPr>
                <a:t>3)</a:t>
              </a:r>
              <a:endParaRPr lang="en-US" altLang="ko-KR"/>
            </a:p>
          </p:txBody>
        </p:sp>
        <p:sp>
          <p:nvSpPr>
            <p:cNvPr id="14353" name="Rectangle 21"/>
            <p:cNvSpPr>
              <a:spLocks noChangeArrowheads="1"/>
            </p:cNvSpPr>
            <p:nvPr/>
          </p:nvSpPr>
          <p:spPr bwMode="auto">
            <a:xfrm>
              <a:off x="1472" y="2283"/>
              <a:ext cx="10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>
                  <a:solidFill>
                    <a:srgbClr val="000000"/>
                  </a:solidFill>
                  <a:latin typeface="Times New Roman" pitchFamily="18" charset="0"/>
                </a:rPr>
                <a:t> </a:t>
              </a:r>
              <a:endParaRPr lang="en-US" altLang="ko-KR"/>
            </a:p>
          </p:txBody>
        </p:sp>
        <p:sp>
          <p:nvSpPr>
            <p:cNvPr id="14354" name="Rectangle 22"/>
            <p:cNvSpPr>
              <a:spLocks noChangeArrowheads="1"/>
            </p:cNvSpPr>
            <p:nvPr/>
          </p:nvSpPr>
          <p:spPr bwMode="auto">
            <a:xfrm>
              <a:off x="1348" y="2283"/>
              <a:ext cx="19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>
                  <a:solidFill>
                    <a:srgbClr val="000000"/>
                  </a:solidFill>
                  <a:latin typeface="Times New Roman" pitchFamily="18" charset="0"/>
                </a:rPr>
                <a:t>1)</a:t>
              </a:r>
              <a:endParaRPr lang="en-US" altLang="ko-KR"/>
            </a:p>
          </p:txBody>
        </p:sp>
        <p:sp>
          <p:nvSpPr>
            <p:cNvPr id="14355" name="Rectangle 23"/>
            <p:cNvSpPr>
              <a:spLocks noChangeArrowheads="1"/>
            </p:cNvSpPr>
            <p:nvPr/>
          </p:nvSpPr>
          <p:spPr bwMode="auto">
            <a:xfrm>
              <a:off x="1290" y="2283"/>
              <a:ext cx="14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>
                  <a:solidFill>
                    <a:srgbClr val="000000"/>
                  </a:solidFill>
                  <a:latin typeface="Times New Roman" pitchFamily="18" charset="0"/>
                </a:rPr>
                <a:t>  </a:t>
              </a:r>
              <a:endParaRPr lang="en-US" altLang="ko-KR"/>
            </a:p>
          </p:txBody>
        </p:sp>
        <p:sp>
          <p:nvSpPr>
            <p:cNvPr id="14356" name="Rectangle 24"/>
            <p:cNvSpPr>
              <a:spLocks noChangeArrowheads="1"/>
            </p:cNvSpPr>
            <p:nvPr/>
          </p:nvSpPr>
          <p:spPr bwMode="auto">
            <a:xfrm>
              <a:off x="877" y="2283"/>
              <a:ext cx="345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>
                  <a:solidFill>
                    <a:srgbClr val="000000"/>
                  </a:solidFill>
                  <a:latin typeface="Times New Roman" pitchFamily="18" charset="0"/>
                </a:rPr>
                <a:t>       </a:t>
              </a:r>
              <a:endParaRPr lang="en-US" altLang="ko-KR"/>
            </a:p>
          </p:txBody>
        </p:sp>
        <p:sp>
          <p:nvSpPr>
            <p:cNvPr id="14357" name="Rectangle 25"/>
            <p:cNvSpPr>
              <a:spLocks noChangeArrowheads="1"/>
            </p:cNvSpPr>
            <p:nvPr/>
          </p:nvSpPr>
          <p:spPr bwMode="auto">
            <a:xfrm>
              <a:off x="4958" y="2009"/>
              <a:ext cx="11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>
                  <a:solidFill>
                    <a:srgbClr val="000000"/>
                  </a:solidFill>
                  <a:latin typeface="Times New Roman" pitchFamily="18" charset="0"/>
                </a:rPr>
                <a:t>)</a:t>
              </a:r>
              <a:endParaRPr lang="en-US" altLang="ko-KR"/>
            </a:p>
          </p:txBody>
        </p:sp>
        <p:sp>
          <p:nvSpPr>
            <p:cNvPr id="14358" name="Rectangle 26"/>
            <p:cNvSpPr>
              <a:spLocks noChangeArrowheads="1"/>
            </p:cNvSpPr>
            <p:nvPr/>
          </p:nvSpPr>
          <p:spPr bwMode="auto">
            <a:xfrm>
              <a:off x="4926" y="2009"/>
              <a:ext cx="10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>
                  <a:solidFill>
                    <a:srgbClr val="000000"/>
                  </a:solidFill>
                  <a:latin typeface="Times New Roman" pitchFamily="18" charset="0"/>
                </a:rPr>
                <a:t>.</a:t>
              </a:r>
              <a:endParaRPr lang="en-US" altLang="ko-KR"/>
            </a:p>
          </p:txBody>
        </p:sp>
        <p:sp>
          <p:nvSpPr>
            <p:cNvPr id="14359" name="Rectangle 27"/>
            <p:cNvSpPr>
              <a:spLocks noChangeArrowheads="1"/>
            </p:cNvSpPr>
            <p:nvPr/>
          </p:nvSpPr>
          <p:spPr bwMode="auto">
            <a:xfrm>
              <a:off x="4776" y="2014"/>
              <a:ext cx="240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1900">
                  <a:solidFill>
                    <a:srgbClr val="000000"/>
                  </a:solidFill>
                  <a:latin typeface="Times New Roman" pitchFamily="18" charset="0"/>
                </a:rPr>
                <a:t>다</a:t>
              </a:r>
              <a:endParaRPr lang="ko-KR" altLang="en-US"/>
            </a:p>
          </p:txBody>
        </p:sp>
        <p:sp>
          <p:nvSpPr>
            <p:cNvPr id="14360" name="Rectangle 28"/>
            <p:cNvSpPr>
              <a:spLocks noChangeArrowheads="1"/>
            </p:cNvSpPr>
            <p:nvPr/>
          </p:nvSpPr>
          <p:spPr bwMode="auto">
            <a:xfrm>
              <a:off x="4443" y="2009"/>
              <a:ext cx="10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>
                  <a:solidFill>
                    <a:srgbClr val="000000"/>
                  </a:solidFill>
                  <a:latin typeface="Times New Roman" pitchFamily="18" charset="0"/>
                </a:rPr>
                <a:t> </a:t>
              </a:r>
              <a:endParaRPr lang="en-US" altLang="ko-KR"/>
            </a:p>
          </p:txBody>
        </p:sp>
        <p:sp>
          <p:nvSpPr>
            <p:cNvPr id="14361" name="Rectangle 29"/>
            <p:cNvSpPr>
              <a:spLocks noChangeArrowheads="1"/>
            </p:cNvSpPr>
            <p:nvPr/>
          </p:nvSpPr>
          <p:spPr bwMode="auto">
            <a:xfrm>
              <a:off x="4269" y="2009"/>
              <a:ext cx="10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>
                  <a:solidFill>
                    <a:srgbClr val="000000"/>
                  </a:solidFill>
                  <a:latin typeface="Times New Roman" pitchFamily="18" charset="0"/>
                </a:rPr>
                <a:t> </a:t>
              </a:r>
              <a:endParaRPr lang="en-US" altLang="ko-KR"/>
            </a:p>
          </p:txBody>
        </p:sp>
        <p:sp>
          <p:nvSpPr>
            <p:cNvPr id="14362" name="Rectangle 30"/>
            <p:cNvSpPr>
              <a:spLocks noChangeArrowheads="1"/>
            </p:cNvSpPr>
            <p:nvPr/>
          </p:nvSpPr>
          <p:spPr bwMode="auto">
            <a:xfrm>
              <a:off x="3934" y="2014"/>
              <a:ext cx="400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1900">
                  <a:solidFill>
                    <a:srgbClr val="000000"/>
                  </a:solidFill>
                  <a:latin typeface="Times New Roman" pitchFamily="18" charset="0"/>
                </a:rPr>
                <a:t>보다</a:t>
              </a:r>
              <a:endParaRPr lang="ko-KR" altLang="en-US"/>
            </a:p>
          </p:txBody>
        </p:sp>
        <p:sp>
          <p:nvSpPr>
            <p:cNvPr id="14363" name="Rectangle 31"/>
            <p:cNvSpPr>
              <a:spLocks noChangeArrowheads="1"/>
            </p:cNvSpPr>
            <p:nvPr/>
          </p:nvSpPr>
          <p:spPr bwMode="auto">
            <a:xfrm>
              <a:off x="3752" y="2009"/>
              <a:ext cx="10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>
                  <a:solidFill>
                    <a:srgbClr val="000000"/>
                  </a:solidFill>
                  <a:latin typeface="Times New Roman" pitchFamily="18" charset="0"/>
                </a:rPr>
                <a:t> </a:t>
              </a:r>
              <a:endParaRPr lang="en-US" altLang="ko-KR"/>
            </a:p>
          </p:txBody>
        </p:sp>
        <p:sp>
          <p:nvSpPr>
            <p:cNvPr id="14364" name="Rectangle 32"/>
            <p:cNvSpPr>
              <a:spLocks noChangeArrowheads="1"/>
            </p:cNvSpPr>
            <p:nvPr/>
          </p:nvSpPr>
          <p:spPr bwMode="auto">
            <a:xfrm>
              <a:off x="3293" y="2014"/>
              <a:ext cx="561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1900">
                  <a:solidFill>
                    <a:srgbClr val="000000"/>
                  </a:solidFill>
                  <a:latin typeface="Times New Roman" pitchFamily="18" charset="0"/>
                </a:rPr>
                <a:t>평균은</a:t>
              </a:r>
              <a:endParaRPr lang="ko-KR" altLang="en-US"/>
            </a:p>
          </p:txBody>
        </p:sp>
        <p:sp>
          <p:nvSpPr>
            <p:cNvPr id="14365" name="Rectangle 33"/>
            <p:cNvSpPr>
              <a:spLocks noChangeArrowheads="1"/>
            </p:cNvSpPr>
            <p:nvPr/>
          </p:nvSpPr>
          <p:spPr bwMode="auto">
            <a:xfrm>
              <a:off x="3209" y="2009"/>
              <a:ext cx="10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>
                  <a:solidFill>
                    <a:srgbClr val="000000"/>
                  </a:solidFill>
                  <a:latin typeface="Times New Roman" pitchFamily="18" charset="0"/>
                </a:rPr>
                <a:t> </a:t>
              </a:r>
              <a:endParaRPr lang="en-US" altLang="ko-KR"/>
            </a:p>
          </p:txBody>
        </p:sp>
        <p:sp>
          <p:nvSpPr>
            <p:cNvPr id="14366" name="Rectangle 34"/>
            <p:cNvSpPr>
              <a:spLocks noChangeArrowheads="1"/>
            </p:cNvSpPr>
            <p:nvPr/>
          </p:nvSpPr>
          <p:spPr bwMode="auto">
            <a:xfrm>
              <a:off x="2616" y="2014"/>
              <a:ext cx="721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1900">
                  <a:solidFill>
                    <a:srgbClr val="000000"/>
                  </a:solidFill>
                  <a:latin typeface="Times New Roman" pitchFamily="18" charset="0"/>
                </a:rPr>
                <a:t>모집단의</a:t>
              </a:r>
              <a:endParaRPr lang="ko-KR" altLang="en-US"/>
            </a:p>
          </p:txBody>
        </p:sp>
        <p:sp>
          <p:nvSpPr>
            <p:cNvPr id="14367" name="Rectangle 35"/>
            <p:cNvSpPr>
              <a:spLocks noChangeArrowheads="1"/>
            </p:cNvSpPr>
            <p:nvPr/>
          </p:nvSpPr>
          <p:spPr bwMode="auto">
            <a:xfrm>
              <a:off x="2568" y="2009"/>
              <a:ext cx="11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>
                  <a:solidFill>
                    <a:srgbClr val="000000"/>
                  </a:solidFill>
                  <a:latin typeface="Times New Roman" pitchFamily="18" charset="0"/>
                </a:rPr>
                <a:t>(</a:t>
              </a:r>
              <a:endParaRPr lang="en-US" altLang="ko-KR"/>
            </a:p>
          </p:txBody>
        </p:sp>
        <p:sp>
          <p:nvSpPr>
            <p:cNvPr id="14368" name="Rectangle 36"/>
            <p:cNvSpPr>
              <a:spLocks noChangeArrowheads="1"/>
            </p:cNvSpPr>
            <p:nvPr/>
          </p:nvSpPr>
          <p:spPr bwMode="auto">
            <a:xfrm>
              <a:off x="1898" y="2009"/>
              <a:ext cx="109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>
                  <a:solidFill>
                    <a:srgbClr val="000000"/>
                  </a:solidFill>
                  <a:latin typeface="Times New Roman" pitchFamily="18" charset="0"/>
                </a:rPr>
                <a:t>:</a:t>
              </a:r>
              <a:endParaRPr lang="en-US" altLang="ko-KR"/>
            </a:p>
          </p:txBody>
        </p:sp>
        <p:sp>
          <p:nvSpPr>
            <p:cNvPr id="14369" name="Rectangle 37"/>
            <p:cNvSpPr>
              <a:spLocks noChangeArrowheads="1"/>
            </p:cNvSpPr>
            <p:nvPr/>
          </p:nvSpPr>
          <p:spPr bwMode="auto">
            <a:xfrm>
              <a:off x="1554" y="2009"/>
              <a:ext cx="11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>
                  <a:solidFill>
                    <a:srgbClr val="000000"/>
                  </a:solidFill>
                  <a:latin typeface="Times New Roman" pitchFamily="18" charset="0"/>
                </a:rPr>
                <a:t>)</a:t>
              </a:r>
              <a:endParaRPr lang="en-US" altLang="ko-KR"/>
            </a:p>
          </p:txBody>
        </p:sp>
        <p:sp>
          <p:nvSpPr>
            <p:cNvPr id="14370" name="Rectangle 38"/>
            <p:cNvSpPr>
              <a:spLocks noChangeArrowheads="1"/>
            </p:cNvSpPr>
            <p:nvPr/>
          </p:nvSpPr>
          <p:spPr bwMode="auto">
            <a:xfrm>
              <a:off x="1481" y="2009"/>
              <a:ext cx="14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>
                  <a:solidFill>
                    <a:srgbClr val="000000"/>
                  </a:solidFill>
                  <a:latin typeface="Times New Roman" pitchFamily="18" charset="0"/>
                </a:rPr>
                <a:t>3</a:t>
              </a:r>
              <a:endParaRPr lang="en-US" altLang="ko-KR"/>
            </a:p>
          </p:txBody>
        </p:sp>
        <p:sp>
          <p:nvSpPr>
            <p:cNvPr id="14371" name="Rectangle 39"/>
            <p:cNvSpPr>
              <a:spLocks noChangeArrowheads="1"/>
            </p:cNvSpPr>
            <p:nvPr/>
          </p:nvSpPr>
          <p:spPr bwMode="auto">
            <a:xfrm>
              <a:off x="5118" y="1735"/>
              <a:ext cx="11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>
                  <a:solidFill>
                    <a:srgbClr val="000000"/>
                  </a:solidFill>
                  <a:latin typeface="Times New Roman" pitchFamily="18" charset="0"/>
                </a:rPr>
                <a:t>)</a:t>
              </a:r>
              <a:endParaRPr lang="en-US" altLang="ko-KR"/>
            </a:p>
          </p:txBody>
        </p:sp>
        <p:sp>
          <p:nvSpPr>
            <p:cNvPr id="14372" name="Rectangle 40"/>
            <p:cNvSpPr>
              <a:spLocks noChangeArrowheads="1"/>
            </p:cNvSpPr>
            <p:nvPr/>
          </p:nvSpPr>
          <p:spPr bwMode="auto">
            <a:xfrm>
              <a:off x="5086" y="1735"/>
              <a:ext cx="10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>
                  <a:solidFill>
                    <a:srgbClr val="000000"/>
                  </a:solidFill>
                  <a:latin typeface="Times New Roman" pitchFamily="18" charset="0"/>
                </a:rPr>
                <a:t>.</a:t>
              </a:r>
              <a:endParaRPr lang="en-US" altLang="ko-KR"/>
            </a:p>
          </p:txBody>
        </p:sp>
        <p:sp>
          <p:nvSpPr>
            <p:cNvPr id="14373" name="Rectangle 41"/>
            <p:cNvSpPr>
              <a:spLocks noChangeArrowheads="1"/>
            </p:cNvSpPr>
            <p:nvPr/>
          </p:nvSpPr>
          <p:spPr bwMode="auto">
            <a:xfrm>
              <a:off x="4936" y="1740"/>
              <a:ext cx="240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1900">
                  <a:solidFill>
                    <a:srgbClr val="000000"/>
                  </a:solidFill>
                  <a:latin typeface="Times New Roman" pitchFamily="18" charset="0"/>
                </a:rPr>
                <a:t>다</a:t>
              </a:r>
              <a:endParaRPr lang="ko-KR" altLang="en-US"/>
            </a:p>
          </p:txBody>
        </p:sp>
        <p:sp>
          <p:nvSpPr>
            <p:cNvPr id="14374" name="Rectangle 42"/>
            <p:cNvSpPr>
              <a:spLocks noChangeArrowheads="1"/>
            </p:cNvSpPr>
            <p:nvPr/>
          </p:nvSpPr>
          <p:spPr bwMode="auto">
            <a:xfrm>
              <a:off x="4603" y="1735"/>
              <a:ext cx="10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>
                  <a:solidFill>
                    <a:srgbClr val="000000"/>
                  </a:solidFill>
                  <a:latin typeface="Times New Roman" pitchFamily="18" charset="0"/>
                </a:rPr>
                <a:t> </a:t>
              </a:r>
              <a:endParaRPr lang="en-US" altLang="ko-KR"/>
            </a:p>
          </p:txBody>
        </p:sp>
        <p:sp>
          <p:nvSpPr>
            <p:cNvPr id="14375" name="Rectangle 43"/>
            <p:cNvSpPr>
              <a:spLocks noChangeArrowheads="1"/>
            </p:cNvSpPr>
            <p:nvPr/>
          </p:nvSpPr>
          <p:spPr bwMode="auto">
            <a:xfrm>
              <a:off x="4300" y="1740"/>
              <a:ext cx="240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1900">
                  <a:solidFill>
                    <a:srgbClr val="000000"/>
                  </a:solidFill>
                  <a:latin typeface="Times New Roman" pitchFamily="18" charset="0"/>
                </a:rPr>
                <a:t>작</a:t>
              </a:r>
              <a:endParaRPr lang="ko-KR" altLang="en-US"/>
            </a:p>
          </p:txBody>
        </p:sp>
        <p:sp>
          <p:nvSpPr>
            <p:cNvPr id="14376" name="Rectangle 44"/>
            <p:cNvSpPr>
              <a:spLocks noChangeArrowheads="1"/>
            </p:cNvSpPr>
            <p:nvPr/>
          </p:nvSpPr>
          <p:spPr bwMode="auto">
            <a:xfrm>
              <a:off x="4276" y="1735"/>
              <a:ext cx="10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>
                  <a:solidFill>
                    <a:srgbClr val="000000"/>
                  </a:solidFill>
                  <a:latin typeface="Times New Roman" pitchFamily="18" charset="0"/>
                </a:rPr>
                <a:t> </a:t>
              </a:r>
              <a:endParaRPr lang="en-US" altLang="ko-KR"/>
            </a:p>
          </p:txBody>
        </p:sp>
        <p:sp>
          <p:nvSpPr>
            <p:cNvPr id="14377" name="Rectangle 45"/>
            <p:cNvSpPr>
              <a:spLocks noChangeArrowheads="1"/>
            </p:cNvSpPr>
            <p:nvPr/>
          </p:nvSpPr>
          <p:spPr bwMode="auto">
            <a:xfrm>
              <a:off x="3941" y="1740"/>
              <a:ext cx="400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1900">
                  <a:solidFill>
                    <a:srgbClr val="000000"/>
                  </a:solidFill>
                  <a:latin typeface="Times New Roman" pitchFamily="18" charset="0"/>
                </a:rPr>
                <a:t>보다</a:t>
              </a:r>
              <a:endParaRPr lang="ko-KR" altLang="en-US"/>
            </a:p>
          </p:txBody>
        </p:sp>
        <p:sp>
          <p:nvSpPr>
            <p:cNvPr id="14378" name="Rectangle 46"/>
            <p:cNvSpPr>
              <a:spLocks noChangeArrowheads="1"/>
            </p:cNvSpPr>
            <p:nvPr/>
          </p:nvSpPr>
          <p:spPr bwMode="auto">
            <a:xfrm>
              <a:off x="3759" y="1735"/>
              <a:ext cx="10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>
                  <a:solidFill>
                    <a:srgbClr val="000000"/>
                  </a:solidFill>
                  <a:latin typeface="Times New Roman" pitchFamily="18" charset="0"/>
                </a:rPr>
                <a:t> </a:t>
              </a:r>
              <a:endParaRPr lang="en-US" altLang="ko-KR"/>
            </a:p>
          </p:txBody>
        </p:sp>
        <p:sp>
          <p:nvSpPr>
            <p:cNvPr id="14379" name="Rectangle 47"/>
            <p:cNvSpPr>
              <a:spLocks noChangeArrowheads="1"/>
            </p:cNvSpPr>
            <p:nvPr/>
          </p:nvSpPr>
          <p:spPr bwMode="auto">
            <a:xfrm>
              <a:off x="3301" y="1740"/>
              <a:ext cx="561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1900">
                  <a:solidFill>
                    <a:srgbClr val="000000"/>
                  </a:solidFill>
                  <a:latin typeface="Times New Roman" pitchFamily="18" charset="0"/>
                </a:rPr>
                <a:t>평균은</a:t>
              </a:r>
              <a:endParaRPr lang="ko-KR" altLang="en-US"/>
            </a:p>
          </p:txBody>
        </p:sp>
        <p:sp>
          <p:nvSpPr>
            <p:cNvPr id="14380" name="Rectangle 48"/>
            <p:cNvSpPr>
              <a:spLocks noChangeArrowheads="1"/>
            </p:cNvSpPr>
            <p:nvPr/>
          </p:nvSpPr>
          <p:spPr bwMode="auto">
            <a:xfrm>
              <a:off x="3216" y="1735"/>
              <a:ext cx="10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>
                  <a:solidFill>
                    <a:srgbClr val="000000"/>
                  </a:solidFill>
                  <a:latin typeface="Times New Roman" pitchFamily="18" charset="0"/>
                </a:rPr>
                <a:t> </a:t>
              </a:r>
              <a:endParaRPr lang="en-US" altLang="ko-KR"/>
            </a:p>
          </p:txBody>
        </p:sp>
        <p:sp>
          <p:nvSpPr>
            <p:cNvPr id="14381" name="Rectangle 49"/>
            <p:cNvSpPr>
              <a:spLocks noChangeArrowheads="1"/>
            </p:cNvSpPr>
            <p:nvPr/>
          </p:nvSpPr>
          <p:spPr bwMode="auto">
            <a:xfrm>
              <a:off x="2624" y="1740"/>
              <a:ext cx="721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1900">
                  <a:solidFill>
                    <a:srgbClr val="000000"/>
                  </a:solidFill>
                  <a:latin typeface="Times New Roman" pitchFamily="18" charset="0"/>
                </a:rPr>
                <a:t>모집단의</a:t>
              </a:r>
              <a:endParaRPr lang="ko-KR" altLang="en-US"/>
            </a:p>
          </p:txBody>
        </p:sp>
        <p:sp>
          <p:nvSpPr>
            <p:cNvPr id="14382" name="Rectangle 50"/>
            <p:cNvSpPr>
              <a:spLocks noChangeArrowheads="1"/>
            </p:cNvSpPr>
            <p:nvPr/>
          </p:nvSpPr>
          <p:spPr bwMode="auto">
            <a:xfrm>
              <a:off x="2575" y="1735"/>
              <a:ext cx="11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>
                  <a:solidFill>
                    <a:srgbClr val="000000"/>
                  </a:solidFill>
                  <a:latin typeface="Times New Roman" pitchFamily="18" charset="0"/>
                </a:rPr>
                <a:t>(</a:t>
              </a:r>
              <a:endParaRPr lang="en-US" altLang="ko-KR"/>
            </a:p>
          </p:txBody>
        </p:sp>
        <p:sp>
          <p:nvSpPr>
            <p:cNvPr id="14383" name="Rectangle 51"/>
            <p:cNvSpPr>
              <a:spLocks noChangeArrowheads="1"/>
            </p:cNvSpPr>
            <p:nvPr/>
          </p:nvSpPr>
          <p:spPr bwMode="auto">
            <a:xfrm>
              <a:off x="1908" y="1735"/>
              <a:ext cx="109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>
                  <a:solidFill>
                    <a:srgbClr val="000000"/>
                  </a:solidFill>
                  <a:latin typeface="Times New Roman" pitchFamily="18" charset="0"/>
                </a:rPr>
                <a:t>:</a:t>
              </a:r>
              <a:endParaRPr lang="en-US" altLang="ko-KR"/>
            </a:p>
          </p:txBody>
        </p:sp>
        <p:sp>
          <p:nvSpPr>
            <p:cNvPr id="14384" name="Rectangle 52"/>
            <p:cNvSpPr>
              <a:spLocks noChangeArrowheads="1"/>
            </p:cNvSpPr>
            <p:nvPr/>
          </p:nvSpPr>
          <p:spPr bwMode="auto">
            <a:xfrm>
              <a:off x="1564" y="1735"/>
              <a:ext cx="11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>
                  <a:solidFill>
                    <a:srgbClr val="000000"/>
                  </a:solidFill>
                  <a:latin typeface="Times New Roman" pitchFamily="18" charset="0"/>
                </a:rPr>
                <a:t>)</a:t>
              </a:r>
              <a:endParaRPr lang="en-US" altLang="ko-KR"/>
            </a:p>
          </p:txBody>
        </p:sp>
        <p:sp>
          <p:nvSpPr>
            <p:cNvPr id="14385" name="Rectangle 53"/>
            <p:cNvSpPr>
              <a:spLocks noChangeArrowheads="1"/>
            </p:cNvSpPr>
            <p:nvPr/>
          </p:nvSpPr>
          <p:spPr bwMode="auto">
            <a:xfrm>
              <a:off x="1486" y="1735"/>
              <a:ext cx="14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endParaRPr lang="en-US" altLang="ko-KR"/>
            </a:p>
          </p:txBody>
        </p:sp>
        <p:sp>
          <p:nvSpPr>
            <p:cNvPr id="14386" name="Rectangle 54"/>
            <p:cNvSpPr>
              <a:spLocks noChangeArrowheads="1"/>
            </p:cNvSpPr>
            <p:nvPr/>
          </p:nvSpPr>
          <p:spPr bwMode="auto">
            <a:xfrm>
              <a:off x="4984" y="1461"/>
              <a:ext cx="11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>
                  <a:solidFill>
                    <a:srgbClr val="000000"/>
                  </a:solidFill>
                  <a:latin typeface="Times New Roman" pitchFamily="18" charset="0"/>
                </a:rPr>
                <a:t>)</a:t>
              </a:r>
              <a:endParaRPr lang="en-US" altLang="ko-KR"/>
            </a:p>
          </p:txBody>
        </p:sp>
        <p:sp>
          <p:nvSpPr>
            <p:cNvPr id="14387" name="Rectangle 55"/>
            <p:cNvSpPr>
              <a:spLocks noChangeArrowheads="1"/>
            </p:cNvSpPr>
            <p:nvPr/>
          </p:nvSpPr>
          <p:spPr bwMode="auto">
            <a:xfrm>
              <a:off x="4953" y="1461"/>
              <a:ext cx="10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>
                  <a:solidFill>
                    <a:srgbClr val="000000"/>
                  </a:solidFill>
                  <a:latin typeface="Times New Roman" pitchFamily="18" charset="0"/>
                </a:rPr>
                <a:t>.</a:t>
              </a:r>
              <a:endParaRPr lang="en-US" altLang="ko-KR"/>
            </a:p>
          </p:txBody>
        </p:sp>
        <p:sp>
          <p:nvSpPr>
            <p:cNvPr id="14388" name="Rectangle 56"/>
            <p:cNvSpPr>
              <a:spLocks noChangeArrowheads="1"/>
            </p:cNvSpPr>
            <p:nvPr/>
          </p:nvSpPr>
          <p:spPr bwMode="auto">
            <a:xfrm>
              <a:off x="4802" y="1466"/>
              <a:ext cx="240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1900">
                  <a:solidFill>
                    <a:srgbClr val="000000"/>
                  </a:solidFill>
                  <a:latin typeface="Times New Roman" pitchFamily="18" charset="0"/>
                </a:rPr>
                <a:t>다</a:t>
              </a:r>
              <a:endParaRPr lang="ko-KR" altLang="en-US"/>
            </a:p>
          </p:txBody>
        </p:sp>
        <p:sp>
          <p:nvSpPr>
            <p:cNvPr id="14389" name="Rectangle 57"/>
            <p:cNvSpPr>
              <a:spLocks noChangeArrowheads="1"/>
            </p:cNvSpPr>
            <p:nvPr/>
          </p:nvSpPr>
          <p:spPr bwMode="auto">
            <a:xfrm>
              <a:off x="4470" y="1461"/>
              <a:ext cx="10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>
                  <a:solidFill>
                    <a:srgbClr val="000000"/>
                  </a:solidFill>
                  <a:latin typeface="Times New Roman" pitchFamily="18" charset="0"/>
                </a:rPr>
                <a:t> </a:t>
              </a:r>
              <a:endParaRPr lang="en-US" altLang="ko-KR"/>
            </a:p>
          </p:txBody>
        </p:sp>
        <p:sp>
          <p:nvSpPr>
            <p:cNvPr id="14390" name="Rectangle 58"/>
            <p:cNvSpPr>
              <a:spLocks noChangeArrowheads="1"/>
            </p:cNvSpPr>
            <p:nvPr/>
          </p:nvSpPr>
          <p:spPr bwMode="auto">
            <a:xfrm>
              <a:off x="4176" y="1466"/>
              <a:ext cx="240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1900">
                  <a:solidFill>
                    <a:srgbClr val="000000"/>
                  </a:solidFill>
                  <a:latin typeface="Times New Roman" pitchFamily="18" charset="0"/>
                </a:rPr>
                <a:t>아</a:t>
              </a:r>
              <a:endParaRPr lang="ko-KR" altLang="en-US"/>
            </a:p>
          </p:txBody>
        </p:sp>
        <p:sp>
          <p:nvSpPr>
            <p:cNvPr id="14391" name="Rectangle 59"/>
            <p:cNvSpPr>
              <a:spLocks noChangeArrowheads="1"/>
            </p:cNvSpPr>
            <p:nvPr/>
          </p:nvSpPr>
          <p:spPr bwMode="auto">
            <a:xfrm>
              <a:off x="4152" y="1461"/>
              <a:ext cx="10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>
                  <a:solidFill>
                    <a:srgbClr val="000000"/>
                  </a:solidFill>
                  <a:latin typeface="Times New Roman" pitchFamily="18" charset="0"/>
                </a:rPr>
                <a:t> </a:t>
              </a:r>
              <a:endParaRPr lang="en-US" altLang="ko-KR"/>
            </a:p>
          </p:txBody>
        </p:sp>
        <p:sp>
          <p:nvSpPr>
            <p:cNvPr id="14392" name="Rectangle 60"/>
            <p:cNvSpPr>
              <a:spLocks noChangeArrowheads="1"/>
            </p:cNvSpPr>
            <p:nvPr/>
          </p:nvSpPr>
          <p:spPr bwMode="auto">
            <a:xfrm>
              <a:off x="4002" y="1466"/>
              <a:ext cx="240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1900">
                  <a:solidFill>
                    <a:srgbClr val="000000"/>
                  </a:solidFill>
                  <a:latin typeface="Times New Roman" pitchFamily="18" charset="0"/>
                </a:rPr>
                <a:t>가</a:t>
              </a:r>
              <a:endParaRPr lang="ko-KR" altLang="en-US"/>
            </a:p>
          </p:txBody>
        </p:sp>
        <p:sp>
          <p:nvSpPr>
            <p:cNvPr id="14393" name="Rectangle 61"/>
            <p:cNvSpPr>
              <a:spLocks noChangeArrowheads="1"/>
            </p:cNvSpPr>
            <p:nvPr/>
          </p:nvSpPr>
          <p:spPr bwMode="auto">
            <a:xfrm>
              <a:off x="3825" y="1461"/>
              <a:ext cx="10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>
                  <a:solidFill>
                    <a:srgbClr val="000000"/>
                  </a:solidFill>
                  <a:latin typeface="Times New Roman" pitchFamily="18" charset="0"/>
                </a:rPr>
                <a:t> </a:t>
              </a:r>
              <a:endParaRPr lang="en-US" altLang="ko-KR"/>
            </a:p>
          </p:txBody>
        </p:sp>
        <p:sp>
          <p:nvSpPr>
            <p:cNvPr id="14394" name="Rectangle 62"/>
            <p:cNvSpPr>
              <a:spLocks noChangeArrowheads="1"/>
            </p:cNvSpPr>
            <p:nvPr/>
          </p:nvSpPr>
          <p:spPr bwMode="auto">
            <a:xfrm>
              <a:off x="3308" y="1466"/>
              <a:ext cx="561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1900">
                  <a:solidFill>
                    <a:srgbClr val="000000"/>
                  </a:solidFill>
                  <a:latin typeface="Times New Roman" pitchFamily="18" charset="0"/>
                </a:rPr>
                <a:t>평균은</a:t>
              </a:r>
              <a:endParaRPr lang="ko-KR" altLang="en-US"/>
            </a:p>
          </p:txBody>
        </p:sp>
        <p:sp>
          <p:nvSpPr>
            <p:cNvPr id="14395" name="Rectangle 63"/>
            <p:cNvSpPr>
              <a:spLocks noChangeArrowheads="1"/>
            </p:cNvSpPr>
            <p:nvPr/>
          </p:nvSpPr>
          <p:spPr bwMode="auto">
            <a:xfrm>
              <a:off x="3194" y="1461"/>
              <a:ext cx="10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>
                  <a:solidFill>
                    <a:srgbClr val="000000"/>
                  </a:solidFill>
                  <a:latin typeface="Times New Roman" pitchFamily="18" charset="0"/>
                </a:rPr>
                <a:t> </a:t>
              </a:r>
              <a:endParaRPr lang="en-US" altLang="ko-KR"/>
            </a:p>
          </p:txBody>
        </p:sp>
        <p:sp>
          <p:nvSpPr>
            <p:cNvPr id="14396" name="Rectangle 64"/>
            <p:cNvSpPr>
              <a:spLocks noChangeArrowheads="1"/>
            </p:cNvSpPr>
            <p:nvPr/>
          </p:nvSpPr>
          <p:spPr bwMode="auto">
            <a:xfrm>
              <a:off x="2602" y="1466"/>
              <a:ext cx="721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1900">
                  <a:solidFill>
                    <a:srgbClr val="000000"/>
                  </a:solidFill>
                  <a:latin typeface="Times New Roman" pitchFamily="18" charset="0"/>
                </a:rPr>
                <a:t>모집단의</a:t>
              </a:r>
              <a:endParaRPr lang="ko-KR" altLang="en-US"/>
            </a:p>
          </p:txBody>
        </p:sp>
        <p:sp>
          <p:nvSpPr>
            <p:cNvPr id="14397" name="Rectangle 65"/>
            <p:cNvSpPr>
              <a:spLocks noChangeArrowheads="1"/>
            </p:cNvSpPr>
            <p:nvPr/>
          </p:nvSpPr>
          <p:spPr bwMode="auto">
            <a:xfrm>
              <a:off x="2553" y="1461"/>
              <a:ext cx="11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>
                  <a:solidFill>
                    <a:srgbClr val="000000"/>
                  </a:solidFill>
                  <a:latin typeface="Times New Roman" pitchFamily="18" charset="0"/>
                </a:rPr>
                <a:t>(</a:t>
              </a:r>
              <a:endParaRPr lang="en-US" altLang="ko-KR"/>
            </a:p>
          </p:txBody>
        </p:sp>
        <p:sp>
          <p:nvSpPr>
            <p:cNvPr id="14398" name="Rectangle 66"/>
            <p:cNvSpPr>
              <a:spLocks noChangeArrowheads="1"/>
            </p:cNvSpPr>
            <p:nvPr/>
          </p:nvSpPr>
          <p:spPr bwMode="auto">
            <a:xfrm>
              <a:off x="1896" y="1461"/>
              <a:ext cx="109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>
                  <a:solidFill>
                    <a:srgbClr val="000000"/>
                  </a:solidFill>
                  <a:latin typeface="Times New Roman" pitchFamily="18" charset="0"/>
                </a:rPr>
                <a:t>:</a:t>
              </a:r>
              <a:endParaRPr lang="en-US" altLang="ko-KR"/>
            </a:p>
          </p:txBody>
        </p:sp>
        <p:sp>
          <p:nvSpPr>
            <p:cNvPr id="14399" name="Rectangle 67"/>
            <p:cNvSpPr>
              <a:spLocks noChangeArrowheads="1"/>
            </p:cNvSpPr>
            <p:nvPr/>
          </p:nvSpPr>
          <p:spPr bwMode="auto">
            <a:xfrm>
              <a:off x="1617" y="1461"/>
              <a:ext cx="10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>
                  <a:solidFill>
                    <a:srgbClr val="000000"/>
                  </a:solidFill>
                  <a:latin typeface="Times New Roman" pitchFamily="18" charset="0"/>
                </a:rPr>
                <a:t> </a:t>
              </a:r>
              <a:endParaRPr lang="en-US" altLang="ko-KR"/>
            </a:p>
          </p:txBody>
        </p:sp>
        <p:sp>
          <p:nvSpPr>
            <p:cNvPr id="14400" name="Rectangle 68"/>
            <p:cNvSpPr>
              <a:spLocks noChangeArrowheads="1"/>
            </p:cNvSpPr>
            <p:nvPr/>
          </p:nvSpPr>
          <p:spPr bwMode="auto">
            <a:xfrm>
              <a:off x="1493" y="1461"/>
              <a:ext cx="19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>
                  <a:solidFill>
                    <a:srgbClr val="000000"/>
                  </a:solidFill>
                  <a:latin typeface="Times New Roman" pitchFamily="18" charset="0"/>
                </a:rPr>
                <a:t>1)</a:t>
              </a:r>
              <a:endParaRPr lang="en-US" altLang="ko-KR"/>
            </a:p>
          </p:txBody>
        </p:sp>
        <p:sp>
          <p:nvSpPr>
            <p:cNvPr id="14401" name="Rectangle 69"/>
            <p:cNvSpPr>
              <a:spLocks noChangeArrowheads="1"/>
            </p:cNvSpPr>
            <p:nvPr/>
          </p:nvSpPr>
          <p:spPr bwMode="auto">
            <a:xfrm>
              <a:off x="1435" y="1461"/>
              <a:ext cx="14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>
                  <a:solidFill>
                    <a:srgbClr val="000000"/>
                  </a:solidFill>
                  <a:latin typeface="Times New Roman" pitchFamily="18" charset="0"/>
                </a:rPr>
                <a:t>  </a:t>
              </a:r>
              <a:endParaRPr lang="en-US" altLang="ko-KR"/>
            </a:p>
          </p:txBody>
        </p:sp>
        <p:sp>
          <p:nvSpPr>
            <p:cNvPr id="14402" name="Rectangle 70"/>
            <p:cNvSpPr>
              <a:spLocks noChangeArrowheads="1"/>
            </p:cNvSpPr>
            <p:nvPr/>
          </p:nvSpPr>
          <p:spPr bwMode="auto">
            <a:xfrm>
              <a:off x="802" y="1466"/>
              <a:ext cx="721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1900">
                  <a:solidFill>
                    <a:srgbClr val="000000"/>
                  </a:solidFill>
                  <a:latin typeface="Times New Roman" pitchFamily="18" charset="0"/>
                </a:rPr>
                <a:t>대립가설</a:t>
              </a:r>
              <a:endParaRPr lang="ko-KR" altLang="en-US"/>
            </a:p>
          </p:txBody>
        </p:sp>
        <p:sp>
          <p:nvSpPr>
            <p:cNvPr id="14403" name="Rectangle 71"/>
            <p:cNvSpPr>
              <a:spLocks noChangeArrowheads="1"/>
            </p:cNvSpPr>
            <p:nvPr/>
          </p:nvSpPr>
          <p:spPr bwMode="auto">
            <a:xfrm>
              <a:off x="4400" y="1186"/>
              <a:ext cx="11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>
                  <a:solidFill>
                    <a:srgbClr val="000000"/>
                  </a:solidFill>
                  <a:latin typeface="Times New Roman" pitchFamily="18" charset="0"/>
                </a:rPr>
                <a:t>)</a:t>
              </a:r>
              <a:endParaRPr lang="en-US" altLang="ko-KR"/>
            </a:p>
          </p:txBody>
        </p:sp>
        <p:sp>
          <p:nvSpPr>
            <p:cNvPr id="14404" name="Rectangle 72"/>
            <p:cNvSpPr>
              <a:spLocks noChangeArrowheads="1"/>
            </p:cNvSpPr>
            <p:nvPr/>
          </p:nvSpPr>
          <p:spPr bwMode="auto">
            <a:xfrm>
              <a:off x="4369" y="1186"/>
              <a:ext cx="10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>
                  <a:solidFill>
                    <a:srgbClr val="000000"/>
                  </a:solidFill>
                  <a:latin typeface="Times New Roman" pitchFamily="18" charset="0"/>
                </a:rPr>
                <a:t>.</a:t>
              </a:r>
              <a:endParaRPr lang="en-US" altLang="ko-KR"/>
            </a:p>
          </p:txBody>
        </p:sp>
        <p:sp>
          <p:nvSpPr>
            <p:cNvPr id="14405" name="Rectangle 73"/>
            <p:cNvSpPr>
              <a:spLocks noChangeArrowheads="1"/>
            </p:cNvSpPr>
            <p:nvPr/>
          </p:nvSpPr>
          <p:spPr bwMode="auto">
            <a:xfrm>
              <a:off x="4063" y="1191"/>
              <a:ext cx="400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1900">
                  <a:solidFill>
                    <a:srgbClr val="000000"/>
                  </a:solidFill>
                  <a:latin typeface="Times New Roman" pitchFamily="18" charset="0"/>
                </a:rPr>
                <a:t>이다</a:t>
              </a:r>
              <a:endParaRPr lang="ko-KR" altLang="en-US"/>
            </a:p>
          </p:txBody>
        </p:sp>
        <p:sp>
          <p:nvSpPr>
            <p:cNvPr id="14406" name="Rectangle 74"/>
            <p:cNvSpPr>
              <a:spLocks noChangeArrowheads="1"/>
            </p:cNvSpPr>
            <p:nvPr/>
          </p:nvSpPr>
          <p:spPr bwMode="auto">
            <a:xfrm>
              <a:off x="4044" y="1186"/>
              <a:ext cx="10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>
                  <a:solidFill>
                    <a:srgbClr val="000000"/>
                  </a:solidFill>
                  <a:latin typeface="Times New Roman" pitchFamily="18" charset="0"/>
                </a:rPr>
                <a:t> </a:t>
              </a:r>
              <a:endParaRPr lang="en-US" altLang="ko-KR"/>
            </a:p>
          </p:txBody>
        </p:sp>
        <p:sp>
          <p:nvSpPr>
            <p:cNvPr id="14407" name="Rectangle 75"/>
            <p:cNvSpPr>
              <a:spLocks noChangeArrowheads="1"/>
            </p:cNvSpPr>
            <p:nvPr/>
          </p:nvSpPr>
          <p:spPr bwMode="auto">
            <a:xfrm>
              <a:off x="3797" y="1186"/>
              <a:ext cx="10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>
                  <a:solidFill>
                    <a:srgbClr val="000000"/>
                  </a:solidFill>
                  <a:latin typeface="Times New Roman" pitchFamily="18" charset="0"/>
                </a:rPr>
                <a:t> </a:t>
              </a:r>
              <a:endParaRPr lang="en-US" altLang="ko-KR"/>
            </a:p>
          </p:txBody>
        </p:sp>
        <p:sp>
          <p:nvSpPr>
            <p:cNvPr id="14408" name="Rectangle 76"/>
            <p:cNvSpPr>
              <a:spLocks noChangeArrowheads="1"/>
            </p:cNvSpPr>
            <p:nvPr/>
          </p:nvSpPr>
          <p:spPr bwMode="auto">
            <a:xfrm>
              <a:off x="3338" y="1191"/>
              <a:ext cx="561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1900">
                  <a:solidFill>
                    <a:srgbClr val="000000"/>
                  </a:solidFill>
                  <a:latin typeface="Times New Roman" pitchFamily="18" charset="0"/>
                </a:rPr>
                <a:t>평균은</a:t>
              </a:r>
              <a:endParaRPr lang="ko-KR" altLang="en-US"/>
            </a:p>
          </p:txBody>
        </p:sp>
        <p:sp>
          <p:nvSpPr>
            <p:cNvPr id="14409" name="Rectangle 77"/>
            <p:cNvSpPr>
              <a:spLocks noChangeArrowheads="1"/>
            </p:cNvSpPr>
            <p:nvPr/>
          </p:nvSpPr>
          <p:spPr bwMode="auto">
            <a:xfrm>
              <a:off x="3224" y="1186"/>
              <a:ext cx="10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>
                  <a:solidFill>
                    <a:srgbClr val="000000"/>
                  </a:solidFill>
                  <a:latin typeface="Times New Roman" pitchFamily="18" charset="0"/>
                </a:rPr>
                <a:t> </a:t>
              </a:r>
              <a:endParaRPr lang="en-US" altLang="ko-KR"/>
            </a:p>
          </p:txBody>
        </p:sp>
        <p:sp>
          <p:nvSpPr>
            <p:cNvPr id="14410" name="Rectangle 78"/>
            <p:cNvSpPr>
              <a:spLocks noChangeArrowheads="1"/>
            </p:cNvSpPr>
            <p:nvPr/>
          </p:nvSpPr>
          <p:spPr bwMode="auto">
            <a:xfrm>
              <a:off x="2632" y="1191"/>
              <a:ext cx="721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1900">
                  <a:solidFill>
                    <a:srgbClr val="000000"/>
                  </a:solidFill>
                  <a:latin typeface="Times New Roman" pitchFamily="18" charset="0"/>
                </a:rPr>
                <a:t>모집단의</a:t>
              </a:r>
              <a:endParaRPr lang="ko-KR" altLang="en-US"/>
            </a:p>
          </p:txBody>
        </p:sp>
        <p:sp>
          <p:nvSpPr>
            <p:cNvPr id="14411" name="Rectangle 79"/>
            <p:cNvSpPr>
              <a:spLocks noChangeArrowheads="1"/>
            </p:cNvSpPr>
            <p:nvPr/>
          </p:nvSpPr>
          <p:spPr bwMode="auto">
            <a:xfrm>
              <a:off x="2583" y="1186"/>
              <a:ext cx="11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>
                  <a:solidFill>
                    <a:srgbClr val="000000"/>
                  </a:solidFill>
                  <a:latin typeface="Times New Roman" pitchFamily="18" charset="0"/>
                </a:rPr>
                <a:t>(</a:t>
              </a:r>
              <a:endParaRPr lang="en-US" altLang="ko-KR"/>
            </a:p>
          </p:txBody>
        </p:sp>
        <p:sp>
          <p:nvSpPr>
            <p:cNvPr id="14412" name="Rectangle 80"/>
            <p:cNvSpPr>
              <a:spLocks noChangeArrowheads="1"/>
            </p:cNvSpPr>
            <p:nvPr/>
          </p:nvSpPr>
          <p:spPr bwMode="auto">
            <a:xfrm>
              <a:off x="1928" y="1186"/>
              <a:ext cx="109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>
                  <a:solidFill>
                    <a:srgbClr val="000000"/>
                  </a:solidFill>
                  <a:latin typeface="Times New Roman" pitchFamily="18" charset="0"/>
                </a:rPr>
                <a:t>:</a:t>
              </a:r>
              <a:endParaRPr lang="en-US" altLang="ko-KR"/>
            </a:p>
          </p:txBody>
        </p:sp>
        <p:sp>
          <p:nvSpPr>
            <p:cNvPr id="14413" name="Rectangle 81"/>
            <p:cNvSpPr>
              <a:spLocks noChangeArrowheads="1"/>
            </p:cNvSpPr>
            <p:nvPr/>
          </p:nvSpPr>
          <p:spPr bwMode="auto">
            <a:xfrm>
              <a:off x="807" y="1191"/>
              <a:ext cx="721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1900">
                  <a:solidFill>
                    <a:srgbClr val="000000"/>
                  </a:solidFill>
                  <a:latin typeface="Times New Roman" pitchFamily="18" charset="0"/>
                </a:rPr>
                <a:t>귀무가설</a:t>
              </a:r>
              <a:endParaRPr lang="ko-KR" altLang="en-US"/>
            </a:p>
          </p:txBody>
        </p:sp>
        <p:sp>
          <p:nvSpPr>
            <p:cNvPr id="14414" name="Rectangle 82"/>
            <p:cNvSpPr>
              <a:spLocks noChangeArrowheads="1"/>
            </p:cNvSpPr>
            <p:nvPr/>
          </p:nvSpPr>
          <p:spPr bwMode="auto">
            <a:xfrm>
              <a:off x="3886" y="2105"/>
              <a:ext cx="87" cy="1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100">
                  <a:solidFill>
                    <a:srgbClr val="000000"/>
                  </a:solidFill>
                  <a:latin typeface="Times New Roman" pitchFamily="18" charset="0"/>
                </a:rPr>
                <a:t>0</a:t>
              </a:r>
              <a:endParaRPr lang="en-US" altLang="ko-KR"/>
            </a:p>
          </p:txBody>
        </p:sp>
        <p:sp>
          <p:nvSpPr>
            <p:cNvPr id="14415" name="Rectangle 83"/>
            <p:cNvSpPr>
              <a:spLocks noChangeArrowheads="1"/>
            </p:cNvSpPr>
            <p:nvPr/>
          </p:nvSpPr>
          <p:spPr bwMode="auto">
            <a:xfrm>
              <a:off x="2352" y="2105"/>
              <a:ext cx="87" cy="1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100">
                  <a:solidFill>
                    <a:srgbClr val="000000"/>
                  </a:solidFill>
                  <a:latin typeface="Times New Roman" pitchFamily="18" charset="0"/>
                </a:rPr>
                <a:t>0</a:t>
              </a:r>
              <a:endParaRPr lang="en-US" altLang="ko-KR"/>
            </a:p>
          </p:txBody>
        </p:sp>
        <p:sp>
          <p:nvSpPr>
            <p:cNvPr id="14416" name="Rectangle 84"/>
            <p:cNvSpPr>
              <a:spLocks noChangeArrowheads="1"/>
            </p:cNvSpPr>
            <p:nvPr/>
          </p:nvSpPr>
          <p:spPr bwMode="auto">
            <a:xfrm>
              <a:off x="1806" y="2105"/>
              <a:ext cx="87" cy="1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1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altLang="ko-KR"/>
            </a:p>
          </p:txBody>
        </p:sp>
        <p:sp>
          <p:nvSpPr>
            <p:cNvPr id="14417" name="Rectangle 85"/>
            <p:cNvSpPr>
              <a:spLocks noChangeArrowheads="1"/>
            </p:cNvSpPr>
            <p:nvPr/>
          </p:nvSpPr>
          <p:spPr bwMode="auto">
            <a:xfrm>
              <a:off x="3893" y="1830"/>
              <a:ext cx="87" cy="1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100">
                  <a:solidFill>
                    <a:srgbClr val="000000"/>
                  </a:solidFill>
                  <a:latin typeface="Times New Roman" pitchFamily="18" charset="0"/>
                </a:rPr>
                <a:t>0</a:t>
              </a:r>
              <a:endParaRPr lang="en-US" altLang="ko-KR"/>
            </a:p>
          </p:txBody>
        </p:sp>
        <p:sp>
          <p:nvSpPr>
            <p:cNvPr id="14418" name="Rectangle 86"/>
            <p:cNvSpPr>
              <a:spLocks noChangeArrowheads="1"/>
            </p:cNvSpPr>
            <p:nvPr/>
          </p:nvSpPr>
          <p:spPr bwMode="auto">
            <a:xfrm>
              <a:off x="2359" y="1830"/>
              <a:ext cx="87" cy="1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100">
                  <a:solidFill>
                    <a:srgbClr val="000000"/>
                  </a:solidFill>
                  <a:latin typeface="Times New Roman" pitchFamily="18" charset="0"/>
                </a:rPr>
                <a:t>0</a:t>
              </a:r>
              <a:endParaRPr lang="en-US" altLang="ko-KR"/>
            </a:p>
          </p:txBody>
        </p:sp>
        <p:sp>
          <p:nvSpPr>
            <p:cNvPr id="14419" name="Rectangle 87"/>
            <p:cNvSpPr>
              <a:spLocks noChangeArrowheads="1"/>
            </p:cNvSpPr>
            <p:nvPr/>
          </p:nvSpPr>
          <p:spPr bwMode="auto">
            <a:xfrm>
              <a:off x="1816" y="1830"/>
              <a:ext cx="87" cy="1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1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altLang="ko-KR"/>
            </a:p>
          </p:txBody>
        </p:sp>
        <p:sp>
          <p:nvSpPr>
            <p:cNvPr id="14420" name="Rectangle 88"/>
            <p:cNvSpPr>
              <a:spLocks noChangeArrowheads="1"/>
            </p:cNvSpPr>
            <p:nvPr/>
          </p:nvSpPr>
          <p:spPr bwMode="auto">
            <a:xfrm>
              <a:off x="3958" y="1556"/>
              <a:ext cx="87" cy="1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100">
                  <a:solidFill>
                    <a:srgbClr val="000000"/>
                  </a:solidFill>
                  <a:latin typeface="Times New Roman" pitchFamily="18" charset="0"/>
                </a:rPr>
                <a:t>0</a:t>
              </a:r>
              <a:endParaRPr lang="en-US" altLang="ko-KR"/>
            </a:p>
          </p:txBody>
        </p:sp>
        <p:sp>
          <p:nvSpPr>
            <p:cNvPr id="14421" name="Rectangle 89"/>
            <p:cNvSpPr>
              <a:spLocks noChangeArrowheads="1"/>
            </p:cNvSpPr>
            <p:nvPr/>
          </p:nvSpPr>
          <p:spPr bwMode="auto">
            <a:xfrm>
              <a:off x="2337" y="1556"/>
              <a:ext cx="87" cy="1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100">
                  <a:solidFill>
                    <a:srgbClr val="000000"/>
                  </a:solidFill>
                  <a:latin typeface="Times New Roman" pitchFamily="18" charset="0"/>
                </a:rPr>
                <a:t>0</a:t>
              </a:r>
              <a:endParaRPr lang="en-US" altLang="ko-KR"/>
            </a:p>
          </p:txBody>
        </p:sp>
        <p:sp>
          <p:nvSpPr>
            <p:cNvPr id="14422" name="Rectangle 90"/>
            <p:cNvSpPr>
              <a:spLocks noChangeArrowheads="1"/>
            </p:cNvSpPr>
            <p:nvPr/>
          </p:nvSpPr>
          <p:spPr bwMode="auto">
            <a:xfrm>
              <a:off x="1804" y="1556"/>
              <a:ext cx="87" cy="1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1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altLang="ko-KR"/>
            </a:p>
          </p:txBody>
        </p:sp>
        <p:sp>
          <p:nvSpPr>
            <p:cNvPr id="14423" name="Rectangle 91"/>
            <p:cNvSpPr>
              <a:spLocks noChangeArrowheads="1"/>
            </p:cNvSpPr>
            <p:nvPr/>
          </p:nvSpPr>
          <p:spPr bwMode="auto">
            <a:xfrm>
              <a:off x="3988" y="1282"/>
              <a:ext cx="87" cy="1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100">
                  <a:solidFill>
                    <a:srgbClr val="000000"/>
                  </a:solidFill>
                  <a:latin typeface="Times New Roman" pitchFamily="18" charset="0"/>
                </a:rPr>
                <a:t>0</a:t>
              </a:r>
              <a:endParaRPr lang="en-US" altLang="ko-KR"/>
            </a:p>
          </p:txBody>
        </p:sp>
        <p:sp>
          <p:nvSpPr>
            <p:cNvPr id="14424" name="Rectangle 92"/>
            <p:cNvSpPr>
              <a:spLocks noChangeArrowheads="1"/>
            </p:cNvSpPr>
            <p:nvPr/>
          </p:nvSpPr>
          <p:spPr bwMode="auto">
            <a:xfrm>
              <a:off x="2367" y="1282"/>
              <a:ext cx="87" cy="1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100">
                  <a:solidFill>
                    <a:srgbClr val="000000"/>
                  </a:solidFill>
                  <a:latin typeface="Times New Roman" pitchFamily="18" charset="0"/>
                </a:rPr>
                <a:t>0</a:t>
              </a:r>
              <a:endParaRPr lang="en-US" altLang="ko-KR"/>
            </a:p>
          </p:txBody>
        </p:sp>
        <p:sp>
          <p:nvSpPr>
            <p:cNvPr id="14425" name="Rectangle 93"/>
            <p:cNvSpPr>
              <a:spLocks noChangeArrowheads="1"/>
            </p:cNvSpPr>
            <p:nvPr/>
          </p:nvSpPr>
          <p:spPr bwMode="auto">
            <a:xfrm>
              <a:off x="1829" y="1282"/>
              <a:ext cx="87" cy="1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100">
                  <a:solidFill>
                    <a:srgbClr val="000000"/>
                  </a:solidFill>
                  <a:latin typeface="Times New Roman" pitchFamily="18" charset="0"/>
                </a:rPr>
                <a:t>0</a:t>
              </a:r>
              <a:endParaRPr lang="en-US" altLang="ko-KR"/>
            </a:p>
          </p:txBody>
        </p:sp>
        <p:sp>
          <p:nvSpPr>
            <p:cNvPr id="14426" name="Rectangle 94"/>
            <p:cNvSpPr>
              <a:spLocks noChangeArrowheads="1"/>
            </p:cNvSpPr>
            <p:nvPr/>
          </p:nvSpPr>
          <p:spPr bwMode="auto">
            <a:xfrm>
              <a:off x="3682" y="2288"/>
              <a:ext cx="240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1900">
                  <a:solidFill>
                    <a:srgbClr val="000000"/>
                  </a:solidFill>
                  <a:latin typeface="바탕체" pitchFamily="17" charset="-127"/>
                  <a:ea typeface="바탕체" pitchFamily="17" charset="-127"/>
                </a:rPr>
                <a:t>됨</a:t>
              </a:r>
              <a:endParaRPr lang="ko-KR" altLang="en-US"/>
            </a:p>
          </p:txBody>
        </p:sp>
        <p:sp>
          <p:nvSpPr>
            <p:cNvPr id="14427" name="Rectangle 95"/>
            <p:cNvSpPr>
              <a:spLocks noChangeArrowheads="1"/>
            </p:cNvSpPr>
            <p:nvPr/>
          </p:nvSpPr>
          <p:spPr bwMode="auto">
            <a:xfrm>
              <a:off x="3177" y="2288"/>
              <a:ext cx="240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1900">
                  <a:solidFill>
                    <a:srgbClr val="000000"/>
                  </a:solidFill>
                  <a:latin typeface="바탕체" pitchFamily="17" charset="-127"/>
                  <a:ea typeface="바탕체" pitchFamily="17" charset="-127"/>
                </a:rPr>
                <a:t>이</a:t>
              </a:r>
              <a:endParaRPr lang="ko-KR" altLang="en-US"/>
            </a:p>
          </p:txBody>
        </p:sp>
        <p:sp>
          <p:nvSpPr>
            <p:cNvPr id="14428" name="Rectangle 96"/>
            <p:cNvSpPr>
              <a:spLocks noChangeArrowheads="1"/>
            </p:cNvSpPr>
            <p:nvPr/>
          </p:nvSpPr>
          <p:spPr bwMode="auto">
            <a:xfrm>
              <a:off x="2556" y="2288"/>
              <a:ext cx="400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1900">
                  <a:solidFill>
                    <a:srgbClr val="000000"/>
                  </a:solidFill>
                  <a:latin typeface="바탕체" pitchFamily="17" charset="-127"/>
                  <a:ea typeface="바탕체" pitchFamily="17" charset="-127"/>
                </a:rPr>
                <a:t>대립</a:t>
              </a:r>
              <a:endParaRPr lang="ko-KR" altLang="en-US"/>
            </a:p>
          </p:txBody>
        </p:sp>
        <p:sp>
          <p:nvSpPr>
            <p:cNvPr id="14429" name="Rectangle 97"/>
            <p:cNvSpPr>
              <a:spLocks noChangeArrowheads="1"/>
            </p:cNvSpPr>
            <p:nvPr/>
          </p:nvSpPr>
          <p:spPr bwMode="auto">
            <a:xfrm>
              <a:off x="4465" y="2014"/>
              <a:ext cx="400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1900">
                  <a:solidFill>
                    <a:srgbClr val="000000"/>
                  </a:solidFill>
                  <a:latin typeface="바탕체" pitchFamily="17" charset="-127"/>
                  <a:ea typeface="바탕체" pitchFamily="17" charset="-127"/>
                </a:rPr>
                <a:t>것이</a:t>
              </a:r>
              <a:endParaRPr lang="ko-KR" altLang="en-US"/>
            </a:p>
          </p:txBody>
        </p:sp>
        <p:sp>
          <p:nvSpPr>
            <p:cNvPr id="14430" name="Rectangle 98"/>
            <p:cNvSpPr>
              <a:spLocks noChangeArrowheads="1"/>
            </p:cNvSpPr>
            <p:nvPr/>
          </p:nvSpPr>
          <p:spPr bwMode="auto">
            <a:xfrm>
              <a:off x="4298" y="2014"/>
              <a:ext cx="240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1900">
                  <a:solidFill>
                    <a:srgbClr val="000000"/>
                  </a:solidFill>
                  <a:latin typeface="바탕체" pitchFamily="17" charset="-127"/>
                  <a:ea typeface="바탕체" pitchFamily="17" charset="-127"/>
                </a:rPr>
                <a:t>클</a:t>
              </a:r>
              <a:endParaRPr lang="ko-KR" altLang="en-US"/>
            </a:p>
          </p:txBody>
        </p:sp>
        <p:sp>
          <p:nvSpPr>
            <p:cNvPr id="14431" name="Rectangle 99"/>
            <p:cNvSpPr>
              <a:spLocks noChangeArrowheads="1"/>
            </p:cNvSpPr>
            <p:nvPr/>
          </p:nvSpPr>
          <p:spPr bwMode="auto">
            <a:xfrm>
              <a:off x="4625" y="1740"/>
              <a:ext cx="400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1900">
                  <a:solidFill>
                    <a:srgbClr val="000000"/>
                  </a:solidFill>
                  <a:latin typeface="바탕체" pitchFamily="17" charset="-127"/>
                  <a:ea typeface="바탕체" pitchFamily="17" charset="-127"/>
                </a:rPr>
                <a:t>것이</a:t>
              </a:r>
              <a:endParaRPr lang="ko-KR" altLang="en-US"/>
            </a:p>
          </p:txBody>
        </p:sp>
        <p:sp>
          <p:nvSpPr>
            <p:cNvPr id="14432" name="Rectangle 100"/>
            <p:cNvSpPr>
              <a:spLocks noChangeArrowheads="1"/>
            </p:cNvSpPr>
            <p:nvPr/>
          </p:nvSpPr>
          <p:spPr bwMode="auto">
            <a:xfrm>
              <a:off x="4455" y="1740"/>
              <a:ext cx="240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1900">
                  <a:solidFill>
                    <a:srgbClr val="000000"/>
                  </a:solidFill>
                  <a:latin typeface="바탕체" pitchFamily="17" charset="-127"/>
                  <a:ea typeface="바탕체" pitchFamily="17" charset="-127"/>
                </a:rPr>
                <a:t>을</a:t>
              </a:r>
              <a:endParaRPr lang="ko-KR" altLang="en-US"/>
            </a:p>
          </p:txBody>
        </p:sp>
        <p:sp>
          <p:nvSpPr>
            <p:cNvPr id="14433" name="Rectangle 101"/>
            <p:cNvSpPr>
              <a:spLocks noChangeArrowheads="1"/>
            </p:cNvSpPr>
            <p:nvPr/>
          </p:nvSpPr>
          <p:spPr bwMode="auto">
            <a:xfrm>
              <a:off x="4492" y="1466"/>
              <a:ext cx="400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1900">
                  <a:solidFill>
                    <a:srgbClr val="000000"/>
                  </a:solidFill>
                  <a:latin typeface="바탕체" pitchFamily="17" charset="-127"/>
                  <a:ea typeface="바탕체" pitchFamily="17" charset="-127"/>
                </a:rPr>
                <a:t>것이</a:t>
              </a:r>
              <a:endParaRPr lang="ko-KR" altLang="en-US"/>
            </a:p>
          </p:txBody>
        </p:sp>
        <p:sp>
          <p:nvSpPr>
            <p:cNvPr id="14434" name="Rectangle 102"/>
            <p:cNvSpPr>
              <a:spLocks noChangeArrowheads="1"/>
            </p:cNvSpPr>
            <p:nvPr/>
          </p:nvSpPr>
          <p:spPr bwMode="auto">
            <a:xfrm>
              <a:off x="4332" y="1466"/>
              <a:ext cx="240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1900">
                  <a:solidFill>
                    <a:srgbClr val="000000"/>
                  </a:solidFill>
                  <a:latin typeface="바탕체" pitchFamily="17" charset="-127"/>
                  <a:ea typeface="바탕체" pitchFamily="17" charset="-127"/>
                </a:rPr>
                <a:t>닐</a:t>
              </a:r>
              <a:endParaRPr lang="ko-KR" altLang="en-US"/>
            </a:p>
          </p:txBody>
        </p:sp>
        <p:sp>
          <p:nvSpPr>
            <p:cNvPr id="14435" name="Rectangle 103"/>
            <p:cNvSpPr>
              <a:spLocks noChangeArrowheads="1"/>
            </p:cNvSpPr>
            <p:nvPr/>
          </p:nvSpPr>
          <p:spPr bwMode="auto">
            <a:xfrm>
              <a:off x="1493" y="2297"/>
              <a:ext cx="261" cy="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>
                  <a:solidFill>
                    <a:srgbClr val="000000"/>
                  </a:solidFill>
                  <a:latin typeface="MT Extra" pitchFamily="18" charset="2"/>
                </a:rPr>
                <a:t>L</a:t>
              </a:r>
              <a:endParaRPr lang="en-US" altLang="ko-KR"/>
            </a:p>
          </p:txBody>
        </p:sp>
        <p:sp>
          <p:nvSpPr>
            <p:cNvPr id="14436" name="Rectangle 104"/>
            <p:cNvSpPr>
              <a:spLocks noChangeArrowheads="1"/>
            </p:cNvSpPr>
            <p:nvPr/>
          </p:nvSpPr>
          <p:spPr bwMode="auto">
            <a:xfrm>
              <a:off x="1142" y="2265"/>
              <a:ext cx="25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>
                  <a:solidFill>
                    <a:srgbClr val="000000"/>
                  </a:solidFill>
                  <a:latin typeface="Symbol" pitchFamily="18" charset="2"/>
                </a:rPr>
                <a:t>Þ</a:t>
              </a:r>
              <a:endParaRPr lang="en-US" altLang="ko-KR"/>
            </a:p>
          </p:txBody>
        </p:sp>
        <p:sp>
          <p:nvSpPr>
            <p:cNvPr id="14437" name="Rectangle 105"/>
            <p:cNvSpPr>
              <a:spLocks noChangeArrowheads="1"/>
            </p:cNvSpPr>
            <p:nvPr/>
          </p:nvSpPr>
          <p:spPr bwMode="auto">
            <a:xfrm>
              <a:off x="2119" y="1991"/>
              <a:ext cx="18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>
                  <a:solidFill>
                    <a:srgbClr val="000000"/>
                  </a:solidFill>
                  <a:latin typeface="Symbol" pitchFamily="18" charset="2"/>
                </a:rPr>
                <a:t>&gt;</a:t>
              </a:r>
              <a:endParaRPr lang="en-US" altLang="ko-KR"/>
            </a:p>
          </p:txBody>
        </p:sp>
        <p:sp>
          <p:nvSpPr>
            <p:cNvPr id="14438" name="Rectangle 106"/>
            <p:cNvSpPr>
              <a:spLocks noChangeArrowheads="1"/>
            </p:cNvSpPr>
            <p:nvPr/>
          </p:nvSpPr>
          <p:spPr bwMode="auto">
            <a:xfrm>
              <a:off x="2126" y="1717"/>
              <a:ext cx="18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>
                  <a:solidFill>
                    <a:srgbClr val="000000"/>
                  </a:solidFill>
                  <a:latin typeface="Symbol" pitchFamily="18" charset="2"/>
                </a:rPr>
                <a:t>&lt;</a:t>
              </a:r>
              <a:endParaRPr lang="en-US" altLang="ko-KR"/>
            </a:p>
          </p:txBody>
        </p:sp>
        <p:sp>
          <p:nvSpPr>
            <p:cNvPr id="14439" name="Rectangle 107"/>
            <p:cNvSpPr>
              <a:spLocks noChangeArrowheads="1"/>
            </p:cNvSpPr>
            <p:nvPr/>
          </p:nvSpPr>
          <p:spPr bwMode="auto">
            <a:xfrm>
              <a:off x="2117" y="1443"/>
              <a:ext cx="18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>
                  <a:solidFill>
                    <a:srgbClr val="000000"/>
                  </a:solidFill>
                  <a:latin typeface="Symbol" pitchFamily="18" charset="2"/>
                </a:rPr>
                <a:t>¹</a:t>
              </a:r>
              <a:endParaRPr lang="en-US" altLang="ko-KR"/>
            </a:p>
          </p:txBody>
        </p:sp>
        <p:sp>
          <p:nvSpPr>
            <p:cNvPr id="14440" name="Rectangle 108"/>
            <p:cNvSpPr>
              <a:spLocks noChangeArrowheads="1"/>
            </p:cNvSpPr>
            <p:nvPr/>
          </p:nvSpPr>
          <p:spPr bwMode="auto">
            <a:xfrm>
              <a:off x="2149" y="1168"/>
              <a:ext cx="18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>
                  <a:solidFill>
                    <a:srgbClr val="000000"/>
                  </a:solidFill>
                  <a:latin typeface="Symbol" pitchFamily="18" charset="2"/>
                </a:rPr>
                <a:t>=</a:t>
              </a:r>
              <a:endParaRPr lang="en-US" altLang="ko-KR"/>
            </a:p>
          </p:txBody>
        </p:sp>
        <p:sp>
          <p:nvSpPr>
            <p:cNvPr id="14441" name="Rectangle 109"/>
            <p:cNvSpPr>
              <a:spLocks noChangeArrowheads="1"/>
            </p:cNvSpPr>
            <p:nvPr/>
          </p:nvSpPr>
          <p:spPr bwMode="auto">
            <a:xfrm>
              <a:off x="3791" y="1991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 i="1">
                  <a:solidFill>
                    <a:srgbClr val="000000"/>
                  </a:solidFill>
                  <a:latin typeface="Symbol" pitchFamily="18" charset="2"/>
                </a:rPr>
                <a:t>m</a:t>
              </a:r>
              <a:endParaRPr lang="en-US" altLang="ko-KR"/>
            </a:p>
          </p:txBody>
        </p:sp>
        <p:sp>
          <p:nvSpPr>
            <p:cNvPr id="14442" name="Rectangle 110"/>
            <p:cNvSpPr>
              <a:spLocks noChangeArrowheads="1"/>
            </p:cNvSpPr>
            <p:nvPr/>
          </p:nvSpPr>
          <p:spPr bwMode="auto">
            <a:xfrm>
              <a:off x="2257" y="1991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 i="1">
                  <a:solidFill>
                    <a:srgbClr val="000000"/>
                  </a:solidFill>
                  <a:latin typeface="Symbol" pitchFamily="18" charset="2"/>
                </a:rPr>
                <a:t>m</a:t>
              </a:r>
              <a:endParaRPr lang="en-US" altLang="ko-KR"/>
            </a:p>
          </p:txBody>
        </p:sp>
        <p:sp>
          <p:nvSpPr>
            <p:cNvPr id="14443" name="Rectangle 111"/>
            <p:cNvSpPr>
              <a:spLocks noChangeArrowheads="1"/>
            </p:cNvSpPr>
            <p:nvPr/>
          </p:nvSpPr>
          <p:spPr bwMode="auto">
            <a:xfrm>
              <a:off x="1983" y="1991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 i="1">
                  <a:solidFill>
                    <a:srgbClr val="000000"/>
                  </a:solidFill>
                  <a:latin typeface="Symbol" pitchFamily="18" charset="2"/>
                </a:rPr>
                <a:t>m</a:t>
              </a:r>
              <a:endParaRPr lang="en-US" altLang="ko-KR"/>
            </a:p>
          </p:txBody>
        </p:sp>
        <p:sp>
          <p:nvSpPr>
            <p:cNvPr id="14444" name="Rectangle 112"/>
            <p:cNvSpPr>
              <a:spLocks noChangeArrowheads="1"/>
            </p:cNvSpPr>
            <p:nvPr/>
          </p:nvSpPr>
          <p:spPr bwMode="auto">
            <a:xfrm>
              <a:off x="3798" y="1717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 i="1">
                  <a:solidFill>
                    <a:srgbClr val="000000"/>
                  </a:solidFill>
                  <a:latin typeface="Symbol" pitchFamily="18" charset="2"/>
                </a:rPr>
                <a:t>m</a:t>
              </a:r>
              <a:endParaRPr lang="en-US" altLang="ko-KR"/>
            </a:p>
          </p:txBody>
        </p:sp>
        <p:sp>
          <p:nvSpPr>
            <p:cNvPr id="14445" name="Rectangle 113"/>
            <p:cNvSpPr>
              <a:spLocks noChangeArrowheads="1"/>
            </p:cNvSpPr>
            <p:nvPr/>
          </p:nvSpPr>
          <p:spPr bwMode="auto">
            <a:xfrm>
              <a:off x="2265" y="1717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 i="1">
                  <a:solidFill>
                    <a:srgbClr val="000000"/>
                  </a:solidFill>
                  <a:latin typeface="Symbol" pitchFamily="18" charset="2"/>
                </a:rPr>
                <a:t>m</a:t>
              </a:r>
              <a:endParaRPr lang="en-US" altLang="ko-KR"/>
            </a:p>
          </p:txBody>
        </p:sp>
        <p:sp>
          <p:nvSpPr>
            <p:cNvPr id="14446" name="Rectangle 114"/>
            <p:cNvSpPr>
              <a:spLocks noChangeArrowheads="1"/>
            </p:cNvSpPr>
            <p:nvPr/>
          </p:nvSpPr>
          <p:spPr bwMode="auto">
            <a:xfrm>
              <a:off x="1993" y="1717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 i="1">
                  <a:solidFill>
                    <a:srgbClr val="000000"/>
                  </a:solidFill>
                  <a:latin typeface="Symbol" pitchFamily="18" charset="2"/>
                </a:rPr>
                <a:t>m</a:t>
              </a:r>
              <a:endParaRPr lang="en-US" altLang="ko-KR"/>
            </a:p>
          </p:txBody>
        </p:sp>
        <p:sp>
          <p:nvSpPr>
            <p:cNvPr id="14447" name="Rectangle 115"/>
            <p:cNvSpPr>
              <a:spLocks noChangeArrowheads="1"/>
            </p:cNvSpPr>
            <p:nvPr/>
          </p:nvSpPr>
          <p:spPr bwMode="auto">
            <a:xfrm>
              <a:off x="3864" y="1443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 i="1">
                  <a:solidFill>
                    <a:srgbClr val="000000"/>
                  </a:solidFill>
                  <a:latin typeface="Symbol" pitchFamily="18" charset="2"/>
                </a:rPr>
                <a:t>m</a:t>
              </a:r>
              <a:endParaRPr lang="en-US" altLang="ko-KR"/>
            </a:p>
          </p:txBody>
        </p:sp>
        <p:sp>
          <p:nvSpPr>
            <p:cNvPr id="14448" name="Rectangle 116"/>
            <p:cNvSpPr>
              <a:spLocks noChangeArrowheads="1"/>
            </p:cNvSpPr>
            <p:nvPr/>
          </p:nvSpPr>
          <p:spPr bwMode="auto">
            <a:xfrm>
              <a:off x="2243" y="1443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 i="1">
                  <a:solidFill>
                    <a:srgbClr val="000000"/>
                  </a:solidFill>
                  <a:latin typeface="Symbol" pitchFamily="18" charset="2"/>
                </a:rPr>
                <a:t>m</a:t>
              </a:r>
              <a:endParaRPr lang="en-US" altLang="ko-KR"/>
            </a:p>
          </p:txBody>
        </p:sp>
        <p:sp>
          <p:nvSpPr>
            <p:cNvPr id="14449" name="Rectangle 117"/>
            <p:cNvSpPr>
              <a:spLocks noChangeArrowheads="1"/>
            </p:cNvSpPr>
            <p:nvPr/>
          </p:nvSpPr>
          <p:spPr bwMode="auto">
            <a:xfrm>
              <a:off x="1981" y="1443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 i="1">
                  <a:solidFill>
                    <a:srgbClr val="000000"/>
                  </a:solidFill>
                  <a:latin typeface="Symbol" pitchFamily="18" charset="2"/>
                </a:rPr>
                <a:t>m</a:t>
              </a:r>
              <a:endParaRPr lang="en-US" altLang="ko-KR"/>
            </a:p>
          </p:txBody>
        </p:sp>
        <p:sp>
          <p:nvSpPr>
            <p:cNvPr id="14450" name="Rectangle 118"/>
            <p:cNvSpPr>
              <a:spLocks noChangeArrowheads="1"/>
            </p:cNvSpPr>
            <p:nvPr/>
          </p:nvSpPr>
          <p:spPr bwMode="auto">
            <a:xfrm>
              <a:off x="3894" y="1168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 i="1">
                  <a:solidFill>
                    <a:srgbClr val="000000"/>
                  </a:solidFill>
                  <a:latin typeface="Symbol" pitchFamily="18" charset="2"/>
                </a:rPr>
                <a:t>m</a:t>
              </a:r>
              <a:endParaRPr lang="en-US" altLang="ko-KR"/>
            </a:p>
          </p:txBody>
        </p:sp>
        <p:sp>
          <p:nvSpPr>
            <p:cNvPr id="14451" name="Rectangle 119"/>
            <p:cNvSpPr>
              <a:spLocks noChangeArrowheads="1"/>
            </p:cNvSpPr>
            <p:nvPr/>
          </p:nvSpPr>
          <p:spPr bwMode="auto">
            <a:xfrm>
              <a:off x="2273" y="1168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 i="1">
                  <a:solidFill>
                    <a:srgbClr val="000000"/>
                  </a:solidFill>
                  <a:latin typeface="Symbol" pitchFamily="18" charset="2"/>
                </a:rPr>
                <a:t>m</a:t>
              </a:r>
              <a:endParaRPr lang="en-US" altLang="ko-KR"/>
            </a:p>
          </p:txBody>
        </p:sp>
        <p:sp>
          <p:nvSpPr>
            <p:cNvPr id="14452" name="Rectangle 120"/>
            <p:cNvSpPr>
              <a:spLocks noChangeArrowheads="1"/>
            </p:cNvSpPr>
            <p:nvPr/>
          </p:nvSpPr>
          <p:spPr bwMode="auto">
            <a:xfrm>
              <a:off x="2013" y="1168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 i="1">
                  <a:solidFill>
                    <a:srgbClr val="000000"/>
                  </a:solidFill>
                  <a:latin typeface="Symbol" pitchFamily="18" charset="2"/>
                </a:rPr>
                <a:t>m</a:t>
              </a:r>
              <a:endParaRPr lang="en-US" altLang="ko-KR"/>
            </a:p>
          </p:txBody>
        </p:sp>
        <p:sp>
          <p:nvSpPr>
            <p:cNvPr id="14453" name="Rectangle 121"/>
            <p:cNvSpPr>
              <a:spLocks noChangeArrowheads="1"/>
            </p:cNvSpPr>
            <p:nvPr/>
          </p:nvSpPr>
          <p:spPr bwMode="auto">
            <a:xfrm>
              <a:off x="1690" y="2009"/>
              <a:ext cx="18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 i="1">
                  <a:solidFill>
                    <a:srgbClr val="000000"/>
                  </a:solidFill>
                  <a:latin typeface="Times New Roman" pitchFamily="18" charset="0"/>
                </a:rPr>
                <a:t>H</a:t>
              </a:r>
              <a:endParaRPr lang="en-US" altLang="ko-KR"/>
            </a:p>
          </p:txBody>
        </p:sp>
        <p:sp>
          <p:nvSpPr>
            <p:cNvPr id="14454" name="Rectangle 122"/>
            <p:cNvSpPr>
              <a:spLocks noChangeArrowheads="1"/>
            </p:cNvSpPr>
            <p:nvPr/>
          </p:nvSpPr>
          <p:spPr bwMode="auto">
            <a:xfrm>
              <a:off x="1700" y="1735"/>
              <a:ext cx="18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 i="1">
                  <a:solidFill>
                    <a:srgbClr val="000000"/>
                  </a:solidFill>
                  <a:latin typeface="Times New Roman" pitchFamily="18" charset="0"/>
                </a:rPr>
                <a:t>H</a:t>
              </a:r>
              <a:endParaRPr lang="en-US" altLang="ko-KR"/>
            </a:p>
          </p:txBody>
        </p:sp>
        <p:sp>
          <p:nvSpPr>
            <p:cNvPr id="14455" name="Rectangle 123"/>
            <p:cNvSpPr>
              <a:spLocks noChangeArrowheads="1"/>
            </p:cNvSpPr>
            <p:nvPr/>
          </p:nvSpPr>
          <p:spPr bwMode="auto">
            <a:xfrm>
              <a:off x="1688" y="1461"/>
              <a:ext cx="18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 i="1">
                  <a:solidFill>
                    <a:srgbClr val="000000"/>
                  </a:solidFill>
                  <a:latin typeface="Times New Roman" pitchFamily="18" charset="0"/>
                </a:rPr>
                <a:t>H</a:t>
              </a:r>
              <a:endParaRPr lang="en-US" altLang="ko-KR"/>
            </a:p>
          </p:txBody>
        </p:sp>
        <p:sp>
          <p:nvSpPr>
            <p:cNvPr id="14456" name="Rectangle 124"/>
            <p:cNvSpPr>
              <a:spLocks noChangeArrowheads="1"/>
            </p:cNvSpPr>
            <p:nvPr/>
          </p:nvSpPr>
          <p:spPr bwMode="auto">
            <a:xfrm>
              <a:off x="1705" y="1186"/>
              <a:ext cx="18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 i="1">
                  <a:solidFill>
                    <a:srgbClr val="000000"/>
                  </a:solidFill>
                  <a:latin typeface="Times New Roman" pitchFamily="18" charset="0"/>
                </a:rPr>
                <a:t>H</a:t>
              </a:r>
              <a:endParaRPr lang="en-US" altLang="ko-KR"/>
            </a:p>
          </p:txBody>
        </p:sp>
      </p:grpSp>
      <p:sp>
        <p:nvSpPr>
          <p:cNvPr id="14341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762000"/>
          </a:xfrm>
          <a:gradFill rotWithShape="0">
            <a:gsLst>
              <a:gs pos="0">
                <a:schemeClr val="bg1"/>
              </a:gs>
              <a:gs pos="100000">
                <a:srgbClr val="FFC9FF"/>
              </a:gs>
            </a:gsLst>
            <a:path path="shape">
              <a:fillToRect l="50000" t="50000" r="50000" b="50000"/>
            </a:path>
          </a:gradFill>
        </p:spPr>
        <p:txBody>
          <a:bodyPr/>
          <a:lstStyle/>
          <a:p>
            <a:r>
              <a:rPr lang="ko-KR" altLang="en-US">
                <a:latin typeface="휴먼매직체" pitchFamily="18" charset="-127"/>
                <a:ea typeface="휴먼매직체" pitchFamily="18" charset="-127"/>
              </a:rPr>
              <a:t>가설 검정이란</a:t>
            </a:r>
            <a:r>
              <a:rPr lang="en-US" altLang="ko-KR">
                <a:latin typeface="휴먼매직체" pitchFamily="18" charset="-127"/>
                <a:ea typeface="휴먼매직체" pitchFamily="18" charset="-127"/>
              </a:rPr>
              <a:t>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447800"/>
            <a:ext cx="7924800" cy="2514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buFontTx/>
              <a:buBlip>
                <a:blip r:embed="rId2"/>
              </a:buBlip>
            </a:pPr>
            <a:r>
              <a:rPr lang="ko-KR" altLang="en-US">
                <a:solidFill>
                  <a:schemeClr val="accent2"/>
                </a:solidFill>
                <a:latin typeface="HY엽서M" pitchFamily="18" charset="-127"/>
                <a:ea typeface="HY엽서M" pitchFamily="18" charset="-127"/>
              </a:rPr>
              <a:t>검정통계량 </a:t>
            </a:r>
            <a:r>
              <a:rPr lang="en-US" altLang="ko-KR">
                <a:solidFill>
                  <a:schemeClr val="accent2"/>
                </a:solidFill>
                <a:latin typeface="HY엽서M" pitchFamily="18" charset="-127"/>
                <a:ea typeface="HY엽서M" pitchFamily="18" charset="-127"/>
              </a:rPr>
              <a:t>: </a:t>
            </a:r>
            <a:r>
              <a:rPr lang="ko-KR" altLang="en-US">
                <a:solidFill>
                  <a:schemeClr val="accent2"/>
                </a:solidFill>
                <a:latin typeface="HY엽서M" pitchFamily="18" charset="-127"/>
                <a:ea typeface="HY엽서M" pitchFamily="18" charset="-127"/>
              </a:rPr>
              <a:t>주어진 자료를 기초로 귀무가설에 대응</a:t>
            </a:r>
            <a:r>
              <a:rPr lang="en-US" altLang="ko-KR">
                <a:solidFill>
                  <a:schemeClr val="accent2"/>
                </a:solidFill>
                <a:latin typeface="HY엽서M" pitchFamily="18" charset="-127"/>
                <a:ea typeface="HY엽서M" pitchFamily="18" charset="-127"/>
              </a:rPr>
              <a:t>, </a:t>
            </a:r>
          </a:p>
          <a:p>
            <a:pPr>
              <a:buFontTx/>
              <a:buNone/>
            </a:pPr>
            <a:r>
              <a:rPr lang="en-US" altLang="ko-KR">
                <a:solidFill>
                  <a:schemeClr val="accent2"/>
                </a:solidFill>
                <a:latin typeface="HY엽서M" pitchFamily="18" charset="-127"/>
                <a:ea typeface="HY엽서M" pitchFamily="18" charset="-127"/>
              </a:rPr>
              <a:t>    </a:t>
            </a:r>
            <a:r>
              <a:rPr lang="ko-KR" altLang="en-US">
                <a:solidFill>
                  <a:schemeClr val="accent2"/>
                </a:solidFill>
                <a:latin typeface="HY엽서M" pitchFamily="18" charset="-127"/>
                <a:ea typeface="HY엽서M" pitchFamily="18" charset="-127"/>
              </a:rPr>
              <a:t>표본의 값에 따라 변하는 확률변수</a:t>
            </a:r>
            <a:r>
              <a:rPr lang="en-US" altLang="ko-KR">
                <a:solidFill>
                  <a:schemeClr val="accent2"/>
                </a:solidFill>
                <a:latin typeface="HY엽서M" pitchFamily="18" charset="-127"/>
                <a:ea typeface="HY엽서M" pitchFamily="18" charset="-127"/>
              </a:rPr>
              <a:t>( </a:t>
            </a:r>
            <a:r>
              <a:rPr lang="ko-KR" altLang="en-US">
                <a:solidFill>
                  <a:schemeClr val="accent2"/>
                </a:solidFill>
                <a:latin typeface="HY엽서M" pitchFamily="18" charset="-127"/>
                <a:ea typeface="HY엽서M" pitchFamily="18" charset="-127"/>
              </a:rPr>
              <a:t>예 </a:t>
            </a:r>
            <a:r>
              <a:rPr lang="en-US" altLang="ko-KR">
                <a:solidFill>
                  <a:schemeClr val="accent2"/>
                </a:solidFill>
                <a:latin typeface="HY엽서M" pitchFamily="18" charset="-127"/>
                <a:ea typeface="HY엽서M" pitchFamily="18" charset="-127"/>
              </a:rPr>
              <a:t>; Z, T, F, χ</a:t>
            </a:r>
            <a:r>
              <a:rPr lang="en-US" altLang="ko-KR" baseline="30000">
                <a:solidFill>
                  <a:schemeClr val="accent2"/>
                </a:solidFill>
                <a:latin typeface="HY엽서M" pitchFamily="18" charset="-127"/>
                <a:ea typeface="HY엽서M" pitchFamily="18" charset="-127"/>
              </a:rPr>
              <a:t>2</a:t>
            </a:r>
            <a:r>
              <a:rPr lang="en-US" altLang="ko-KR">
                <a:solidFill>
                  <a:schemeClr val="accent2"/>
                </a:solidFill>
                <a:latin typeface="HY엽서M" pitchFamily="18" charset="-127"/>
                <a:ea typeface="HY엽서M" pitchFamily="18" charset="-127"/>
              </a:rPr>
              <a:t>)</a:t>
            </a:r>
          </a:p>
          <a:p>
            <a:pPr>
              <a:lnSpc>
                <a:spcPct val="130000"/>
              </a:lnSpc>
              <a:buFontTx/>
              <a:buBlip>
                <a:blip r:embed="rId2"/>
              </a:buBlip>
            </a:pPr>
            <a:r>
              <a:rPr lang="ko-KR" altLang="en-US">
                <a:solidFill>
                  <a:schemeClr val="accent2"/>
                </a:solidFill>
                <a:latin typeface="HY엽서M" pitchFamily="18" charset="-127"/>
                <a:ea typeface="HY엽서M" pitchFamily="18" charset="-127"/>
              </a:rPr>
              <a:t>기각역 </a:t>
            </a:r>
            <a:r>
              <a:rPr lang="en-US" altLang="ko-KR">
                <a:solidFill>
                  <a:schemeClr val="accent2"/>
                </a:solidFill>
                <a:latin typeface="HY엽서M" pitchFamily="18" charset="-127"/>
                <a:ea typeface="HY엽서M" pitchFamily="18" charset="-127"/>
              </a:rPr>
              <a:t>: </a:t>
            </a:r>
            <a:r>
              <a:rPr lang="ko-KR" altLang="en-US">
                <a:solidFill>
                  <a:schemeClr val="accent2"/>
                </a:solidFill>
                <a:latin typeface="HY엽서M" pitchFamily="18" charset="-127"/>
                <a:ea typeface="HY엽서M" pitchFamily="18" charset="-127"/>
              </a:rPr>
              <a:t>귀무가설을 기각하는 영역</a:t>
            </a:r>
            <a:r>
              <a:rPr lang="en-US" altLang="ko-KR">
                <a:solidFill>
                  <a:schemeClr val="accent2"/>
                </a:solidFill>
                <a:latin typeface="HY엽서M" pitchFamily="18" charset="-127"/>
                <a:ea typeface="HY엽서M" pitchFamily="18" charset="-127"/>
              </a:rPr>
              <a:t>, </a:t>
            </a:r>
            <a:r>
              <a:rPr lang="ko-KR" altLang="en-US">
                <a:solidFill>
                  <a:schemeClr val="accent2"/>
                </a:solidFill>
                <a:latin typeface="HY엽서M" pitchFamily="18" charset="-127"/>
                <a:ea typeface="HY엽서M" pitchFamily="18" charset="-127"/>
              </a:rPr>
              <a:t>표본이 가설에서 설정한 모집단에서 추출된 것이라 할 수 없는 영역</a:t>
            </a:r>
            <a:r>
              <a:rPr lang="en-US" altLang="ko-KR">
                <a:solidFill>
                  <a:schemeClr val="accent2"/>
                </a:solidFill>
                <a:latin typeface="HY엽서M" pitchFamily="18" charset="-127"/>
                <a:ea typeface="HY엽서M" pitchFamily="18" charset="-127"/>
              </a:rPr>
              <a:t>.</a:t>
            </a:r>
          </a:p>
        </p:txBody>
      </p:sp>
      <p:sp>
        <p:nvSpPr>
          <p:cNvPr id="15363" name="Rectangle 4"/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762000"/>
          </a:xfrm>
          <a:gradFill rotWithShape="0">
            <a:gsLst>
              <a:gs pos="0">
                <a:schemeClr val="bg1"/>
              </a:gs>
              <a:gs pos="100000">
                <a:srgbClr val="FFC9FF"/>
              </a:gs>
            </a:gsLst>
            <a:path path="shape">
              <a:fillToRect l="50000" t="50000" r="50000" b="50000"/>
            </a:path>
          </a:gradFill>
        </p:spPr>
        <p:txBody>
          <a:bodyPr/>
          <a:lstStyle/>
          <a:p>
            <a:r>
              <a:rPr lang="ko-KR" altLang="en-US">
                <a:latin typeface="휴먼매직체" pitchFamily="18" charset="-127"/>
                <a:ea typeface="휴먼매직체" pitchFamily="18" charset="-127"/>
              </a:rPr>
              <a:t>가설검정 </a:t>
            </a:r>
            <a:r>
              <a:rPr lang="en-US" altLang="ko-KR">
                <a:latin typeface="휴먼매직체" pitchFamily="18" charset="-127"/>
                <a:ea typeface="휴먼매직체" pitchFamily="18" charset="-127"/>
              </a:rPr>
              <a:t>-</a:t>
            </a:r>
            <a:r>
              <a:rPr lang="ko-KR" altLang="en-US">
                <a:latin typeface="휴먼매직체" pitchFamily="18" charset="-127"/>
                <a:ea typeface="휴먼매직체" pitchFamily="18" charset="-127"/>
              </a:rPr>
              <a:t>검정통계량과 기각역</a:t>
            </a:r>
          </a:p>
        </p:txBody>
      </p:sp>
      <p:pic>
        <p:nvPicPr>
          <p:cNvPr id="15364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4191000"/>
            <a:ext cx="609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379413" y="1447800"/>
            <a:ext cx="8764587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/>
          <a:p>
            <a:pPr algn="l"/>
            <a:r>
              <a:rPr lang="en-US" altLang="ko-KR" sz="1900" b="1">
                <a:solidFill>
                  <a:schemeClr val="tx1"/>
                </a:solidFill>
              </a:rPr>
              <a:t>H</a:t>
            </a:r>
            <a:r>
              <a:rPr lang="en-US" altLang="ko-KR" sz="1900" b="1" baseline="-25000">
                <a:solidFill>
                  <a:schemeClr val="tx1"/>
                </a:solidFill>
              </a:rPr>
              <a:t>o</a:t>
            </a:r>
            <a:r>
              <a:rPr lang="en-US" altLang="ko-KR" sz="1900" b="1">
                <a:solidFill>
                  <a:schemeClr val="tx1"/>
                </a:solidFill>
              </a:rPr>
              <a:t> </a:t>
            </a:r>
            <a:r>
              <a:rPr lang="ko-KR" altLang="en-US" sz="1900" b="1">
                <a:solidFill>
                  <a:schemeClr val="tx1"/>
                </a:solidFill>
              </a:rPr>
              <a:t>를 기각할 것인지 아닌지를 결정할 때</a:t>
            </a:r>
            <a:r>
              <a:rPr lang="en-US" altLang="ko-KR" sz="1900" b="1">
                <a:solidFill>
                  <a:schemeClr val="tx1"/>
                </a:solidFill>
              </a:rPr>
              <a:t>,  2</a:t>
            </a:r>
            <a:r>
              <a:rPr lang="ko-KR" altLang="en-US" sz="1900" b="1">
                <a:solidFill>
                  <a:schemeClr val="tx1"/>
                </a:solidFill>
              </a:rPr>
              <a:t>가지 의사결정 실수를 할 수 있다</a:t>
            </a:r>
          </a:p>
        </p:txBody>
      </p:sp>
      <p:sp>
        <p:nvSpPr>
          <p:cNvPr id="16387" name="Rectangle 5"/>
          <p:cNvSpPr>
            <a:spLocks noChangeArrowheads="1"/>
          </p:cNvSpPr>
          <p:nvPr/>
        </p:nvSpPr>
        <p:spPr bwMode="auto">
          <a:xfrm>
            <a:off x="557213" y="3990975"/>
            <a:ext cx="876300" cy="458788"/>
          </a:xfrm>
          <a:prstGeom prst="rect">
            <a:avLst/>
          </a:prstGeom>
          <a:gradFill rotWithShape="0">
            <a:gsLst>
              <a:gs pos="0">
                <a:srgbClr val="FFFFCC"/>
              </a:gs>
              <a:gs pos="50000">
                <a:srgbClr val="FFFFFF"/>
              </a:gs>
              <a:gs pos="100000">
                <a:srgbClr val="FFFFCC"/>
              </a:gs>
            </a:gsLst>
            <a:lin ang="2700000" scaled="1"/>
          </a:gradFill>
          <a:ln w="50800">
            <a:solidFill>
              <a:schemeClr val="accent2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lIns="90488" tIns="44450" rIns="90488" bIns="44450">
            <a:spAutoFit/>
          </a:bodyPr>
          <a:lstStyle/>
          <a:p>
            <a:r>
              <a:rPr lang="ko-KR" altLang="en-US" sz="2400" b="1">
                <a:solidFill>
                  <a:schemeClr val="tx1"/>
                </a:solidFill>
              </a:rPr>
              <a:t>진 실 </a:t>
            </a:r>
          </a:p>
        </p:txBody>
      </p:sp>
      <p:sp>
        <p:nvSpPr>
          <p:cNvPr id="977926" name="Rectangle 6"/>
          <p:cNvSpPr>
            <a:spLocks noChangeArrowheads="1"/>
          </p:cNvSpPr>
          <p:nvPr/>
        </p:nvSpPr>
        <p:spPr bwMode="auto">
          <a:xfrm>
            <a:off x="1960563" y="3860800"/>
            <a:ext cx="1389062" cy="466725"/>
          </a:xfrm>
          <a:prstGeom prst="rect">
            <a:avLst/>
          </a:prstGeom>
          <a:gradFill rotWithShape="0">
            <a:gsLst>
              <a:gs pos="0">
                <a:srgbClr val="CCFFCC"/>
              </a:gs>
              <a:gs pos="50000">
                <a:schemeClr val="bg1"/>
              </a:gs>
              <a:gs pos="100000">
                <a:srgbClr val="CCFFCC"/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>
              <a:defRPr/>
            </a:pPr>
            <a:r>
              <a:rPr lang="en-US" altLang="ko-KR" b="1" dirty="0">
                <a:solidFill>
                  <a:schemeClr val="tx1"/>
                </a:solidFill>
              </a:rPr>
              <a:t>H</a:t>
            </a:r>
            <a:r>
              <a:rPr lang="en-US" altLang="ko-KR" sz="2400" b="1" baseline="-25000" dirty="0">
                <a:solidFill>
                  <a:schemeClr val="tx1"/>
                </a:solidFill>
              </a:rPr>
              <a:t>o  </a:t>
            </a:r>
            <a:r>
              <a:rPr lang="ko-KR" altLang="en-US" sz="2400" b="1" dirty="0">
                <a:solidFill>
                  <a:schemeClr val="tx1"/>
                </a:solidFill>
              </a:rPr>
              <a:t>참</a:t>
            </a:r>
            <a:r>
              <a:rPr lang="ko-KR" altLang="en-US" sz="2400" b="1" baseline="-25000" dirty="0">
                <a:solidFill>
                  <a:schemeClr val="tx1"/>
                </a:solidFill>
              </a:rPr>
              <a:t> 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6389" name="Rectangle 7"/>
          <p:cNvSpPr>
            <a:spLocks noChangeArrowheads="1"/>
          </p:cNvSpPr>
          <p:nvPr/>
        </p:nvSpPr>
        <p:spPr bwMode="auto">
          <a:xfrm>
            <a:off x="5184775" y="2098675"/>
            <a:ext cx="1355725" cy="458788"/>
          </a:xfrm>
          <a:prstGeom prst="rect">
            <a:avLst/>
          </a:prstGeom>
          <a:gradFill rotWithShape="0">
            <a:gsLst>
              <a:gs pos="0">
                <a:srgbClr val="00FFFF"/>
              </a:gs>
              <a:gs pos="50000">
                <a:srgbClr val="FFFFFF"/>
              </a:gs>
              <a:gs pos="100000">
                <a:srgbClr val="00FFFF"/>
              </a:gs>
            </a:gsLst>
            <a:lin ang="2700000" scaled="1"/>
          </a:gradFill>
          <a:ln w="50800">
            <a:solidFill>
              <a:schemeClr val="accent2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lIns="90488" tIns="44450" rIns="90488" bIns="44450">
            <a:spAutoFit/>
          </a:bodyPr>
          <a:lstStyle/>
          <a:p>
            <a:r>
              <a:rPr lang="ko-KR" altLang="en-US" sz="2400" b="1">
                <a:solidFill>
                  <a:schemeClr val="tx1"/>
                </a:solidFill>
              </a:rPr>
              <a:t>결 정 </a:t>
            </a:r>
          </a:p>
        </p:txBody>
      </p:sp>
      <p:sp>
        <p:nvSpPr>
          <p:cNvPr id="977928" name="Rectangle 8"/>
          <p:cNvSpPr>
            <a:spLocks noChangeArrowheads="1"/>
          </p:cNvSpPr>
          <p:nvPr/>
        </p:nvSpPr>
        <p:spPr bwMode="auto">
          <a:xfrm>
            <a:off x="3562350" y="2900363"/>
            <a:ext cx="1866900" cy="366712"/>
          </a:xfrm>
          <a:prstGeom prst="rect">
            <a:avLst/>
          </a:prstGeom>
          <a:gradFill rotWithShape="0">
            <a:gsLst>
              <a:gs pos="0">
                <a:srgbClr val="CCFFCC"/>
              </a:gs>
              <a:gs pos="50000">
                <a:schemeClr val="bg1"/>
              </a:gs>
              <a:gs pos="100000">
                <a:srgbClr val="CCFFCC"/>
              </a:gs>
            </a:gsLst>
            <a:lin ang="2700000" scaled="1"/>
          </a:gra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>
              <a:defRPr/>
            </a:pPr>
            <a:r>
              <a:rPr lang="en-US" altLang="ko-KR" b="1" dirty="0">
                <a:solidFill>
                  <a:schemeClr val="tx1"/>
                </a:solidFill>
              </a:rPr>
              <a:t>H</a:t>
            </a:r>
            <a:r>
              <a:rPr lang="en-US" altLang="ko-KR" sz="2400" b="1" baseline="-25000" dirty="0">
                <a:solidFill>
                  <a:schemeClr val="tx1"/>
                </a:solidFill>
              </a:rPr>
              <a:t>o</a:t>
            </a:r>
            <a:r>
              <a:rPr lang="en-US" altLang="ko-KR" b="1" dirty="0">
                <a:solidFill>
                  <a:schemeClr val="tx1"/>
                </a:solidFill>
              </a:rPr>
              <a:t> </a:t>
            </a:r>
            <a:r>
              <a:rPr lang="ko-KR" altLang="en-US" b="1" dirty="0">
                <a:solidFill>
                  <a:schemeClr val="tx1"/>
                </a:solidFill>
              </a:rPr>
              <a:t>채택</a:t>
            </a:r>
          </a:p>
        </p:txBody>
      </p:sp>
      <p:sp>
        <p:nvSpPr>
          <p:cNvPr id="977929" name="Rectangle 9"/>
          <p:cNvSpPr>
            <a:spLocks noChangeArrowheads="1"/>
          </p:cNvSpPr>
          <p:nvPr/>
        </p:nvSpPr>
        <p:spPr bwMode="auto">
          <a:xfrm>
            <a:off x="6026150" y="2862263"/>
            <a:ext cx="1866900" cy="366712"/>
          </a:xfrm>
          <a:prstGeom prst="rect">
            <a:avLst/>
          </a:prstGeom>
          <a:gradFill rotWithShape="0">
            <a:gsLst>
              <a:gs pos="0">
                <a:srgbClr val="FF00FF"/>
              </a:gs>
              <a:gs pos="50000">
                <a:schemeClr val="bg1"/>
              </a:gs>
              <a:gs pos="100000">
                <a:srgbClr val="FF00FF"/>
              </a:gs>
            </a:gsLst>
            <a:lin ang="2700000" scaled="1"/>
          </a:gra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>
              <a:defRPr/>
            </a:pPr>
            <a:r>
              <a:rPr lang="en-US" altLang="ko-KR" b="1" dirty="0">
                <a:solidFill>
                  <a:schemeClr val="tx1"/>
                </a:solidFill>
              </a:rPr>
              <a:t>H</a:t>
            </a:r>
            <a:r>
              <a:rPr lang="en-US" altLang="ko-KR" sz="2400" b="1" baseline="-25000" dirty="0">
                <a:solidFill>
                  <a:schemeClr val="tx1"/>
                </a:solidFill>
              </a:rPr>
              <a:t>o</a:t>
            </a:r>
            <a:r>
              <a:rPr lang="en-US" altLang="ko-KR" b="1" dirty="0">
                <a:solidFill>
                  <a:schemeClr val="tx1"/>
                </a:solidFill>
              </a:rPr>
              <a:t> </a:t>
            </a:r>
            <a:r>
              <a:rPr lang="ko-KR" altLang="en-US" b="1" dirty="0">
                <a:solidFill>
                  <a:schemeClr val="tx1"/>
                </a:solidFill>
              </a:rPr>
              <a:t>기각</a:t>
            </a:r>
          </a:p>
        </p:txBody>
      </p:sp>
      <p:grpSp>
        <p:nvGrpSpPr>
          <p:cNvPr id="16392" name="Group 21"/>
          <p:cNvGrpSpPr>
            <a:grpSpLocks/>
          </p:cNvGrpSpPr>
          <p:nvPr/>
        </p:nvGrpSpPr>
        <p:grpSpPr bwMode="auto">
          <a:xfrm>
            <a:off x="3543300" y="3481388"/>
            <a:ext cx="4559300" cy="2686050"/>
            <a:chOff x="2456" y="1833"/>
            <a:chExt cx="2872" cy="1692"/>
          </a:xfrm>
        </p:grpSpPr>
        <p:sp>
          <p:nvSpPr>
            <p:cNvPr id="16396" name="Rectangle 20"/>
            <p:cNvSpPr>
              <a:spLocks noChangeArrowheads="1"/>
            </p:cNvSpPr>
            <p:nvPr/>
          </p:nvSpPr>
          <p:spPr bwMode="auto">
            <a:xfrm>
              <a:off x="3872" y="1833"/>
              <a:ext cx="1456" cy="824"/>
            </a:xfrm>
            <a:prstGeom prst="rect">
              <a:avLst/>
            </a:prstGeom>
            <a:gradFill rotWithShape="0">
              <a:gsLst>
                <a:gs pos="0">
                  <a:srgbClr val="FF00FF"/>
                </a:gs>
                <a:gs pos="50000">
                  <a:srgbClr val="FFFFFF"/>
                </a:gs>
                <a:gs pos="100000">
                  <a:srgbClr val="FF00FF"/>
                </a:gs>
              </a:gsLst>
              <a:lin ang="2700000" scaled="1"/>
            </a:gra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ko-KR" altLang="en-US" b="1"/>
            </a:p>
          </p:txBody>
        </p:sp>
        <p:sp>
          <p:nvSpPr>
            <p:cNvPr id="16397" name="Rectangle 19"/>
            <p:cNvSpPr>
              <a:spLocks noChangeArrowheads="1"/>
            </p:cNvSpPr>
            <p:nvPr/>
          </p:nvSpPr>
          <p:spPr bwMode="auto">
            <a:xfrm>
              <a:off x="2472" y="2633"/>
              <a:ext cx="1416" cy="888"/>
            </a:xfrm>
            <a:prstGeom prst="rect">
              <a:avLst/>
            </a:prstGeom>
            <a:gradFill rotWithShape="0">
              <a:gsLst>
                <a:gs pos="0">
                  <a:srgbClr val="FFCCCC"/>
                </a:gs>
                <a:gs pos="50000">
                  <a:srgbClr val="FFFFFF"/>
                </a:gs>
                <a:gs pos="100000">
                  <a:srgbClr val="FFCCCC"/>
                </a:gs>
              </a:gsLst>
              <a:lin ang="2700000" scaled="1"/>
            </a:gra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ko-KR" altLang="en-US" b="1"/>
            </a:p>
          </p:txBody>
        </p:sp>
        <p:sp>
          <p:nvSpPr>
            <p:cNvPr id="16398" name="Line 3"/>
            <p:cNvSpPr>
              <a:spLocks noChangeShapeType="1"/>
            </p:cNvSpPr>
            <p:nvPr/>
          </p:nvSpPr>
          <p:spPr bwMode="auto">
            <a:xfrm>
              <a:off x="3860" y="1841"/>
              <a:ext cx="0" cy="16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6399" name="Line 4"/>
            <p:cNvSpPr>
              <a:spLocks noChangeShapeType="1"/>
            </p:cNvSpPr>
            <p:nvPr/>
          </p:nvSpPr>
          <p:spPr bwMode="auto">
            <a:xfrm>
              <a:off x="2456" y="2629"/>
              <a:ext cx="2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6400" name="Rectangle 11"/>
            <p:cNvSpPr>
              <a:spLocks noChangeArrowheads="1"/>
            </p:cNvSpPr>
            <p:nvPr/>
          </p:nvSpPr>
          <p:spPr bwMode="auto">
            <a:xfrm>
              <a:off x="2456" y="1841"/>
              <a:ext cx="2872" cy="168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ko-KR" altLang="en-US" b="1"/>
            </a:p>
          </p:txBody>
        </p:sp>
        <p:sp>
          <p:nvSpPr>
            <p:cNvPr id="16401" name="Rectangle 12"/>
            <p:cNvSpPr>
              <a:spLocks noChangeArrowheads="1"/>
            </p:cNvSpPr>
            <p:nvPr/>
          </p:nvSpPr>
          <p:spPr bwMode="auto">
            <a:xfrm>
              <a:off x="2456" y="1841"/>
              <a:ext cx="1400" cy="784"/>
            </a:xfrm>
            <a:prstGeom prst="rect">
              <a:avLst/>
            </a:prstGeom>
            <a:gradFill rotWithShape="0">
              <a:gsLst>
                <a:gs pos="0">
                  <a:srgbClr val="00FF00"/>
                </a:gs>
                <a:gs pos="50000">
                  <a:srgbClr val="FFFFFF"/>
                </a:gs>
                <a:gs pos="100000">
                  <a:srgbClr val="00FF00"/>
                </a:gs>
              </a:gsLst>
              <a:lin ang="2700000" scaled="1"/>
            </a:gra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ko-KR" altLang="en-US" b="1"/>
            </a:p>
          </p:txBody>
        </p:sp>
        <p:sp>
          <p:nvSpPr>
            <p:cNvPr id="16402" name="Rectangle 13"/>
            <p:cNvSpPr>
              <a:spLocks noChangeArrowheads="1"/>
            </p:cNvSpPr>
            <p:nvPr/>
          </p:nvSpPr>
          <p:spPr bwMode="auto">
            <a:xfrm>
              <a:off x="3864" y="2633"/>
              <a:ext cx="1464" cy="892"/>
            </a:xfrm>
            <a:prstGeom prst="rect">
              <a:avLst/>
            </a:prstGeom>
            <a:gradFill rotWithShape="0">
              <a:gsLst>
                <a:gs pos="0">
                  <a:srgbClr val="00FF00"/>
                </a:gs>
                <a:gs pos="50000">
                  <a:srgbClr val="FFFFFF"/>
                </a:gs>
                <a:gs pos="100000">
                  <a:srgbClr val="00FF00"/>
                </a:gs>
              </a:gsLst>
              <a:lin ang="2700000" scaled="1"/>
            </a:gra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ko-KR" altLang="en-US" b="1"/>
            </a:p>
          </p:txBody>
        </p:sp>
        <p:sp>
          <p:nvSpPr>
            <p:cNvPr id="16403" name="Rectangle 14"/>
            <p:cNvSpPr>
              <a:spLocks noChangeArrowheads="1"/>
            </p:cNvSpPr>
            <p:nvPr/>
          </p:nvSpPr>
          <p:spPr bwMode="auto">
            <a:xfrm>
              <a:off x="3888" y="1879"/>
              <a:ext cx="1384" cy="4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/>
            <a:p>
              <a:r>
                <a:rPr lang="ko-KR" altLang="en-US" b="1">
                  <a:solidFill>
                    <a:schemeClr val="tx1"/>
                  </a:solidFill>
                </a:rPr>
                <a:t>제</a:t>
              </a:r>
              <a:r>
                <a:rPr lang="en-US" altLang="ko-KR" b="1">
                  <a:solidFill>
                    <a:schemeClr val="tx1"/>
                  </a:solidFill>
                </a:rPr>
                <a:t>1</a:t>
              </a:r>
              <a:r>
                <a:rPr lang="ko-KR" altLang="en-US" b="1">
                  <a:solidFill>
                    <a:schemeClr val="tx1"/>
                  </a:solidFill>
                </a:rPr>
                <a:t>종 과오   </a:t>
              </a:r>
            </a:p>
            <a:p>
              <a:r>
                <a:rPr lang="de-DE" altLang="ko-KR" b="1">
                  <a:solidFill>
                    <a:schemeClr val="tx1"/>
                  </a:solidFill>
                </a:rPr>
                <a:t>( α</a:t>
              </a:r>
              <a:r>
                <a:rPr lang="ko-KR" altLang="en-US" b="1">
                  <a:solidFill>
                    <a:schemeClr val="tx1"/>
                  </a:solidFill>
                </a:rPr>
                <a:t>위험 </a:t>
              </a:r>
              <a:r>
                <a:rPr lang="en-US" altLang="ko-KR" b="1">
                  <a:solidFill>
                    <a:schemeClr val="tx1"/>
                  </a:solidFill>
                </a:rPr>
                <a:t>)</a:t>
              </a:r>
            </a:p>
          </p:txBody>
        </p:sp>
        <p:sp>
          <p:nvSpPr>
            <p:cNvPr id="16404" name="Rectangle 15"/>
            <p:cNvSpPr>
              <a:spLocks noChangeArrowheads="1"/>
            </p:cNvSpPr>
            <p:nvPr/>
          </p:nvSpPr>
          <p:spPr bwMode="auto">
            <a:xfrm>
              <a:off x="2664" y="2767"/>
              <a:ext cx="104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/>
            <a:p>
              <a:endParaRPr lang="en-US" altLang="ko-KR" b="1">
                <a:solidFill>
                  <a:schemeClr val="tx1"/>
                </a:solidFill>
              </a:endParaRPr>
            </a:p>
          </p:txBody>
        </p:sp>
        <p:sp>
          <p:nvSpPr>
            <p:cNvPr id="16405" name="Rectangle 16"/>
            <p:cNvSpPr>
              <a:spLocks noChangeArrowheads="1"/>
            </p:cNvSpPr>
            <p:nvPr/>
          </p:nvSpPr>
          <p:spPr bwMode="auto">
            <a:xfrm>
              <a:off x="2956" y="2025"/>
              <a:ext cx="400" cy="23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2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ko-KR" altLang="en-US" b="1">
                  <a:solidFill>
                    <a:schemeClr val="tx1"/>
                  </a:solidFill>
                </a:rPr>
                <a:t>맞음</a:t>
              </a:r>
            </a:p>
          </p:txBody>
        </p:sp>
        <p:sp>
          <p:nvSpPr>
            <p:cNvPr id="16406" name="Rectangle 17"/>
            <p:cNvSpPr>
              <a:spLocks noChangeArrowheads="1"/>
            </p:cNvSpPr>
            <p:nvPr/>
          </p:nvSpPr>
          <p:spPr bwMode="auto">
            <a:xfrm>
              <a:off x="4396" y="2937"/>
              <a:ext cx="400" cy="23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2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ko-KR" altLang="en-US" b="1">
                  <a:solidFill>
                    <a:schemeClr val="tx1"/>
                  </a:solidFill>
                </a:rPr>
                <a:t>맞음</a:t>
              </a:r>
            </a:p>
          </p:txBody>
        </p:sp>
      </p:grpSp>
      <p:sp>
        <p:nvSpPr>
          <p:cNvPr id="977938" name="Rectangle 18"/>
          <p:cNvSpPr>
            <a:spLocks noChangeArrowheads="1"/>
          </p:cNvSpPr>
          <p:nvPr/>
        </p:nvSpPr>
        <p:spPr bwMode="auto">
          <a:xfrm>
            <a:off x="1966913" y="5241925"/>
            <a:ext cx="1398587" cy="458788"/>
          </a:xfrm>
          <a:prstGeom prst="rect">
            <a:avLst/>
          </a:prstGeom>
          <a:gradFill rotWithShape="0">
            <a:gsLst>
              <a:gs pos="0">
                <a:srgbClr val="FF00FF"/>
              </a:gs>
              <a:gs pos="50000">
                <a:schemeClr val="bg1"/>
              </a:gs>
              <a:gs pos="100000">
                <a:srgbClr val="FF00FF"/>
              </a:gs>
            </a:gsLst>
            <a:lin ang="2700000" scaled="1"/>
          </a:gra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>
              <a:defRPr/>
            </a:pPr>
            <a:r>
              <a:rPr lang="en-US" altLang="ko-KR" b="1" dirty="0">
                <a:solidFill>
                  <a:schemeClr val="tx1"/>
                </a:solidFill>
              </a:rPr>
              <a:t>H</a:t>
            </a:r>
            <a:r>
              <a:rPr lang="en-US" altLang="ko-KR" sz="2400" b="1" baseline="-25000" dirty="0">
                <a:solidFill>
                  <a:schemeClr val="tx1"/>
                </a:solidFill>
              </a:rPr>
              <a:t>o </a:t>
            </a:r>
            <a:r>
              <a:rPr lang="ko-KR" altLang="en-US" sz="2400" b="1" dirty="0">
                <a:solidFill>
                  <a:schemeClr val="tx1"/>
                </a:solidFill>
              </a:rPr>
              <a:t>거짓</a:t>
            </a:r>
          </a:p>
        </p:txBody>
      </p:sp>
      <p:sp>
        <p:nvSpPr>
          <p:cNvPr id="16394" name="직사각형 1"/>
          <p:cNvSpPr>
            <a:spLocks noChangeArrowheads="1"/>
          </p:cNvSpPr>
          <p:nvPr/>
        </p:nvSpPr>
        <p:spPr bwMode="auto">
          <a:xfrm>
            <a:off x="2311400" y="4938713"/>
            <a:ext cx="4572000" cy="738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ko-KR" altLang="en-US" b="1">
                <a:solidFill>
                  <a:schemeClr val="tx1"/>
                </a:solidFill>
              </a:rPr>
              <a:t>제</a:t>
            </a:r>
            <a:r>
              <a:rPr lang="en-US" altLang="ko-KR" b="1">
                <a:solidFill>
                  <a:schemeClr val="tx1"/>
                </a:solidFill>
              </a:rPr>
              <a:t>2</a:t>
            </a:r>
            <a:r>
              <a:rPr lang="ko-KR" altLang="en-US" b="1">
                <a:solidFill>
                  <a:schemeClr val="tx1"/>
                </a:solidFill>
              </a:rPr>
              <a:t>종 과오   </a:t>
            </a:r>
          </a:p>
          <a:p>
            <a:r>
              <a:rPr lang="ko-KR" altLang="de-DE" b="1">
                <a:solidFill>
                  <a:schemeClr val="tx1"/>
                </a:solidFill>
              </a:rPr>
              <a:t>( </a:t>
            </a:r>
            <a:r>
              <a:rPr lang="de-DE" altLang="ko-KR" sz="2400" b="1">
                <a:solidFill>
                  <a:schemeClr val="tx1"/>
                </a:solidFill>
              </a:rPr>
              <a:t>β</a:t>
            </a:r>
            <a:r>
              <a:rPr lang="ko-KR" altLang="en-US" b="1">
                <a:solidFill>
                  <a:schemeClr val="tx1"/>
                </a:solidFill>
              </a:rPr>
              <a:t>위험 </a:t>
            </a:r>
            <a:r>
              <a:rPr lang="ko-KR" altLang="de-DE" b="1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6395" name="Rectangle 4"/>
          <p:cNvSpPr txBox="1">
            <a:spLocks noChangeArrowheads="1"/>
          </p:cNvSpPr>
          <p:nvPr/>
        </p:nvSpPr>
        <p:spPr bwMode="auto">
          <a:xfrm>
            <a:off x="685800" y="381000"/>
            <a:ext cx="7772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rgbClr val="FFC9FF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l"/>
            <a:r>
              <a:rPr lang="ko-KR" altLang="en-US" sz="2800" b="1">
                <a:solidFill>
                  <a:schemeClr val="tx2"/>
                </a:solidFill>
                <a:latin typeface="휴먼매직체" pitchFamily="18" charset="-127"/>
                <a:ea typeface="휴먼매직체" pitchFamily="18" charset="-127"/>
              </a:rPr>
              <a:t>가설검정 </a:t>
            </a:r>
            <a:r>
              <a:rPr lang="en-US" altLang="ko-KR" sz="2800" b="1">
                <a:solidFill>
                  <a:schemeClr val="tx2"/>
                </a:solidFill>
                <a:latin typeface="휴먼매직체" pitchFamily="18" charset="-127"/>
                <a:ea typeface="휴먼매직체" pitchFamily="18" charset="-127"/>
              </a:rPr>
              <a:t>– 2</a:t>
            </a:r>
            <a:r>
              <a:rPr lang="ko-KR" altLang="en-US" sz="2800" b="1">
                <a:solidFill>
                  <a:schemeClr val="tx2"/>
                </a:solidFill>
                <a:latin typeface="휴먼매직체" pitchFamily="18" charset="-127"/>
                <a:ea typeface="휴먼매직체" pitchFamily="18" charset="-127"/>
              </a:rPr>
              <a:t>가지 오류</a:t>
            </a: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762000"/>
          </a:xfrm>
          <a:gradFill rotWithShape="0">
            <a:gsLst>
              <a:gs pos="0">
                <a:schemeClr val="bg1"/>
              </a:gs>
              <a:gs pos="100000">
                <a:srgbClr val="FFC9FF"/>
              </a:gs>
            </a:gsLst>
            <a:path path="shape">
              <a:fillToRect l="50000" t="50000" r="50000" b="50000"/>
            </a:path>
          </a:gradFill>
        </p:spPr>
        <p:txBody>
          <a:bodyPr/>
          <a:lstStyle/>
          <a:p>
            <a:r>
              <a:rPr lang="ko-KR" altLang="en-US">
                <a:latin typeface="휴먼매직체" pitchFamily="18" charset="-127"/>
                <a:ea typeface="휴먼매직체" pitchFamily="18" charset="-127"/>
              </a:rPr>
              <a:t>가설 검정 </a:t>
            </a:r>
            <a:r>
              <a:rPr lang="en-US" altLang="ko-KR">
                <a:latin typeface="휴먼매직체" pitchFamily="18" charset="-127"/>
                <a:ea typeface="휴먼매직체" pitchFamily="18" charset="-127"/>
              </a:rPr>
              <a:t>– </a:t>
            </a:r>
            <a:r>
              <a:rPr lang="ko-KR" altLang="en-US">
                <a:latin typeface="휴먼매직체" pitchFamily="18" charset="-127"/>
                <a:ea typeface="휴먼매직체" pitchFamily="18" charset="-127"/>
              </a:rPr>
              <a:t>유의수준</a:t>
            </a:r>
            <a:r>
              <a:rPr lang="en-US" altLang="ko-KR">
                <a:latin typeface="휴먼매직체" pitchFamily="18" charset="-127"/>
                <a:ea typeface="휴먼매직체" pitchFamily="18" charset="-127"/>
              </a:rPr>
              <a:t>, </a:t>
            </a:r>
            <a:r>
              <a:rPr lang="ko-KR" altLang="en-US">
                <a:latin typeface="휴먼매직체" pitchFamily="18" charset="-127"/>
                <a:ea typeface="휴먼매직체" pitchFamily="18" charset="-127"/>
              </a:rPr>
              <a:t>유의확률</a:t>
            </a:r>
            <a:endParaRPr lang="en-US" altLang="ko-KR">
              <a:latin typeface="휴먼매직체" pitchFamily="18" charset="-127"/>
              <a:ea typeface="휴먼매직체" pitchFamily="18" charset="-127"/>
            </a:endParaRPr>
          </a:p>
        </p:txBody>
      </p:sp>
      <p:sp>
        <p:nvSpPr>
          <p:cNvPr id="17411" name="Text Box 11"/>
          <p:cNvSpPr txBox="1">
            <a:spLocks noChangeArrowheads="1"/>
          </p:cNvSpPr>
          <p:nvPr/>
        </p:nvSpPr>
        <p:spPr bwMode="auto">
          <a:xfrm>
            <a:off x="609600" y="1447800"/>
            <a:ext cx="8077200" cy="354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r>
              <a:rPr lang="ko-KR" altLang="en-US" sz="2800"/>
              <a:t>● 유의수준</a:t>
            </a:r>
            <a:r>
              <a:rPr lang="en-US" altLang="ko-KR" sz="2800"/>
              <a:t>(significant level)</a:t>
            </a:r>
            <a:r>
              <a:rPr lang="ko-KR" altLang="en-US" sz="2800"/>
              <a:t> </a:t>
            </a:r>
            <a:r>
              <a:rPr lang="en-US" altLang="ko-KR" sz="2800"/>
              <a:t>: </a:t>
            </a:r>
            <a:r>
              <a:rPr lang="ko-KR" altLang="en-US" sz="2800"/>
              <a:t>제</a:t>
            </a:r>
            <a:r>
              <a:rPr lang="en-US" altLang="ko-KR" sz="2800"/>
              <a:t>1</a:t>
            </a:r>
            <a:r>
              <a:rPr lang="ko-KR" altLang="en-US" sz="2800"/>
              <a:t>종오류를 범할 최대의 확률 </a:t>
            </a:r>
            <a:endParaRPr lang="en-US" altLang="ko-KR" sz="2800"/>
          </a:p>
          <a:p>
            <a:endParaRPr lang="ko-KR" altLang="en-US" sz="2800"/>
          </a:p>
          <a:p>
            <a:r>
              <a:rPr lang="ko-KR" altLang="en-US" sz="2800"/>
              <a:t> </a:t>
            </a:r>
            <a:r>
              <a:rPr lang="en-US" altLang="ko-KR" sz="2800"/>
              <a:t>※ </a:t>
            </a:r>
            <a:r>
              <a:rPr lang="ko-KR" altLang="en-US" sz="2800"/>
              <a:t>주로 사용되는 유의수준 </a:t>
            </a:r>
            <a:r>
              <a:rPr lang="en-US" altLang="ko-KR" sz="2800"/>
              <a:t>: 0.05(5%), 0.01(1%), 0.001(0.1%)  </a:t>
            </a:r>
            <a:r>
              <a:rPr lang="ko-KR" altLang="en-US" sz="2800"/>
              <a:t>또는  </a:t>
            </a:r>
            <a:r>
              <a:rPr lang="en-US" altLang="ko-KR" sz="2800"/>
              <a:t>0.1(10%)</a:t>
            </a:r>
            <a:r>
              <a:rPr lang="ko-KR" altLang="en-US" sz="2800"/>
              <a:t> </a:t>
            </a:r>
          </a:p>
          <a:p>
            <a:endParaRPr lang="en-US" altLang="ko-KR" sz="2800"/>
          </a:p>
          <a:p>
            <a:pPr algn="l"/>
            <a:r>
              <a:rPr lang="ko-KR" altLang="en-US" sz="2800"/>
              <a:t>● 유의확률</a:t>
            </a:r>
            <a:r>
              <a:rPr lang="en-US" altLang="ko-KR" sz="2800"/>
              <a:t>(p-value)</a:t>
            </a:r>
            <a:r>
              <a:rPr lang="ko-KR" altLang="en-US" sz="2800"/>
              <a:t>란</a:t>
            </a:r>
            <a:r>
              <a:rPr lang="en-US" altLang="ko-KR" sz="2800"/>
              <a:t>? : </a:t>
            </a:r>
          </a:p>
          <a:p>
            <a:pPr algn="l"/>
            <a:r>
              <a:rPr lang="en-US" altLang="ko-KR" sz="2800"/>
              <a:t>      </a:t>
            </a:r>
            <a:r>
              <a:rPr lang="ko-KR" altLang="en-US" sz="2800"/>
              <a:t>표본으로부터 구한 최소한의 유의수준 </a:t>
            </a:r>
          </a:p>
        </p:txBody>
      </p:sp>
      <p:sp>
        <p:nvSpPr>
          <p:cNvPr id="2" name="TextBox 1"/>
          <p:cNvSpPr txBox="1">
            <a:spLocks noChangeArrowheads="1"/>
          </p:cNvSpPr>
          <p:nvPr/>
        </p:nvSpPr>
        <p:spPr bwMode="auto">
          <a:xfrm>
            <a:off x="922338" y="5207000"/>
            <a:ext cx="7764462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l"/>
            <a:r>
              <a:rPr lang="ko-KR" altLang="en-US"/>
              <a:t>가설검정의 결론을 내리는 방법  </a:t>
            </a:r>
          </a:p>
          <a:p>
            <a:pPr algn="l"/>
            <a:r>
              <a:rPr lang="ko-KR" altLang="en-US"/>
              <a:t>      </a:t>
            </a:r>
            <a:endParaRPr lang="en-US" altLang="ko-KR"/>
          </a:p>
          <a:p>
            <a:pPr algn="l"/>
            <a:r>
              <a:rPr lang="ko-KR" altLang="en-US"/>
              <a:t>유의확률</a:t>
            </a:r>
            <a:r>
              <a:rPr lang="en-US" altLang="ko-KR"/>
              <a:t>(p) </a:t>
            </a:r>
            <a:r>
              <a:rPr lang="ko-KR" altLang="en-US"/>
              <a:t>가</a:t>
            </a:r>
            <a:r>
              <a:rPr lang="en-US" altLang="ko-KR"/>
              <a:t> </a:t>
            </a:r>
            <a:r>
              <a:rPr lang="ko-KR" altLang="en-US"/>
              <a:t>유의수준</a:t>
            </a:r>
            <a:r>
              <a:rPr lang="en-US" altLang="ko-KR"/>
              <a:t> 5%</a:t>
            </a:r>
            <a:r>
              <a:rPr lang="ko-KR" altLang="en-US"/>
              <a:t>보다 작으면 귀무가설을 기각한다</a:t>
            </a:r>
            <a:r>
              <a:rPr lang="en-US" altLang="ko-KR"/>
              <a:t>. </a:t>
            </a:r>
          </a:p>
          <a:p>
            <a:pPr algn="l"/>
            <a:r>
              <a:rPr lang="en-US" altLang="ko-KR"/>
              <a:t>                                                                 </a:t>
            </a:r>
            <a:r>
              <a:rPr lang="ko-KR" altLang="en-US"/>
              <a:t>또는 유의한 차이가 있다</a:t>
            </a:r>
            <a:r>
              <a:rPr lang="en-US" altLang="ko-KR"/>
              <a:t>. </a:t>
            </a:r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4"/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762000"/>
          </a:xfrm>
          <a:gradFill rotWithShape="0">
            <a:gsLst>
              <a:gs pos="0">
                <a:schemeClr val="bg1"/>
              </a:gs>
              <a:gs pos="100000">
                <a:srgbClr val="FFC9FF"/>
              </a:gs>
            </a:gsLst>
            <a:path path="shape">
              <a:fillToRect l="50000" t="50000" r="50000" b="50000"/>
            </a:path>
          </a:gradFill>
        </p:spPr>
        <p:txBody>
          <a:bodyPr/>
          <a:lstStyle/>
          <a:p>
            <a:r>
              <a:rPr lang="ko-KR" altLang="en-US">
                <a:latin typeface="휴먼매직체" pitchFamily="18" charset="-127"/>
                <a:ea typeface="휴먼매직체" pitchFamily="18" charset="-127"/>
              </a:rPr>
              <a:t>가설검정의 절차</a:t>
            </a:r>
          </a:p>
        </p:txBody>
      </p:sp>
      <p:sp>
        <p:nvSpPr>
          <p:cNvPr id="18435" name="AutoShape 6"/>
          <p:cNvSpPr>
            <a:spLocks noChangeArrowheads="1"/>
          </p:cNvSpPr>
          <p:nvPr/>
        </p:nvSpPr>
        <p:spPr bwMode="auto">
          <a:xfrm>
            <a:off x="1600200" y="1447800"/>
            <a:ext cx="6248400" cy="762000"/>
          </a:xfrm>
          <a:prstGeom prst="bevel">
            <a:avLst>
              <a:gd name="adj" fmla="val 12500"/>
            </a:avLst>
          </a:prstGeom>
          <a:gradFill rotWithShape="0">
            <a:gsLst>
              <a:gs pos="0">
                <a:schemeClr val="bg1"/>
              </a:gs>
              <a:gs pos="100000">
                <a:srgbClr val="FFFF99"/>
              </a:gs>
            </a:gsLst>
            <a:path path="rect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l"/>
            <a:r>
              <a:rPr lang="en-US" altLang="ko-KR" b="1">
                <a:solidFill>
                  <a:schemeClr val="accent2"/>
                </a:solidFill>
                <a:latin typeface="HY엽서M" pitchFamily="18" charset="-127"/>
                <a:ea typeface="HY엽서M" pitchFamily="18" charset="-127"/>
              </a:rPr>
              <a:t>(1) </a:t>
            </a:r>
            <a:r>
              <a:rPr lang="ko-KR" altLang="en-US" b="1">
                <a:solidFill>
                  <a:schemeClr val="accent2"/>
                </a:solidFill>
                <a:latin typeface="HY엽서M" pitchFamily="18" charset="-127"/>
                <a:ea typeface="HY엽서M" pitchFamily="18" charset="-127"/>
              </a:rPr>
              <a:t>가설의 설정 </a:t>
            </a:r>
            <a:r>
              <a:rPr lang="en-US" altLang="ko-KR" b="1">
                <a:solidFill>
                  <a:schemeClr val="accent2"/>
                </a:solidFill>
                <a:latin typeface="Times New Roman" pitchFamily="18" charset="0"/>
                <a:ea typeface="HY엽서M" pitchFamily="18" charset="-127"/>
              </a:rPr>
              <a:t>–</a:t>
            </a:r>
            <a:r>
              <a:rPr lang="en-US" altLang="ko-KR" b="1">
                <a:solidFill>
                  <a:schemeClr val="accent2"/>
                </a:solidFill>
                <a:latin typeface="HY엽서M" pitchFamily="18" charset="-127"/>
                <a:ea typeface="HY엽서M" pitchFamily="18" charset="-127"/>
              </a:rPr>
              <a:t> </a:t>
            </a:r>
            <a:r>
              <a:rPr lang="ko-KR" altLang="en-US" b="1">
                <a:solidFill>
                  <a:schemeClr val="accent2"/>
                </a:solidFill>
                <a:latin typeface="HY엽서M" pitchFamily="18" charset="-127"/>
                <a:ea typeface="HY엽서M" pitchFamily="18" charset="-127"/>
              </a:rPr>
              <a:t>귀무가설</a:t>
            </a:r>
            <a:r>
              <a:rPr lang="en-US" altLang="ko-KR" b="1">
                <a:solidFill>
                  <a:schemeClr val="accent2"/>
                </a:solidFill>
                <a:latin typeface="HY엽서M" pitchFamily="18" charset="-127"/>
                <a:ea typeface="HY엽서M" pitchFamily="18" charset="-127"/>
              </a:rPr>
              <a:t>, </a:t>
            </a:r>
            <a:r>
              <a:rPr lang="ko-KR" altLang="en-US" b="1">
                <a:solidFill>
                  <a:schemeClr val="accent2"/>
                </a:solidFill>
                <a:latin typeface="HY엽서M" pitchFamily="18" charset="-127"/>
                <a:ea typeface="HY엽서M" pitchFamily="18" charset="-127"/>
              </a:rPr>
              <a:t>대립가설</a:t>
            </a:r>
            <a:r>
              <a:rPr lang="en-US" altLang="ko-KR" b="1">
                <a:solidFill>
                  <a:schemeClr val="accent2"/>
                </a:solidFill>
                <a:latin typeface="HY엽서M" pitchFamily="18" charset="-127"/>
                <a:ea typeface="HY엽서M" pitchFamily="18" charset="-127"/>
              </a:rPr>
              <a:t>..</a:t>
            </a:r>
          </a:p>
        </p:txBody>
      </p:sp>
      <p:sp>
        <p:nvSpPr>
          <p:cNvPr id="18436" name="AutoShape 7"/>
          <p:cNvSpPr>
            <a:spLocks noChangeArrowheads="1"/>
          </p:cNvSpPr>
          <p:nvPr/>
        </p:nvSpPr>
        <p:spPr bwMode="auto">
          <a:xfrm>
            <a:off x="1600200" y="2286000"/>
            <a:ext cx="6248400" cy="762000"/>
          </a:xfrm>
          <a:prstGeom prst="bevel">
            <a:avLst>
              <a:gd name="adj" fmla="val 12500"/>
            </a:avLst>
          </a:prstGeom>
          <a:gradFill rotWithShape="0">
            <a:gsLst>
              <a:gs pos="0">
                <a:schemeClr val="bg1"/>
              </a:gs>
              <a:gs pos="100000">
                <a:srgbClr val="FFFF99"/>
              </a:gs>
            </a:gsLst>
            <a:path path="rect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l"/>
            <a:r>
              <a:rPr lang="en-US" altLang="ko-KR" b="1">
                <a:solidFill>
                  <a:schemeClr val="accent2"/>
                </a:solidFill>
                <a:latin typeface="HY엽서M" pitchFamily="18" charset="-127"/>
                <a:ea typeface="HY엽서M" pitchFamily="18" charset="-127"/>
              </a:rPr>
              <a:t>(2) </a:t>
            </a:r>
            <a:r>
              <a:rPr lang="ko-KR" altLang="en-US" b="1">
                <a:solidFill>
                  <a:schemeClr val="accent2"/>
                </a:solidFill>
                <a:latin typeface="HY엽서M" pitchFamily="18" charset="-127"/>
                <a:ea typeface="HY엽서M" pitchFamily="18" charset="-127"/>
              </a:rPr>
              <a:t>유의수준</a:t>
            </a:r>
            <a:r>
              <a:rPr lang="en-US" altLang="ko-KR" b="1">
                <a:solidFill>
                  <a:schemeClr val="accent2"/>
                </a:solidFill>
                <a:latin typeface="HY엽서M" pitchFamily="18" charset="-127"/>
                <a:ea typeface="HY엽서M" pitchFamily="18" charset="-127"/>
              </a:rPr>
              <a:t>(</a:t>
            </a:r>
            <a:r>
              <a:rPr lang="en-US" altLang="ko-KR">
                <a:latin typeface="HY엽서M" pitchFamily="18" charset="-127"/>
                <a:ea typeface="HY엽서M" pitchFamily="18" charset="-127"/>
              </a:rPr>
              <a:t>α )</a:t>
            </a:r>
            <a:r>
              <a:rPr lang="ko-KR" altLang="en-US" b="1">
                <a:solidFill>
                  <a:schemeClr val="accent2"/>
                </a:solidFill>
                <a:latin typeface="HY엽서M" pitchFamily="18" charset="-127"/>
                <a:ea typeface="HY엽서M" pitchFamily="18" charset="-127"/>
              </a:rPr>
              <a:t>의 설정</a:t>
            </a:r>
          </a:p>
        </p:txBody>
      </p:sp>
      <p:sp>
        <p:nvSpPr>
          <p:cNvPr id="18437" name="AutoShape 8"/>
          <p:cNvSpPr>
            <a:spLocks noChangeArrowheads="1"/>
          </p:cNvSpPr>
          <p:nvPr/>
        </p:nvSpPr>
        <p:spPr bwMode="auto">
          <a:xfrm>
            <a:off x="1600200" y="3124200"/>
            <a:ext cx="6248400" cy="762000"/>
          </a:xfrm>
          <a:prstGeom prst="bevel">
            <a:avLst>
              <a:gd name="adj" fmla="val 12500"/>
            </a:avLst>
          </a:prstGeom>
          <a:gradFill rotWithShape="0">
            <a:gsLst>
              <a:gs pos="0">
                <a:schemeClr val="bg1"/>
              </a:gs>
              <a:gs pos="100000">
                <a:srgbClr val="FFFF99"/>
              </a:gs>
            </a:gsLst>
            <a:path path="rect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l"/>
            <a:r>
              <a:rPr lang="en-US" altLang="ko-KR" b="1">
                <a:solidFill>
                  <a:schemeClr val="accent2"/>
                </a:solidFill>
                <a:latin typeface="HY엽서M" pitchFamily="18" charset="-127"/>
                <a:ea typeface="HY엽서M" pitchFamily="18" charset="-127"/>
              </a:rPr>
              <a:t>(3) </a:t>
            </a:r>
            <a:r>
              <a:rPr lang="ko-KR" altLang="en-US" b="1">
                <a:solidFill>
                  <a:schemeClr val="accent2"/>
                </a:solidFill>
                <a:latin typeface="HY엽서M" pitchFamily="18" charset="-127"/>
                <a:ea typeface="HY엽서M" pitchFamily="18" charset="-127"/>
              </a:rPr>
              <a:t>검정통계량의 결정</a:t>
            </a:r>
          </a:p>
        </p:txBody>
      </p:sp>
      <p:sp>
        <p:nvSpPr>
          <p:cNvPr id="18438" name="AutoShape 9"/>
          <p:cNvSpPr>
            <a:spLocks noChangeArrowheads="1"/>
          </p:cNvSpPr>
          <p:nvPr/>
        </p:nvSpPr>
        <p:spPr bwMode="auto">
          <a:xfrm>
            <a:off x="1600200" y="3962400"/>
            <a:ext cx="6248400" cy="762000"/>
          </a:xfrm>
          <a:prstGeom prst="bevel">
            <a:avLst>
              <a:gd name="adj" fmla="val 12500"/>
            </a:avLst>
          </a:prstGeom>
          <a:gradFill rotWithShape="0">
            <a:gsLst>
              <a:gs pos="0">
                <a:schemeClr val="bg1"/>
              </a:gs>
              <a:gs pos="100000">
                <a:srgbClr val="FFFF99"/>
              </a:gs>
            </a:gsLst>
            <a:path path="rect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l"/>
            <a:r>
              <a:rPr lang="en-US" altLang="ko-KR" b="1">
                <a:solidFill>
                  <a:schemeClr val="accent2"/>
                </a:solidFill>
                <a:latin typeface="HY엽서M" pitchFamily="18" charset="-127"/>
                <a:ea typeface="HY엽서M" pitchFamily="18" charset="-127"/>
              </a:rPr>
              <a:t>(4) </a:t>
            </a:r>
            <a:r>
              <a:rPr lang="ko-KR" altLang="en-US" b="1">
                <a:solidFill>
                  <a:schemeClr val="accent2"/>
                </a:solidFill>
                <a:latin typeface="HY엽서M" pitchFamily="18" charset="-127"/>
                <a:ea typeface="HY엽서M" pitchFamily="18" charset="-127"/>
              </a:rPr>
              <a:t>유의확률</a:t>
            </a:r>
            <a:r>
              <a:rPr lang="en-US" altLang="ko-KR" b="1">
                <a:solidFill>
                  <a:schemeClr val="accent2"/>
                </a:solidFill>
                <a:latin typeface="HY엽서M" pitchFamily="18" charset="-127"/>
                <a:ea typeface="HY엽서M" pitchFamily="18" charset="-127"/>
              </a:rPr>
              <a:t>(p</a:t>
            </a:r>
            <a:r>
              <a:rPr lang="ko-KR" altLang="en-US" b="1">
                <a:solidFill>
                  <a:schemeClr val="accent2"/>
                </a:solidFill>
                <a:latin typeface="HY엽서M" pitchFamily="18" charset="-127"/>
                <a:ea typeface="HY엽서M" pitchFamily="18" charset="-127"/>
              </a:rPr>
              <a:t>값</a:t>
            </a:r>
            <a:r>
              <a:rPr lang="en-US" altLang="ko-KR" b="1">
                <a:solidFill>
                  <a:schemeClr val="accent2"/>
                </a:solidFill>
                <a:latin typeface="HY엽서M" pitchFamily="18" charset="-127"/>
                <a:ea typeface="HY엽서M" pitchFamily="18" charset="-127"/>
              </a:rPr>
              <a:t>) </a:t>
            </a:r>
            <a:r>
              <a:rPr lang="ko-KR" altLang="en-US" b="1">
                <a:solidFill>
                  <a:schemeClr val="accent2"/>
                </a:solidFill>
                <a:latin typeface="HY엽서M" pitchFamily="18" charset="-127"/>
                <a:ea typeface="HY엽서M" pitchFamily="18" charset="-127"/>
              </a:rPr>
              <a:t>계산</a:t>
            </a:r>
          </a:p>
        </p:txBody>
      </p:sp>
      <p:sp>
        <p:nvSpPr>
          <p:cNvPr id="18439" name="AutoShape 10"/>
          <p:cNvSpPr>
            <a:spLocks noChangeArrowheads="1"/>
          </p:cNvSpPr>
          <p:nvPr/>
        </p:nvSpPr>
        <p:spPr bwMode="auto">
          <a:xfrm>
            <a:off x="1600200" y="4800600"/>
            <a:ext cx="6248400" cy="762000"/>
          </a:xfrm>
          <a:prstGeom prst="bevel">
            <a:avLst>
              <a:gd name="adj" fmla="val 12500"/>
            </a:avLst>
          </a:prstGeom>
          <a:gradFill rotWithShape="0">
            <a:gsLst>
              <a:gs pos="0">
                <a:schemeClr val="bg1"/>
              </a:gs>
              <a:gs pos="100000">
                <a:srgbClr val="FFFF99"/>
              </a:gs>
            </a:gsLst>
            <a:path path="rect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l"/>
            <a:r>
              <a:rPr lang="en-US" altLang="ko-KR" b="1">
                <a:solidFill>
                  <a:schemeClr val="accent2"/>
                </a:solidFill>
                <a:latin typeface="HY엽서M" pitchFamily="18" charset="-127"/>
                <a:ea typeface="HY엽서M" pitchFamily="18" charset="-127"/>
              </a:rPr>
              <a:t>(5) </a:t>
            </a:r>
            <a:r>
              <a:rPr lang="ko-KR" altLang="en-US" b="1">
                <a:solidFill>
                  <a:schemeClr val="accent2"/>
                </a:solidFill>
                <a:latin typeface="HY엽서M" pitchFamily="18" charset="-127"/>
                <a:ea typeface="HY엽서M" pitchFamily="18" charset="-127"/>
              </a:rPr>
              <a:t>유의확률과 유의수준 비교</a:t>
            </a:r>
          </a:p>
        </p:txBody>
      </p:sp>
      <p:sp>
        <p:nvSpPr>
          <p:cNvPr id="18440" name="AutoShape 11"/>
          <p:cNvSpPr>
            <a:spLocks noChangeArrowheads="1"/>
          </p:cNvSpPr>
          <p:nvPr/>
        </p:nvSpPr>
        <p:spPr bwMode="auto">
          <a:xfrm>
            <a:off x="1600200" y="5715000"/>
            <a:ext cx="6248400" cy="762000"/>
          </a:xfrm>
          <a:prstGeom prst="bevel">
            <a:avLst>
              <a:gd name="adj" fmla="val 12500"/>
            </a:avLst>
          </a:prstGeom>
          <a:gradFill rotWithShape="0">
            <a:gsLst>
              <a:gs pos="0">
                <a:schemeClr val="bg1"/>
              </a:gs>
              <a:gs pos="100000">
                <a:srgbClr val="FFFF99"/>
              </a:gs>
            </a:gsLst>
            <a:path path="rect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l"/>
            <a:r>
              <a:rPr lang="en-US" altLang="ko-KR" b="1">
                <a:solidFill>
                  <a:schemeClr val="accent2"/>
                </a:solidFill>
                <a:latin typeface="HY엽서M" pitchFamily="18" charset="-127"/>
                <a:ea typeface="HY엽서M" pitchFamily="18" charset="-127"/>
              </a:rPr>
              <a:t>(6) </a:t>
            </a:r>
            <a:r>
              <a:rPr lang="ko-KR" altLang="en-US" b="1">
                <a:solidFill>
                  <a:schemeClr val="accent2"/>
                </a:solidFill>
                <a:latin typeface="HY엽서M" pitchFamily="18" charset="-127"/>
                <a:ea typeface="HY엽서M" pitchFamily="18" charset="-127"/>
              </a:rPr>
              <a:t>결과 해석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2362200" y="1905000"/>
            <a:ext cx="4419600" cy="665163"/>
          </a:xfrm>
          <a:ln w="38100">
            <a:solidFill>
              <a:schemeClr val="accent2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US" altLang="ko-KR">
                <a:ea typeface="굴림" pitchFamily="50" charset="-127"/>
              </a:rPr>
              <a:t>T </a:t>
            </a:r>
            <a:r>
              <a:rPr lang="ko-KR" altLang="en-US">
                <a:ea typeface="굴림" pitchFamily="50" charset="-127"/>
              </a:rPr>
              <a:t>검정 </a:t>
            </a:r>
            <a:r>
              <a:rPr lang="en-US" altLang="ko-KR">
                <a:ea typeface="굴림" pitchFamily="50" charset="-127"/>
              </a:rPr>
              <a:t>(T-TEST)</a:t>
            </a:r>
          </a:p>
        </p:txBody>
      </p:sp>
      <p:graphicFrame>
        <p:nvGraphicFramePr>
          <p:cNvPr id="19459" name="Object 2"/>
          <p:cNvGraphicFramePr>
            <a:graphicFrameLocks noChangeAspect="1"/>
          </p:cNvGraphicFramePr>
          <p:nvPr/>
        </p:nvGraphicFramePr>
        <p:xfrm>
          <a:off x="4521200" y="3333750"/>
          <a:ext cx="1016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7" name="Equation" r:id="rId4" imgW="101556" imgH="190417" progId="Equation.3">
                  <p:embed/>
                </p:oleObj>
              </mc:Choice>
              <mc:Fallback>
                <p:oleObj name="Equation" r:id="rId4" imgW="101556" imgH="190417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1200" y="3333750"/>
                        <a:ext cx="101600" cy="190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0" name="Text Box 5"/>
          <p:cNvSpPr txBox="1">
            <a:spLocks noChangeArrowheads="1"/>
          </p:cNvSpPr>
          <p:nvPr/>
        </p:nvSpPr>
        <p:spPr bwMode="auto">
          <a:xfrm>
            <a:off x="2819400" y="3505200"/>
            <a:ext cx="38100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>
              <a:spcBef>
                <a:spcPct val="50000"/>
              </a:spcBef>
              <a:buFontTx/>
              <a:buAutoNum type="arabicPeriod"/>
            </a:pPr>
            <a:r>
              <a:rPr lang="ko-KR" altLang="en-US" b="1"/>
              <a:t>독립표본 </a:t>
            </a:r>
            <a:r>
              <a:rPr lang="en-US" altLang="ko-KR" b="1"/>
              <a:t>T </a:t>
            </a:r>
            <a:r>
              <a:rPr lang="ko-KR" altLang="en-US" b="1"/>
              <a:t>검정</a:t>
            </a:r>
          </a:p>
          <a:p>
            <a:pPr>
              <a:spcBef>
                <a:spcPct val="50000"/>
              </a:spcBef>
              <a:buFontTx/>
              <a:buAutoNum type="arabicPeriod"/>
            </a:pPr>
            <a:r>
              <a:rPr lang="ko-KR" altLang="en-US" b="1"/>
              <a:t>단일표본 </a:t>
            </a:r>
            <a:r>
              <a:rPr lang="en-US" altLang="ko-KR" b="1"/>
              <a:t>T </a:t>
            </a:r>
            <a:r>
              <a:rPr lang="ko-KR" altLang="en-US" b="1"/>
              <a:t>검정</a:t>
            </a:r>
          </a:p>
          <a:p>
            <a:pPr>
              <a:spcBef>
                <a:spcPct val="50000"/>
              </a:spcBef>
              <a:buFontTx/>
              <a:buAutoNum type="arabicPeriod"/>
            </a:pPr>
            <a:r>
              <a:rPr lang="ko-KR" altLang="en-US" b="1"/>
              <a:t>대응표본 </a:t>
            </a:r>
            <a:r>
              <a:rPr lang="en-US" altLang="ko-KR" b="1"/>
              <a:t>T </a:t>
            </a:r>
            <a:r>
              <a:rPr lang="ko-KR" altLang="en-US" b="1"/>
              <a:t>검정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88913"/>
            <a:ext cx="7556500" cy="304800"/>
          </a:xfrm>
        </p:spPr>
        <p:txBody>
          <a:bodyPr/>
          <a:lstStyle/>
          <a:p>
            <a:r>
              <a:rPr lang="en-US" altLang="ko-KR">
                <a:latin typeface="Times New Roman" pitchFamily="18" charset="0"/>
                <a:ea typeface="굴림" pitchFamily="50" charset="-127"/>
              </a:rPr>
              <a:t>1. </a:t>
            </a:r>
            <a:r>
              <a:rPr lang="ko-KR" altLang="en-US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rPr>
              <a:t>독립표본 </a:t>
            </a:r>
            <a:r>
              <a:rPr lang="en-US" altLang="ko-KR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rPr>
              <a:t>T </a:t>
            </a:r>
            <a:r>
              <a:rPr lang="ko-KR" altLang="en-US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rPr>
              <a:t>검정</a:t>
            </a:r>
          </a:p>
        </p:txBody>
      </p:sp>
      <p:sp>
        <p:nvSpPr>
          <p:cNvPr id="20483" name="Rectangle 3"/>
          <p:cNvSpPr>
            <a:spLocks noChangeArrowheads="1"/>
          </p:cNvSpPr>
          <p:nvPr/>
        </p:nvSpPr>
        <p:spPr bwMode="auto">
          <a:xfrm>
            <a:off x="323850" y="1341438"/>
            <a:ext cx="8382000" cy="530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>
              <a:lnSpc>
                <a:spcPct val="150000"/>
              </a:lnSpc>
              <a:spcBef>
                <a:spcPct val="50000"/>
              </a:spcBef>
              <a:buFont typeface="Wingdings" pitchFamily="2" charset="2"/>
              <a:buChar char="Ø"/>
            </a:pPr>
            <a:r>
              <a:rPr lang="en-US" altLang="ko-KR" b="1">
                <a:solidFill>
                  <a:srgbClr val="A50021"/>
                </a:solidFill>
              </a:rPr>
              <a:t>  (</a:t>
            </a:r>
            <a:r>
              <a:rPr lang="ko-KR" altLang="en-US" b="1">
                <a:solidFill>
                  <a:srgbClr val="A50021"/>
                </a:solidFill>
              </a:rPr>
              <a:t>정규성 검정</a:t>
            </a:r>
            <a:r>
              <a:rPr lang="en-US" altLang="ko-KR" b="1">
                <a:solidFill>
                  <a:srgbClr val="A50021"/>
                </a:solidFill>
              </a:rPr>
              <a:t>)</a:t>
            </a:r>
          </a:p>
          <a:p>
            <a:pPr algn="l">
              <a:lnSpc>
                <a:spcPct val="15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en-US" altLang="ko-KR" b="1"/>
              <a:t>      </a:t>
            </a:r>
            <a:r>
              <a:rPr lang="ko-KR" altLang="en-US" b="1"/>
              <a:t>소표본인 경우는 두 </a:t>
            </a:r>
            <a:r>
              <a:rPr lang="ko-KR" altLang="en-US" sz="1600" b="1"/>
              <a:t>집단의 자료 각각에 대해 정규성 검정 실시함</a:t>
            </a:r>
          </a:p>
          <a:p>
            <a:pPr algn="l">
              <a:lnSpc>
                <a:spcPct val="15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ko-KR" altLang="en-US" sz="1600" b="1"/>
              <a:t>	 → 정규성 만족하는 경우 </a:t>
            </a:r>
            <a:r>
              <a:rPr lang="en-US" altLang="ko-KR" sz="1600" b="1"/>
              <a:t>:  </a:t>
            </a:r>
            <a:r>
              <a:rPr lang="ko-KR" altLang="en-US" sz="1600" b="1"/>
              <a:t>독립표본  </a:t>
            </a:r>
            <a:r>
              <a:rPr lang="en-US" altLang="ko-KR" sz="1600" b="1"/>
              <a:t>t-test </a:t>
            </a:r>
            <a:r>
              <a:rPr lang="ko-KR" altLang="en-US" sz="1600" b="1"/>
              <a:t>적용</a:t>
            </a:r>
          </a:p>
          <a:p>
            <a:pPr algn="l">
              <a:lnSpc>
                <a:spcPct val="15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ko-KR" altLang="en-US" sz="1600" b="1"/>
              <a:t>               → 정규성 만족하지 않는 경우 </a:t>
            </a:r>
            <a:r>
              <a:rPr lang="en-US" altLang="ko-KR" sz="1600" b="1"/>
              <a:t>: </a:t>
            </a:r>
            <a:r>
              <a:rPr lang="ko-KR" altLang="en-US" sz="1600" b="1"/>
              <a:t>비모수검정법 중</a:t>
            </a:r>
            <a:r>
              <a:rPr lang="en-US" altLang="ko-KR" sz="1600" b="1"/>
              <a:t>, </a:t>
            </a:r>
            <a:r>
              <a:rPr lang="ko-KR" altLang="en-US" sz="1600" b="1"/>
              <a:t>맨</a:t>
            </a:r>
            <a:r>
              <a:rPr lang="en-US" altLang="ko-KR" sz="1600" b="1"/>
              <a:t>-</a:t>
            </a:r>
            <a:r>
              <a:rPr lang="ko-KR" altLang="en-US" sz="1600" b="1"/>
              <a:t>휘트니 검정 적용</a:t>
            </a:r>
          </a:p>
          <a:p>
            <a:pPr>
              <a:lnSpc>
                <a:spcPct val="150000"/>
              </a:lnSpc>
              <a:spcBef>
                <a:spcPct val="50000"/>
              </a:spcBef>
              <a:buFont typeface="Wingdings" pitchFamily="2" charset="2"/>
              <a:buNone/>
            </a:pPr>
            <a:endParaRPr lang="ko-KR" altLang="en-US" b="1">
              <a:solidFill>
                <a:srgbClr val="A50021"/>
              </a:solidFill>
            </a:endParaRPr>
          </a:p>
          <a:p>
            <a:pPr>
              <a:lnSpc>
                <a:spcPct val="15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ko-KR" altLang="en-US" b="1">
                <a:solidFill>
                  <a:srgbClr val="A50021"/>
                </a:solidFill>
              </a:rPr>
              <a:t>  </a:t>
            </a:r>
            <a:r>
              <a:rPr lang="en-US" altLang="ko-KR" b="1">
                <a:solidFill>
                  <a:srgbClr val="A50021"/>
                </a:solidFill>
              </a:rPr>
              <a:t>(</a:t>
            </a:r>
            <a:r>
              <a:rPr lang="ko-KR" altLang="en-US" b="1">
                <a:solidFill>
                  <a:srgbClr val="A50021"/>
                </a:solidFill>
              </a:rPr>
              <a:t>가설</a:t>
            </a:r>
            <a:r>
              <a:rPr lang="en-US" altLang="ko-KR" b="1">
                <a:solidFill>
                  <a:srgbClr val="A50021"/>
                </a:solidFill>
              </a:rPr>
              <a:t>)</a:t>
            </a:r>
          </a:p>
          <a:p>
            <a:pPr>
              <a:lnSpc>
                <a:spcPct val="150000"/>
              </a:lnSpc>
              <a:spcBef>
                <a:spcPct val="50000"/>
              </a:spcBef>
              <a:buFont typeface="Wingdings" pitchFamily="2" charset="2"/>
              <a:buNone/>
            </a:pPr>
            <a:endParaRPr lang="en-US" altLang="ko-KR" b="1">
              <a:solidFill>
                <a:srgbClr val="A50021"/>
              </a:solidFill>
            </a:endParaRPr>
          </a:p>
          <a:p>
            <a:pPr>
              <a:lnSpc>
                <a:spcPct val="150000"/>
              </a:lnSpc>
              <a:spcBef>
                <a:spcPct val="50000"/>
              </a:spcBef>
              <a:buFont typeface="Wingdings" pitchFamily="2" charset="2"/>
              <a:buChar char="Ø"/>
            </a:pPr>
            <a:endParaRPr lang="en-US" altLang="ko-KR" b="1">
              <a:solidFill>
                <a:srgbClr val="A50021"/>
              </a:solidFill>
            </a:endParaRPr>
          </a:p>
          <a:p>
            <a:pPr>
              <a:lnSpc>
                <a:spcPct val="150000"/>
              </a:lnSpc>
              <a:spcBef>
                <a:spcPct val="50000"/>
              </a:spcBef>
              <a:buFont typeface="Wingdings" pitchFamily="2" charset="2"/>
              <a:buChar char="Ø"/>
            </a:pPr>
            <a:endParaRPr lang="en-US" altLang="ko-KR" b="1">
              <a:solidFill>
                <a:srgbClr val="A50021"/>
              </a:solidFill>
            </a:endParaRPr>
          </a:p>
          <a:p>
            <a:pPr lvl="4">
              <a:lnSpc>
                <a:spcPct val="150000"/>
              </a:lnSpc>
              <a:spcBef>
                <a:spcPct val="50000"/>
              </a:spcBef>
              <a:buFont typeface="Wingdings" pitchFamily="2" charset="2"/>
              <a:buChar char="Ø"/>
            </a:pPr>
            <a:r>
              <a:rPr lang="en-US" altLang="ko-KR" sz="1600" b="1">
                <a:solidFill>
                  <a:schemeClr val="accent2"/>
                </a:solidFill>
              </a:rPr>
              <a:t> </a:t>
            </a:r>
            <a:r>
              <a:rPr lang="ko-KR" altLang="en-US" sz="1600" b="1">
                <a:solidFill>
                  <a:schemeClr val="accent2"/>
                </a:solidFill>
              </a:rPr>
              <a:t>세 가지 중 하나의 대립가설이 설정됨</a:t>
            </a:r>
            <a:r>
              <a:rPr lang="en-US" altLang="ko-KR" sz="1600" b="1">
                <a:solidFill>
                  <a:schemeClr val="accent2"/>
                </a:solidFill>
              </a:rPr>
              <a:t>.</a:t>
            </a:r>
          </a:p>
        </p:txBody>
      </p:sp>
      <p:sp>
        <p:nvSpPr>
          <p:cNvPr id="20484" name="Rectangle 4"/>
          <p:cNvSpPr>
            <a:spLocks noChangeArrowheads="1"/>
          </p:cNvSpPr>
          <p:nvPr/>
        </p:nvSpPr>
        <p:spPr bwMode="auto">
          <a:xfrm>
            <a:off x="323850" y="981075"/>
            <a:ext cx="2682875" cy="3810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r>
              <a:rPr lang="en-US" altLang="ko-KR" b="1"/>
              <a:t>(1)  </a:t>
            </a:r>
            <a:r>
              <a:rPr lang="ko-KR" altLang="en-US" b="1"/>
              <a:t>요구되는 기본 가정</a:t>
            </a:r>
          </a:p>
        </p:txBody>
      </p:sp>
      <p:graphicFrame>
        <p:nvGraphicFramePr>
          <p:cNvPr id="20485" name="Object 2"/>
          <p:cNvGraphicFramePr>
            <a:graphicFrameLocks noChangeAspect="1"/>
          </p:cNvGraphicFramePr>
          <p:nvPr/>
        </p:nvGraphicFramePr>
        <p:xfrm>
          <a:off x="4521200" y="3333750"/>
          <a:ext cx="1016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Equation" r:id="rId4" imgW="101556" imgH="190417" progId="Equation.3">
                  <p:embed/>
                </p:oleObj>
              </mc:Choice>
              <mc:Fallback>
                <p:oleObj name="Equation" r:id="rId4" imgW="101556" imgH="190417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1200" y="3333750"/>
                        <a:ext cx="101600" cy="190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6" name="Object 3"/>
          <p:cNvGraphicFramePr>
            <a:graphicFrameLocks noChangeAspect="1"/>
          </p:cNvGraphicFramePr>
          <p:nvPr/>
        </p:nvGraphicFramePr>
        <p:xfrm>
          <a:off x="1331913" y="4492625"/>
          <a:ext cx="7200900" cy="1385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Equation" r:id="rId6" imgW="5308600" imgH="939800" progId="Equation.3">
                  <p:embed/>
                </p:oleObj>
              </mc:Choice>
              <mc:Fallback>
                <p:oleObj name="Equation" r:id="rId6" imgW="5308600" imgH="9398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4492625"/>
                        <a:ext cx="7200900" cy="1385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7" name="Rectangle 7"/>
          <p:cNvSpPr>
            <a:spLocks noChangeArrowheads="1"/>
          </p:cNvSpPr>
          <p:nvPr/>
        </p:nvSpPr>
        <p:spPr bwMode="auto">
          <a:xfrm>
            <a:off x="395288" y="3789363"/>
            <a:ext cx="2663825" cy="3810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r>
              <a:rPr lang="en-US" altLang="ko-KR" b="1"/>
              <a:t>(2)  </a:t>
            </a:r>
            <a:r>
              <a:rPr lang="ko-KR" altLang="en-US" b="1"/>
              <a:t>원리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506" name="Object 2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3348038" y="1341438"/>
          <a:ext cx="2284412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3" name="Equation" r:id="rId3" imgW="952087" imgH="215806" progId="Equation.3">
                  <p:embed/>
                </p:oleObj>
              </mc:Choice>
              <mc:Fallback>
                <p:oleObj name="Equation" r:id="rId3" imgW="952087" imgH="215806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8038" y="1341438"/>
                        <a:ext cx="2284412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07" name="Text Box 13"/>
          <p:cNvSpPr txBox="1">
            <a:spLocks noChangeArrowheads="1"/>
          </p:cNvSpPr>
          <p:nvPr/>
        </p:nvSpPr>
        <p:spPr bwMode="auto">
          <a:xfrm>
            <a:off x="539750" y="1341438"/>
            <a:ext cx="27368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ko-KR" sz="2400"/>
              <a:t>      </a:t>
            </a:r>
            <a:r>
              <a:rPr lang="ko-KR" altLang="en-US" sz="2400"/>
              <a:t>대표본인 경우</a:t>
            </a:r>
          </a:p>
        </p:txBody>
      </p:sp>
      <p:graphicFrame>
        <p:nvGraphicFramePr>
          <p:cNvPr id="21508" name="Object 3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1258888" y="2066925"/>
          <a:ext cx="3354387" cy="66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4" name="Equation" r:id="rId5" imgW="1218671" imgH="241195" progId="Equation.3">
                  <p:embed/>
                </p:oleObj>
              </mc:Choice>
              <mc:Fallback>
                <p:oleObj name="Equation" r:id="rId5" imgW="1218671" imgH="241195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2066925"/>
                        <a:ext cx="3354387" cy="663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9" name="Object 4"/>
          <p:cNvGraphicFramePr>
            <a:graphicFrameLocks noChangeAspect="1"/>
          </p:cNvGraphicFramePr>
          <p:nvPr/>
        </p:nvGraphicFramePr>
        <p:xfrm>
          <a:off x="1258888" y="2852738"/>
          <a:ext cx="3605212" cy="677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5" name="Equation" r:id="rId7" imgW="1282700" imgH="241300" progId="Equation.3">
                  <p:embed/>
                </p:oleObj>
              </mc:Choice>
              <mc:Fallback>
                <p:oleObj name="Equation" r:id="rId7" imgW="1282700" imgH="2413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2852738"/>
                        <a:ext cx="3605212" cy="677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0" name="Object 5"/>
          <p:cNvGraphicFramePr>
            <a:graphicFrameLocks noChangeAspect="1"/>
          </p:cNvGraphicFramePr>
          <p:nvPr/>
        </p:nvGraphicFramePr>
        <p:xfrm>
          <a:off x="1206500" y="3716338"/>
          <a:ext cx="3711575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6" name="Equation" r:id="rId9" imgW="1320800" imgH="228600" progId="Equation.3">
                  <p:embed/>
                </p:oleObj>
              </mc:Choice>
              <mc:Fallback>
                <p:oleObj name="Equation" r:id="rId9" imgW="1320800" imgH="228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6500" y="3716338"/>
                        <a:ext cx="3711575" cy="641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1" name="Object 6"/>
          <p:cNvGraphicFramePr>
            <a:graphicFrameLocks noChangeAspect="1"/>
          </p:cNvGraphicFramePr>
          <p:nvPr/>
        </p:nvGraphicFramePr>
        <p:xfrm>
          <a:off x="1258888" y="4365625"/>
          <a:ext cx="7119937" cy="1136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7" name="Equation" r:id="rId11" imgW="2857500" imgH="457200" progId="Equation.3">
                  <p:embed/>
                </p:oleObj>
              </mc:Choice>
              <mc:Fallback>
                <p:oleObj name="Equation" r:id="rId11" imgW="2857500" imgH="4572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4365625"/>
                        <a:ext cx="7119937" cy="1136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2" name="Rectangle 5"/>
          <p:cNvSpPr>
            <a:spLocks noChangeArrowheads="1"/>
          </p:cNvSpPr>
          <p:nvPr/>
        </p:nvSpPr>
        <p:spPr bwMode="auto">
          <a:xfrm>
            <a:off x="304800" y="838200"/>
            <a:ext cx="2682875" cy="3810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r>
              <a:rPr lang="en-US" altLang="ko-KR" b="1"/>
              <a:t>(2)  </a:t>
            </a:r>
            <a:r>
              <a:rPr lang="ko-KR" altLang="en-US" b="1"/>
              <a:t>원리</a:t>
            </a: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468313" y="188913"/>
            <a:ext cx="75565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l">
              <a:defRPr/>
            </a:pPr>
            <a:r>
              <a:rPr lang="en-US" altLang="ko-KR" sz="2800" b="1" kern="0" dirty="0">
                <a:solidFill>
                  <a:schemeClr val="tx2"/>
                </a:solidFill>
                <a:latin typeface="Times New Roman" pitchFamily="18" charset="0"/>
                <a:ea typeface="+mj-ea"/>
                <a:cs typeface="+mj-cs"/>
              </a:rPr>
              <a:t>1. </a:t>
            </a:r>
            <a:r>
              <a:rPr lang="ko-KR" altLang="en-US" sz="2800" b="1" kern="0" dirty="0">
                <a:solidFill>
                  <a:schemeClr val="tx1"/>
                </a:solidFill>
                <a:latin typeface="Times New Roman" pitchFamily="18" charset="0"/>
                <a:ea typeface="+mj-ea"/>
                <a:cs typeface="+mj-cs"/>
              </a:rPr>
              <a:t>독립표본 </a:t>
            </a:r>
            <a:r>
              <a:rPr lang="en-US" altLang="ko-KR" sz="2800" b="1" kern="0" dirty="0">
                <a:solidFill>
                  <a:schemeClr val="tx1"/>
                </a:solidFill>
                <a:latin typeface="Times New Roman" pitchFamily="18" charset="0"/>
                <a:ea typeface="+mj-ea"/>
                <a:cs typeface="+mj-cs"/>
              </a:rPr>
              <a:t>T </a:t>
            </a:r>
            <a:r>
              <a:rPr lang="ko-KR" altLang="en-US" sz="2800" b="1" kern="0" dirty="0">
                <a:solidFill>
                  <a:schemeClr val="tx1"/>
                </a:solidFill>
                <a:latin typeface="Times New Roman" pitchFamily="18" charset="0"/>
                <a:ea typeface="+mj-ea"/>
                <a:cs typeface="+mj-cs"/>
              </a:rPr>
              <a:t>검정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ChangeArrowheads="1"/>
          </p:cNvSpPr>
          <p:nvPr/>
        </p:nvSpPr>
        <p:spPr bwMode="auto">
          <a:xfrm>
            <a:off x="533400" y="3789363"/>
            <a:ext cx="8382000" cy="2462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457200" indent="-457200" algn="l">
              <a:lnSpc>
                <a:spcPct val="150000"/>
              </a:lnSpc>
              <a:spcBef>
                <a:spcPct val="50000"/>
              </a:spcBef>
              <a:buFont typeface="Wingdings" pitchFamily="2" charset="2"/>
              <a:buChar char="v"/>
            </a:pPr>
            <a:r>
              <a:rPr lang="ko-KR" altLang="en-US" b="1">
                <a:solidFill>
                  <a:srgbClr val="A50021"/>
                </a:solidFill>
              </a:rPr>
              <a:t>등분산성 검정</a:t>
            </a:r>
            <a:endParaRPr lang="ko-KR" altLang="en-US" b="1"/>
          </a:p>
          <a:p>
            <a:pPr marL="457200" indent="-457200">
              <a:lnSpc>
                <a:spcPct val="15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ko-KR" altLang="en-US" sz="1600" b="1"/>
              <a:t>	      </a:t>
            </a:r>
            <a:r>
              <a:rPr lang="en-US" altLang="ko-KR" sz="1600" b="1"/>
              <a:t>: </a:t>
            </a:r>
            <a:r>
              <a:rPr lang="ko-KR" altLang="en-US" sz="1600" b="1"/>
              <a:t>두 집단의 평균에 대한 검정 이전에 </a:t>
            </a:r>
            <a:r>
              <a:rPr lang="ko-KR" altLang="en-US" sz="1600" b="1" u="sng"/>
              <a:t>분산의 동일성을 검정</a:t>
            </a:r>
            <a:r>
              <a:rPr lang="ko-KR" altLang="en-US" sz="1600" b="1"/>
              <a:t>해야 함</a:t>
            </a:r>
            <a:r>
              <a:rPr lang="en-US" altLang="ko-KR" sz="1600" b="1"/>
              <a:t>.</a:t>
            </a:r>
            <a:endParaRPr lang="en-US" altLang="ko-KR" b="1"/>
          </a:p>
          <a:p>
            <a:pPr marL="457200" indent="-457200">
              <a:lnSpc>
                <a:spcPct val="150000"/>
              </a:lnSpc>
              <a:spcBef>
                <a:spcPct val="50000"/>
              </a:spcBef>
              <a:buFont typeface="Wingdings" pitchFamily="2" charset="2"/>
              <a:buChar char="Ø"/>
            </a:pPr>
            <a:endParaRPr lang="en-US" altLang="ko-KR" b="1">
              <a:solidFill>
                <a:srgbClr val="A50021"/>
              </a:solidFill>
            </a:endParaRPr>
          </a:p>
          <a:p>
            <a:pPr marL="457200" indent="-457200">
              <a:lnSpc>
                <a:spcPct val="150000"/>
              </a:lnSpc>
              <a:spcBef>
                <a:spcPct val="50000"/>
              </a:spcBef>
              <a:buFont typeface="Wingdings" pitchFamily="2" charset="2"/>
              <a:buNone/>
            </a:pPr>
            <a:endParaRPr lang="en-US" altLang="ko-KR" sz="1200" b="1">
              <a:solidFill>
                <a:srgbClr val="A50021"/>
              </a:solidFill>
            </a:endParaRPr>
          </a:p>
          <a:p>
            <a:pPr marL="457200" indent="-457200">
              <a:lnSpc>
                <a:spcPct val="15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en-US" altLang="ko-KR" b="1">
                <a:solidFill>
                  <a:srgbClr val="A50021"/>
                </a:solidFill>
              </a:rPr>
              <a:t>       ☞ </a:t>
            </a:r>
            <a:r>
              <a:rPr lang="ko-KR" altLang="en-US" sz="1600" b="1">
                <a:solidFill>
                  <a:schemeClr val="accent2"/>
                </a:solidFill>
              </a:rPr>
              <a:t>등분산일 경우</a:t>
            </a:r>
            <a:r>
              <a:rPr lang="en-US" altLang="ko-KR" sz="1600" b="1">
                <a:solidFill>
                  <a:schemeClr val="accent2"/>
                </a:solidFill>
              </a:rPr>
              <a:t>: 1)</a:t>
            </a:r>
            <a:r>
              <a:rPr lang="ko-KR" altLang="en-US" sz="1600" b="1">
                <a:solidFill>
                  <a:schemeClr val="accent2"/>
                </a:solidFill>
              </a:rPr>
              <a:t>방법 적용</a:t>
            </a:r>
            <a:r>
              <a:rPr lang="en-US" altLang="ko-KR" sz="1600" b="1">
                <a:solidFill>
                  <a:schemeClr val="accent2"/>
                </a:solidFill>
              </a:rPr>
              <a:t>,   </a:t>
            </a:r>
            <a:r>
              <a:rPr lang="ko-KR" altLang="en-US" sz="1600" b="1">
                <a:solidFill>
                  <a:schemeClr val="accent2"/>
                </a:solidFill>
              </a:rPr>
              <a:t>등분산 아닐 경우</a:t>
            </a:r>
            <a:r>
              <a:rPr lang="en-US" altLang="ko-KR" sz="1600" b="1">
                <a:solidFill>
                  <a:schemeClr val="accent2"/>
                </a:solidFill>
              </a:rPr>
              <a:t>: 2)</a:t>
            </a:r>
            <a:r>
              <a:rPr lang="ko-KR" altLang="en-US" sz="1600" b="1">
                <a:solidFill>
                  <a:schemeClr val="accent2"/>
                </a:solidFill>
              </a:rPr>
              <a:t>방법 적용</a:t>
            </a:r>
            <a:r>
              <a:rPr lang="en-US" altLang="ko-KR" sz="1600" b="1">
                <a:solidFill>
                  <a:schemeClr val="accent2"/>
                </a:solidFill>
              </a:rPr>
              <a:t>. 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title"/>
          </p:nvPr>
        </p:nvSpPr>
        <p:spPr>
          <a:xfrm>
            <a:off x="468313" y="0"/>
            <a:ext cx="7556500" cy="493713"/>
          </a:xfrm>
        </p:spPr>
        <p:txBody>
          <a:bodyPr/>
          <a:lstStyle/>
          <a:p>
            <a:r>
              <a:rPr lang="en-US" altLang="ko-KR">
                <a:latin typeface="Times New Roman" pitchFamily="18" charset="0"/>
                <a:ea typeface="굴림" pitchFamily="50" charset="-127"/>
              </a:rPr>
              <a:t>1. </a:t>
            </a:r>
            <a:r>
              <a:rPr lang="ko-KR" altLang="en-US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rPr>
              <a:t>독립표본 </a:t>
            </a:r>
            <a:r>
              <a:rPr lang="en-US" altLang="ko-KR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rPr>
              <a:t>T </a:t>
            </a:r>
            <a:r>
              <a:rPr lang="ko-KR" altLang="en-US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rPr>
              <a:t>검정</a:t>
            </a:r>
          </a:p>
        </p:txBody>
      </p:sp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381000" y="1268413"/>
            <a:ext cx="8382000" cy="185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457200" indent="-457200" algn="l">
              <a:lnSpc>
                <a:spcPct val="150000"/>
              </a:lnSpc>
              <a:spcBef>
                <a:spcPct val="50000"/>
              </a:spcBef>
              <a:buFont typeface="Wingdings" pitchFamily="2" charset="2"/>
              <a:buChar char="Ø"/>
            </a:pPr>
            <a:r>
              <a:rPr lang="en-US" altLang="ko-KR" b="1">
                <a:solidFill>
                  <a:srgbClr val="A50021"/>
                </a:solidFill>
              </a:rPr>
              <a:t>  (</a:t>
            </a:r>
            <a:r>
              <a:rPr lang="ko-KR" altLang="en-US" b="1">
                <a:solidFill>
                  <a:srgbClr val="A50021"/>
                </a:solidFill>
              </a:rPr>
              <a:t>검정통계량</a:t>
            </a:r>
            <a:r>
              <a:rPr lang="en-US" altLang="ko-KR" b="1">
                <a:solidFill>
                  <a:srgbClr val="A50021"/>
                </a:solidFill>
              </a:rPr>
              <a:t>)</a:t>
            </a:r>
          </a:p>
          <a:p>
            <a:pPr marL="457200" indent="-457200" algn="l">
              <a:lnSpc>
                <a:spcPct val="15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en-US" altLang="ko-KR" b="1">
                <a:solidFill>
                  <a:schemeClr val="accent2"/>
                </a:solidFill>
              </a:rPr>
              <a:t>   1) </a:t>
            </a:r>
            <a:r>
              <a:rPr lang="ko-KR" altLang="en-US" b="1">
                <a:solidFill>
                  <a:schemeClr val="accent2"/>
                </a:solidFill>
              </a:rPr>
              <a:t>분산이 동일하면</a:t>
            </a:r>
            <a:r>
              <a:rPr lang="en-US" altLang="ko-KR" b="1">
                <a:solidFill>
                  <a:schemeClr val="accent2"/>
                </a:solidFill>
              </a:rPr>
              <a:t>:</a:t>
            </a:r>
          </a:p>
          <a:p>
            <a:pPr marL="457200" indent="-457200">
              <a:lnSpc>
                <a:spcPct val="150000"/>
              </a:lnSpc>
              <a:spcBef>
                <a:spcPct val="50000"/>
              </a:spcBef>
              <a:buFont typeface="Wingdings" pitchFamily="2" charset="2"/>
              <a:buNone/>
            </a:pPr>
            <a:endParaRPr lang="en-US" altLang="ko-KR" sz="800" b="1">
              <a:solidFill>
                <a:schemeClr val="accent2"/>
              </a:solidFill>
            </a:endParaRPr>
          </a:p>
          <a:p>
            <a:pPr marL="457200" indent="-457200" algn="l">
              <a:lnSpc>
                <a:spcPct val="15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en-US" altLang="ko-KR" b="1">
                <a:solidFill>
                  <a:schemeClr val="accent2"/>
                </a:solidFill>
              </a:rPr>
              <a:t>   2) </a:t>
            </a:r>
            <a:r>
              <a:rPr lang="ko-KR" altLang="en-US" b="1">
                <a:solidFill>
                  <a:schemeClr val="accent2"/>
                </a:solidFill>
              </a:rPr>
              <a:t>분산이 동일하지 않으면</a:t>
            </a:r>
            <a:r>
              <a:rPr lang="en-US" altLang="ko-KR" b="1">
                <a:solidFill>
                  <a:schemeClr val="accent2"/>
                </a:solidFill>
              </a:rPr>
              <a:t>: </a:t>
            </a:r>
            <a:endParaRPr lang="en-US" altLang="ko-KR" sz="1600" b="1">
              <a:solidFill>
                <a:schemeClr val="accent2"/>
              </a:solidFill>
            </a:endParaRPr>
          </a:p>
        </p:txBody>
      </p:sp>
      <p:sp>
        <p:nvSpPr>
          <p:cNvPr id="22533" name="Rectangle 5"/>
          <p:cNvSpPr>
            <a:spLocks noChangeArrowheads="1"/>
          </p:cNvSpPr>
          <p:nvPr/>
        </p:nvSpPr>
        <p:spPr bwMode="auto">
          <a:xfrm>
            <a:off x="304800" y="838200"/>
            <a:ext cx="2682875" cy="3810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r>
              <a:rPr lang="en-US" altLang="ko-KR" b="1"/>
              <a:t>(2)  </a:t>
            </a:r>
            <a:r>
              <a:rPr lang="ko-KR" altLang="en-US" b="1"/>
              <a:t>원리</a:t>
            </a:r>
          </a:p>
        </p:txBody>
      </p:sp>
      <p:graphicFrame>
        <p:nvGraphicFramePr>
          <p:cNvPr id="22534" name="Object 2"/>
          <p:cNvGraphicFramePr>
            <a:graphicFrameLocks noChangeAspect="1"/>
          </p:cNvGraphicFramePr>
          <p:nvPr/>
        </p:nvGraphicFramePr>
        <p:xfrm>
          <a:off x="4521200" y="3333750"/>
          <a:ext cx="1016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0" name="Equation" r:id="rId4" imgW="101556" imgH="190417" progId="Equation.3">
                  <p:embed/>
                </p:oleObj>
              </mc:Choice>
              <mc:Fallback>
                <p:oleObj name="Equation" r:id="rId4" imgW="101556" imgH="190417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1200" y="3333750"/>
                        <a:ext cx="101600" cy="190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5" name="Object 3"/>
          <p:cNvGraphicFramePr>
            <a:graphicFrameLocks noChangeAspect="1"/>
          </p:cNvGraphicFramePr>
          <p:nvPr/>
        </p:nvGraphicFramePr>
        <p:xfrm>
          <a:off x="1116013" y="5013325"/>
          <a:ext cx="5329237" cy="74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1" name="Equation" r:id="rId6" imgW="3175000" imgH="444500" progId="Equation.3">
                  <p:embed/>
                </p:oleObj>
              </mc:Choice>
              <mc:Fallback>
                <p:oleObj name="Equation" r:id="rId6" imgW="3175000" imgH="4445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5013325"/>
                        <a:ext cx="5329237" cy="746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6" name="Object 4"/>
          <p:cNvGraphicFramePr>
            <a:graphicFrameLocks noChangeAspect="1"/>
          </p:cNvGraphicFramePr>
          <p:nvPr/>
        </p:nvGraphicFramePr>
        <p:xfrm>
          <a:off x="2916238" y="3019425"/>
          <a:ext cx="5976937" cy="915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2" name="Equation" r:id="rId8" imgW="4432300" imgH="660400" progId="Equation.3">
                  <p:embed/>
                </p:oleObj>
              </mc:Choice>
              <mc:Fallback>
                <p:oleObj name="Equation" r:id="rId8" imgW="4432300" imgH="6604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3019425"/>
                        <a:ext cx="5976937" cy="915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7" name="Object 5"/>
          <p:cNvGraphicFramePr>
            <a:graphicFrameLocks noChangeAspect="1"/>
          </p:cNvGraphicFramePr>
          <p:nvPr/>
        </p:nvGraphicFramePr>
        <p:xfrm>
          <a:off x="2916238" y="1800225"/>
          <a:ext cx="6027737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3" name="Equation" r:id="rId10" imgW="4064000" imgH="596900" progId="Equation.3">
                  <p:embed/>
                </p:oleObj>
              </mc:Choice>
              <mc:Fallback>
                <p:oleObj name="Equation" r:id="rId10" imgW="4064000" imgH="5969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1800225"/>
                        <a:ext cx="6027737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ea typeface="굴림" pitchFamily="50" charset="-127"/>
              </a:rPr>
              <a:t>비교 실험 결과 </a:t>
            </a:r>
          </a:p>
        </p:txBody>
      </p:sp>
      <p:graphicFrame>
        <p:nvGraphicFramePr>
          <p:cNvPr id="4" name="내용 개체 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60962778"/>
              </p:ext>
            </p:extLst>
          </p:nvPr>
        </p:nvGraphicFramePr>
        <p:xfrm>
          <a:off x="280988" y="708025"/>
          <a:ext cx="4851400" cy="4083052"/>
        </p:xfrm>
        <a:graphic>
          <a:graphicData uri="http://schemas.openxmlformats.org/drawingml/2006/table">
            <a:tbl>
              <a:tblPr/>
              <a:tblGrid>
                <a:gridCol w="269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5222"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Standard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T="45723" marB="4572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Extra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T="45723" marB="4572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83"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0.8    1.1    0.7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T="45723" marB="4572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1.9    2.3    1.0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T="45723" marB="4572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83"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0.8    1.2    1.7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T="45723" marB="4572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1.0    1.8    1.1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T="45723" marB="4572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83"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1.3    1.0    1.5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T="45723" marB="4572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1.8    2.2    1.2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T="45723" marB="4572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83"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0.5    1.3    1.4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T="45723" marB="4572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1.7    1.7    2.2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T="45723" marB="4572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83"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1.8    0.9    1.1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T="45723" marB="4572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0.8    1.1    1.2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T="45723" marB="4572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83"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1.6    1.0    1.2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T="45723" marB="4572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0.9    1.5    0.7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T="45723" marB="4572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83"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0.7    0.5    0.9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T="45723" marB="4572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0.9    1.1    2.0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T="45723" marB="4572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83"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0.4    0.8    1.3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T="45723" marB="4572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1.5    1.6    0.7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T="45723" marB="4572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83"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1.0    1.4    0.4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T="45723" marB="4572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0.7    0.9    1.3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T="45723" marB="4572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83"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1.3    1.2    1.3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T="45723" marB="4572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1.0    0.8    1.0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T="45723" marB="4572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796925" y="5145088"/>
            <a:ext cx="33289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r>
              <a:rPr lang="ko-KR" altLang="en-US"/>
              <a:t>독립표본 </a:t>
            </a:r>
            <a:r>
              <a:rPr lang="en-US" altLang="ko-KR"/>
              <a:t>T – </a:t>
            </a:r>
            <a:r>
              <a:rPr lang="ko-KR" altLang="en-US"/>
              <a:t>검정</a:t>
            </a:r>
            <a:r>
              <a:rPr lang="en-US" altLang="ko-KR"/>
              <a:t> </a:t>
            </a:r>
            <a:endParaRPr lang="ko-KR" altLang="en-US"/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5351463" y="1211263"/>
            <a:ext cx="396335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l"/>
            <a:r>
              <a:rPr lang="en-US" altLang="ko-KR" dirty="0"/>
              <a:t>&gt; </a:t>
            </a:r>
            <a:r>
              <a:rPr lang="en-US" altLang="ko-KR" dirty="0" err="1"/>
              <a:t>fert</a:t>
            </a:r>
            <a:r>
              <a:rPr lang="en-US" altLang="ko-KR" dirty="0"/>
              <a:t> = read.csv(“T_fert.csv”) </a:t>
            </a:r>
          </a:p>
          <a:p>
            <a:pPr algn="l"/>
            <a:r>
              <a:rPr lang="en-US" altLang="ko-KR" dirty="0"/>
              <a:t>&gt; </a:t>
            </a:r>
            <a:r>
              <a:rPr lang="en-US" altLang="ko-KR" dirty="0" err="1"/>
              <a:t>t.test</a:t>
            </a:r>
            <a:r>
              <a:rPr lang="en-US" altLang="ko-KR" dirty="0"/>
              <a:t>(</a:t>
            </a:r>
            <a:r>
              <a:rPr lang="en-US" altLang="ko-KR" dirty="0" err="1"/>
              <a:t>fert$Ultra</a:t>
            </a:r>
            <a:r>
              <a:rPr lang="en-US" altLang="ko-KR" dirty="0"/>
              <a:t>, </a:t>
            </a:r>
            <a:r>
              <a:rPr lang="en-US" altLang="ko-KR" dirty="0" err="1"/>
              <a:t>fert$Standard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26668" name="Picture 4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088" y="2085975"/>
            <a:ext cx="8199437" cy="338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66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66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ea typeface="굴림" pitchFamily="50" charset="-127"/>
              </a:rPr>
              <a:t>t.test </a:t>
            </a:r>
            <a:r>
              <a:rPr lang="ko-KR" altLang="en-US">
                <a:ea typeface="굴림" pitchFamily="50" charset="-127"/>
              </a:rPr>
              <a:t>의</a:t>
            </a:r>
            <a:r>
              <a:rPr lang="en-US" altLang="ko-KR">
                <a:ea typeface="굴림" pitchFamily="50" charset="-127"/>
              </a:rPr>
              <a:t> </a:t>
            </a:r>
            <a:r>
              <a:rPr lang="ko-KR" altLang="en-US">
                <a:ea typeface="굴림" pitchFamily="50" charset="-127"/>
              </a:rPr>
              <a:t>옵션</a:t>
            </a:r>
          </a:p>
        </p:txBody>
      </p:sp>
      <p:sp>
        <p:nvSpPr>
          <p:cNvPr id="24579" name="TextBox 8"/>
          <p:cNvSpPr txBox="1">
            <a:spLocks noChangeArrowheads="1"/>
          </p:cNvSpPr>
          <p:nvPr/>
        </p:nvSpPr>
        <p:spPr bwMode="auto">
          <a:xfrm>
            <a:off x="425450" y="906463"/>
            <a:ext cx="7705725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l"/>
            <a:r>
              <a:rPr lang="en-US" altLang="ko-KR" dirty="0"/>
              <a:t>&gt; </a:t>
            </a:r>
            <a:r>
              <a:rPr lang="en-US" altLang="ko-KR" dirty="0" err="1"/>
              <a:t>t.test</a:t>
            </a:r>
            <a:r>
              <a:rPr lang="en-US" altLang="ko-KR" dirty="0"/>
              <a:t>(</a:t>
            </a:r>
            <a:r>
              <a:rPr lang="en-US" altLang="ko-KR" dirty="0" err="1"/>
              <a:t>fert$Ultra</a:t>
            </a:r>
            <a:r>
              <a:rPr lang="en-US" altLang="ko-KR" dirty="0"/>
              <a:t>, </a:t>
            </a:r>
            <a:r>
              <a:rPr lang="en-US" altLang="ko-KR" dirty="0" err="1"/>
              <a:t>fert$Standard</a:t>
            </a:r>
            <a:r>
              <a:rPr lang="en-US" altLang="ko-KR" dirty="0"/>
              <a:t>, alternative=‘greater’)</a:t>
            </a:r>
          </a:p>
          <a:p>
            <a:pPr algn="l"/>
            <a:endParaRPr lang="en-US" altLang="ko-KR" dirty="0"/>
          </a:p>
          <a:p>
            <a:pPr algn="l"/>
            <a:r>
              <a:rPr lang="en-US" altLang="ko-KR" dirty="0"/>
              <a:t>&gt; </a:t>
            </a:r>
            <a:r>
              <a:rPr lang="en-US" altLang="ko-KR" dirty="0" err="1"/>
              <a:t>var.test</a:t>
            </a:r>
            <a:r>
              <a:rPr lang="en-US" altLang="ko-KR" dirty="0"/>
              <a:t>(</a:t>
            </a:r>
            <a:r>
              <a:rPr lang="en-US" altLang="ko-KR" dirty="0" err="1"/>
              <a:t>fert$Ultra,fert$Standard</a:t>
            </a:r>
            <a:r>
              <a:rPr lang="en-US" altLang="ko-KR" dirty="0"/>
              <a:t>)</a:t>
            </a:r>
          </a:p>
          <a:p>
            <a:pPr marL="285750" indent="-285750" algn="l">
              <a:buFont typeface="Wingdings" pitchFamily="2" charset="2"/>
              <a:buChar char="Ø"/>
            </a:pPr>
            <a:endParaRPr lang="en-US" altLang="ko-KR" dirty="0"/>
          </a:p>
          <a:p>
            <a:pPr algn="l"/>
            <a:r>
              <a:rPr lang="en-US" altLang="ko-KR" dirty="0"/>
              <a:t>&gt; </a:t>
            </a:r>
            <a:r>
              <a:rPr lang="en-US" altLang="ko-KR" dirty="0" err="1"/>
              <a:t>t.test</a:t>
            </a:r>
            <a:r>
              <a:rPr lang="en-US" altLang="ko-KR" dirty="0"/>
              <a:t>(</a:t>
            </a:r>
            <a:r>
              <a:rPr lang="en-US" altLang="ko-KR" dirty="0" err="1"/>
              <a:t>fert$Ultra</a:t>
            </a:r>
            <a:r>
              <a:rPr lang="en-US" altLang="ko-KR" dirty="0"/>
              <a:t>, </a:t>
            </a:r>
            <a:r>
              <a:rPr lang="en-US" altLang="ko-KR" dirty="0" err="1"/>
              <a:t>fert$Standard</a:t>
            </a:r>
            <a:r>
              <a:rPr lang="en-US" altLang="ko-KR" dirty="0"/>
              <a:t>, alternative=‘greater’, </a:t>
            </a:r>
            <a:r>
              <a:rPr lang="en-US" altLang="ko-KR" dirty="0" err="1"/>
              <a:t>var.equal</a:t>
            </a:r>
            <a:r>
              <a:rPr lang="en-US" altLang="ko-KR" dirty="0"/>
              <a:t>=T)</a:t>
            </a:r>
            <a:endParaRPr lang="ko-KR" altLang="en-US" dirty="0"/>
          </a:p>
        </p:txBody>
      </p:sp>
      <p:pic>
        <p:nvPicPr>
          <p:cNvPr id="2458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913" y="2646386"/>
            <a:ext cx="7724775" cy="2855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내용 개체 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26662626"/>
              </p:ext>
            </p:extLst>
          </p:nvPr>
        </p:nvGraphicFramePr>
        <p:xfrm>
          <a:off x="2122488" y="1317625"/>
          <a:ext cx="4851400" cy="4083052"/>
        </p:xfrm>
        <a:graphic>
          <a:graphicData uri="http://schemas.openxmlformats.org/drawingml/2006/table">
            <a:tbl>
              <a:tblPr/>
              <a:tblGrid>
                <a:gridCol w="269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5222"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Standard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T="45723" marB="4572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Ultra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T="45723" marB="4572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83"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0.8    1.1    0.7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T="45723" marB="4572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1.9    2.3    1.0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T="45723" marB="4572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83"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0.8    1.2    1.7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T="45723" marB="4572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1.0    1.8    1.1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T="45723" marB="4572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83"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1.3    1.0    1.5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T="45723" marB="4572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1.8    2.2    1.2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T="45723" marB="4572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83"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0.5    1.3    1.4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T="45723" marB="4572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1.7    1.7    2.2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T="45723" marB="4572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83"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1.8    0.9    1.1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T="45723" marB="4572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0.8    1.1    1.2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T="45723" marB="4572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83"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1.6    1.0    1.2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T="45723" marB="4572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0.9    1.5    0.7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T="45723" marB="4572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83"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0.7    0.5    0.9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T="45723" marB="4572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0.9    1.1    2.0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T="45723" marB="4572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83"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0.4    0.8    1.3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T="45723" marB="4572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1.5    1.6    0.7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T="45723" marB="4572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83"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1.0    1.4    0.4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T="45723" marB="4572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0.7    0.9    1.3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T="45723" marB="4572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83"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1.3    1.2    1.3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T="45723" marB="4572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1.0    0.8    1.0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T="45723" marB="4572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1722438" y="5527675"/>
            <a:ext cx="3327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r>
              <a:rPr lang="ko-KR" altLang="en-US"/>
              <a:t>분석</a:t>
            </a:r>
            <a:r>
              <a:rPr lang="en-US" altLang="ko-KR"/>
              <a:t> </a:t>
            </a:r>
            <a:r>
              <a:rPr lang="ko-KR" altLang="en-US"/>
              <a:t>방법은</a:t>
            </a:r>
            <a:r>
              <a:rPr lang="en-US" altLang="ko-KR"/>
              <a:t>? </a:t>
            </a:r>
            <a:endParaRPr lang="ko-KR" altLang="en-US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4740275" y="5514975"/>
            <a:ext cx="33289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r>
              <a:rPr lang="ko-KR" altLang="en-US"/>
              <a:t>단일표본 </a:t>
            </a:r>
            <a:r>
              <a:rPr lang="en-US" altLang="ko-KR"/>
              <a:t>T – </a:t>
            </a:r>
            <a:r>
              <a:rPr lang="ko-KR" altLang="en-US"/>
              <a:t>검정</a:t>
            </a:r>
            <a:r>
              <a:rPr lang="en-US" altLang="ko-KR"/>
              <a:t> </a:t>
            </a:r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477838" y="733425"/>
            <a:ext cx="6811962" cy="646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kern="0" dirty="0">
                <a:solidFill>
                  <a:srgbClr val="000000"/>
                </a:solidFill>
                <a:latin typeface="맑은 고딕"/>
              </a:rPr>
              <a:t>Standard </a:t>
            </a:r>
            <a:r>
              <a:rPr lang="en-US" altLang="ko-KR" kern="0" dirty="0" err="1">
                <a:solidFill>
                  <a:srgbClr val="000000"/>
                </a:solidFill>
                <a:latin typeface="맑은 고딕"/>
              </a:rPr>
              <a:t>fert</a:t>
            </a:r>
            <a:r>
              <a:rPr lang="ko-KR" altLang="en-US" kern="0" dirty="0">
                <a:solidFill>
                  <a:srgbClr val="000000"/>
                </a:solidFill>
                <a:latin typeface="맑은 고딕"/>
              </a:rPr>
              <a:t>의 주행거리의</a:t>
            </a:r>
            <a:r>
              <a:rPr lang="en-US" altLang="ko-KR" kern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lang="ko-KR" altLang="en-US" kern="0" dirty="0">
                <a:solidFill>
                  <a:srgbClr val="000000"/>
                </a:solidFill>
                <a:latin typeface="맑은 고딕"/>
              </a:rPr>
              <a:t>평균은 </a:t>
            </a:r>
            <a:r>
              <a:rPr lang="en-US" altLang="ko-KR" kern="0" dirty="0">
                <a:solidFill>
                  <a:srgbClr val="000000"/>
                </a:solidFill>
                <a:latin typeface="맑은 고딕"/>
              </a:rPr>
              <a:t>1.07</a:t>
            </a:r>
            <a:r>
              <a:rPr lang="ko-KR" altLang="en-US" kern="0" dirty="0">
                <a:solidFill>
                  <a:srgbClr val="000000"/>
                </a:solidFill>
                <a:latin typeface="맑은 고딕"/>
              </a:rPr>
              <a:t>이다</a:t>
            </a:r>
            <a:r>
              <a:rPr lang="en-US" altLang="ko-KR" kern="0" dirty="0">
                <a:solidFill>
                  <a:srgbClr val="000000"/>
                </a:solidFill>
                <a:latin typeface="맑은 고딕"/>
              </a:rPr>
              <a:t>.</a:t>
            </a:r>
            <a:r>
              <a:rPr lang="ko-KR" altLang="en-US" kern="0" dirty="0">
                <a:solidFill>
                  <a:srgbClr val="000000"/>
                </a:solidFill>
                <a:latin typeface="맑은 고딕"/>
              </a:rPr>
              <a:t>  </a:t>
            </a:r>
            <a:endParaRPr lang="en-US" altLang="ko-KR" kern="0" dirty="0">
              <a:solidFill>
                <a:srgbClr val="000000"/>
              </a:solidFill>
            </a:endParaRPr>
          </a:p>
          <a:p>
            <a:pPr>
              <a:defRPr/>
            </a:pPr>
            <a:endParaRPr lang="ko-KR" altLang="en-US" dirty="0"/>
          </a:p>
        </p:txBody>
      </p:sp>
      <p:sp>
        <p:nvSpPr>
          <p:cNvPr id="25643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88913"/>
            <a:ext cx="7556500" cy="304800"/>
          </a:xfrm>
        </p:spPr>
        <p:txBody>
          <a:bodyPr/>
          <a:lstStyle/>
          <a:p>
            <a:r>
              <a:rPr lang="en-US" altLang="ko-KR">
                <a:latin typeface="Times New Roman" pitchFamily="18" charset="0"/>
                <a:ea typeface="굴림" pitchFamily="50" charset="-127"/>
              </a:rPr>
              <a:t>2. </a:t>
            </a:r>
            <a:r>
              <a:rPr lang="ko-KR" altLang="en-US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rPr>
              <a:t>단일표본 </a:t>
            </a:r>
            <a:r>
              <a:rPr lang="en-US" altLang="ko-KR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rPr>
              <a:t>T </a:t>
            </a:r>
            <a:r>
              <a:rPr lang="ko-KR" altLang="en-US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rPr>
              <a:t>검정</a:t>
            </a:r>
          </a:p>
        </p:txBody>
      </p:sp>
      <p:cxnSp>
        <p:nvCxnSpPr>
          <p:cNvPr id="25644" name="직선 연결선 9"/>
          <p:cNvCxnSpPr>
            <a:cxnSpLocks noChangeShapeType="1"/>
          </p:cNvCxnSpPr>
          <p:nvPr/>
        </p:nvCxnSpPr>
        <p:spPr bwMode="auto">
          <a:xfrm>
            <a:off x="2066925" y="1285875"/>
            <a:ext cx="2673350" cy="4035425"/>
          </a:xfrm>
          <a:prstGeom prst="line">
            <a:avLst/>
          </a:prstGeom>
          <a:noFill/>
          <a:ln w="38100" algn="ctr">
            <a:solidFill>
              <a:srgbClr val="C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45" name="직선 연결선 10"/>
          <p:cNvCxnSpPr>
            <a:cxnSpLocks noChangeShapeType="1"/>
          </p:cNvCxnSpPr>
          <p:nvPr/>
        </p:nvCxnSpPr>
        <p:spPr bwMode="auto">
          <a:xfrm flipH="1">
            <a:off x="2066925" y="1379538"/>
            <a:ext cx="2747963" cy="4037012"/>
          </a:xfrm>
          <a:prstGeom prst="line">
            <a:avLst/>
          </a:prstGeom>
          <a:noFill/>
          <a:ln w="38100" algn="ctr">
            <a:solidFill>
              <a:srgbClr val="C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5646" name="모서리가 둥근 직사각형 12"/>
          <p:cNvSpPr>
            <a:spLocks noChangeArrowheads="1"/>
          </p:cNvSpPr>
          <p:nvPr/>
        </p:nvSpPr>
        <p:spPr bwMode="auto">
          <a:xfrm>
            <a:off x="2652713" y="2859088"/>
            <a:ext cx="1681162" cy="896937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2700" algn="ctr">
            <a:solidFill>
              <a:srgbClr val="3333CC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ko-KR" altLang="en-US"/>
              <a:t>많은</a:t>
            </a:r>
            <a:r>
              <a:rPr lang="en-US" altLang="ko-KR"/>
              <a:t> </a:t>
            </a:r>
            <a:r>
              <a:rPr lang="ko-KR" altLang="en-US"/>
              <a:t>정보가 </a:t>
            </a:r>
            <a:endParaRPr lang="en-US" altLang="ko-KR"/>
          </a:p>
          <a:p>
            <a:r>
              <a:rPr lang="ko-KR" altLang="en-US"/>
              <a:t>있을 때 </a:t>
            </a:r>
            <a:endParaRPr lang="en-US" altLang="ko-KR"/>
          </a:p>
          <a:p>
            <a:r>
              <a:rPr lang="ko-KR" altLang="en-US"/>
              <a:t>필요 없음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107950" y="188913"/>
            <a:ext cx="7556500" cy="304800"/>
          </a:xfrm>
        </p:spPr>
        <p:txBody>
          <a:bodyPr/>
          <a:lstStyle/>
          <a:p>
            <a:r>
              <a:rPr lang="en-US" altLang="ko-KR">
                <a:latin typeface="Times New Roman" pitchFamily="18" charset="0"/>
                <a:ea typeface="굴림" pitchFamily="50" charset="-127"/>
              </a:rPr>
              <a:t>2. </a:t>
            </a:r>
            <a:r>
              <a:rPr lang="ko-KR" altLang="en-US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rPr>
              <a:t>단일표본 </a:t>
            </a:r>
            <a:r>
              <a:rPr lang="en-US" altLang="ko-KR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rPr>
              <a:t>T </a:t>
            </a:r>
            <a:r>
              <a:rPr lang="ko-KR" altLang="en-US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rPr>
              <a:t>검정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19200" y="1447800"/>
            <a:ext cx="7924800" cy="381000"/>
          </a:xfr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  <a:defRPr/>
            </a:pPr>
            <a:r>
              <a:rPr lang="ko-KR" altLang="en-US" sz="1800" dirty="0">
                <a:ea typeface="굴림" pitchFamily="50" charset="-127"/>
              </a:rPr>
              <a:t>단일 모집단의 평균 검정</a:t>
            </a:r>
            <a:r>
              <a:rPr lang="ko-KR" altLang="en-US" sz="1600" dirty="0">
                <a:ea typeface="굴림" pitchFamily="50" charset="-127"/>
              </a:rPr>
              <a:t>   </a:t>
            </a:r>
            <a:endParaRPr lang="en-US" altLang="ko-KR" sz="1600" dirty="0">
              <a:ea typeface="굴림" pitchFamily="50" charset="-127"/>
            </a:endParaRPr>
          </a:p>
          <a:p>
            <a:pPr marL="0" indent="0">
              <a:lnSpc>
                <a:spcPct val="150000"/>
              </a:lnSpc>
              <a:buFontTx/>
              <a:buNone/>
              <a:defRPr/>
            </a:pPr>
            <a:r>
              <a:rPr lang="en-US" altLang="ko-KR" sz="1600" dirty="0">
                <a:solidFill>
                  <a:srgbClr val="A50021"/>
                </a:solidFill>
                <a:ea typeface="굴림" pitchFamily="50" charset="-127"/>
              </a:rPr>
              <a:t>        </a:t>
            </a:r>
            <a:r>
              <a:rPr lang="en-US" altLang="ko-KR" sz="1600" dirty="0">
                <a:solidFill>
                  <a:srgbClr val="A50021"/>
                </a:solidFill>
              </a:rPr>
              <a:t> </a:t>
            </a:r>
            <a:r>
              <a:rPr lang="en-US" altLang="ko-KR" sz="1600" dirty="0">
                <a:solidFill>
                  <a:srgbClr val="A50021"/>
                </a:solidFill>
                <a:latin typeface="바탕"/>
                <a:ea typeface="바탕"/>
              </a:rPr>
              <a:t>⇒ </a:t>
            </a:r>
            <a:r>
              <a:rPr lang="ko-KR" altLang="en-US" sz="1600" dirty="0">
                <a:solidFill>
                  <a:srgbClr val="A50021"/>
                </a:solidFill>
                <a:latin typeface="바탕"/>
                <a:ea typeface="바탕"/>
              </a:rPr>
              <a:t>비교실험에서 비교대상에 대한 정보는 알고 있음</a:t>
            </a:r>
            <a:endParaRPr lang="ko-KR" altLang="en-US" sz="1600" dirty="0">
              <a:ea typeface="굴림" pitchFamily="50" charset="-127"/>
            </a:endParaRPr>
          </a:p>
          <a:p>
            <a:pPr>
              <a:lnSpc>
                <a:spcPct val="150000"/>
              </a:lnSpc>
              <a:buFont typeface="Wingdings" pitchFamily="2" charset="2"/>
              <a:buNone/>
              <a:defRPr/>
            </a:pPr>
            <a:endParaRPr lang="en-US" altLang="ko-KR" sz="1400" dirty="0">
              <a:ea typeface="굴림" pitchFamily="50" charset="-127"/>
            </a:endParaRPr>
          </a:p>
        </p:txBody>
      </p:sp>
      <p:sp>
        <p:nvSpPr>
          <p:cNvPr id="26628" name="Rectangle 4"/>
          <p:cNvSpPr>
            <a:spLocks noChangeArrowheads="1"/>
          </p:cNvSpPr>
          <p:nvPr/>
        </p:nvSpPr>
        <p:spPr bwMode="auto">
          <a:xfrm>
            <a:off x="395288" y="908050"/>
            <a:ext cx="2881312" cy="3810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altLang="ko-KR" b="1"/>
              <a:t>(1)  </a:t>
            </a:r>
            <a:r>
              <a:rPr lang="ko-KR" altLang="en-US" b="1"/>
              <a:t>목적</a:t>
            </a:r>
          </a:p>
        </p:txBody>
      </p:sp>
      <p:sp>
        <p:nvSpPr>
          <p:cNvPr id="26629" name="Rectangle 7"/>
          <p:cNvSpPr>
            <a:spLocks noChangeArrowheads="1"/>
          </p:cNvSpPr>
          <p:nvPr/>
        </p:nvSpPr>
        <p:spPr bwMode="auto">
          <a:xfrm>
            <a:off x="381000" y="3962400"/>
            <a:ext cx="2895600" cy="3810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altLang="ko-KR" b="1"/>
              <a:t>(2)  </a:t>
            </a:r>
            <a:r>
              <a:rPr lang="ko-KR" altLang="en-US" b="1"/>
              <a:t>요구되는 기본가정</a:t>
            </a:r>
          </a:p>
        </p:txBody>
      </p:sp>
      <p:sp>
        <p:nvSpPr>
          <p:cNvPr id="26630" name="Rectangle 8"/>
          <p:cNvSpPr>
            <a:spLocks noChangeArrowheads="1"/>
          </p:cNvSpPr>
          <p:nvPr/>
        </p:nvSpPr>
        <p:spPr bwMode="auto">
          <a:xfrm>
            <a:off x="207963" y="4419600"/>
            <a:ext cx="8382000" cy="191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>
              <a:lnSpc>
                <a:spcPct val="150000"/>
              </a:lnSpc>
              <a:spcBef>
                <a:spcPct val="50000"/>
              </a:spcBef>
              <a:buFont typeface="Wingdings" pitchFamily="2" charset="2"/>
              <a:buChar char="Ø"/>
            </a:pPr>
            <a:r>
              <a:rPr lang="en-US" altLang="ko-KR" b="1">
                <a:solidFill>
                  <a:srgbClr val="A50021"/>
                </a:solidFill>
              </a:rPr>
              <a:t>  (</a:t>
            </a:r>
            <a:r>
              <a:rPr lang="ko-KR" altLang="en-US" b="1">
                <a:solidFill>
                  <a:srgbClr val="A50021"/>
                </a:solidFill>
              </a:rPr>
              <a:t>정규성 검정</a:t>
            </a:r>
            <a:r>
              <a:rPr lang="en-US" altLang="ko-KR" b="1">
                <a:solidFill>
                  <a:srgbClr val="A50021"/>
                </a:solidFill>
              </a:rPr>
              <a:t>)</a:t>
            </a:r>
          </a:p>
          <a:p>
            <a:pPr algn="l">
              <a:lnSpc>
                <a:spcPct val="15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en-US" altLang="ko-KR" b="1"/>
              <a:t>     </a:t>
            </a:r>
            <a:r>
              <a:rPr lang="ko-KR" altLang="en-US" sz="1600" b="1"/>
              <a:t>각 집단의 표본</a:t>
            </a:r>
            <a:r>
              <a:rPr lang="en-US" altLang="ko-KR" sz="1600" b="1"/>
              <a:t>(</a:t>
            </a:r>
            <a:r>
              <a:rPr lang="ko-KR" altLang="en-US" sz="1600" b="1"/>
              <a:t>자료</a:t>
            </a:r>
            <a:r>
              <a:rPr lang="en-US" altLang="ko-KR" sz="1600" b="1"/>
              <a:t>) </a:t>
            </a:r>
            <a:r>
              <a:rPr lang="ko-KR" altLang="en-US" sz="1600" b="1"/>
              <a:t>수가 많은 경우</a:t>
            </a:r>
            <a:r>
              <a:rPr lang="en-US" altLang="ko-KR" sz="1600" b="1"/>
              <a:t>(</a:t>
            </a:r>
            <a:r>
              <a:rPr lang="ko-KR" altLang="en-US" sz="1600" b="1"/>
              <a:t>대표본</a:t>
            </a:r>
            <a:r>
              <a:rPr lang="en-US" altLang="ko-KR" sz="1600" b="1"/>
              <a:t>, 30</a:t>
            </a:r>
            <a:r>
              <a:rPr lang="ko-KR" altLang="en-US" sz="1600" b="1"/>
              <a:t>이상</a:t>
            </a:r>
            <a:r>
              <a:rPr lang="en-US" altLang="ko-KR" sz="1600" b="1"/>
              <a:t>) : </a:t>
            </a:r>
            <a:r>
              <a:rPr lang="ko-KR" altLang="en-US" sz="1600" b="1"/>
              <a:t>정규분포 가정할 수 있음</a:t>
            </a:r>
          </a:p>
          <a:p>
            <a:pPr algn="l">
              <a:lnSpc>
                <a:spcPct val="15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ko-KR" altLang="en-US" sz="1600" b="1"/>
              <a:t>      각 집단의 표본</a:t>
            </a:r>
            <a:r>
              <a:rPr lang="en-US" altLang="ko-KR" sz="1600" b="1"/>
              <a:t>(</a:t>
            </a:r>
            <a:r>
              <a:rPr lang="ko-KR" altLang="en-US" sz="1600" b="1"/>
              <a:t>자료</a:t>
            </a:r>
            <a:r>
              <a:rPr lang="en-US" altLang="ko-KR" sz="1600" b="1"/>
              <a:t>) </a:t>
            </a:r>
            <a:r>
              <a:rPr lang="ko-KR" altLang="en-US" sz="1600" b="1"/>
              <a:t>수가 적은 경우</a:t>
            </a:r>
            <a:r>
              <a:rPr lang="en-US" altLang="ko-KR" sz="1600" b="1"/>
              <a:t>(</a:t>
            </a:r>
            <a:r>
              <a:rPr lang="ko-KR" altLang="en-US" sz="1600" b="1"/>
              <a:t>소표본</a:t>
            </a:r>
            <a:r>
              <a:rPr lang="en-US" altLang="ko-KR" sz="1600" b="1"/>
              <a:t>, 30</a:t>
            </a:r>
            <a:r>
              <a:rPr lang="ko-KR" altLang="en-US" sz="1600" b="1"/>
              <a:t>미만</a:t>
            </a:r>
            <a:r>
              <a:rPr lang="en-US" altLang="ko-KR" sz="1600" b="1"/>
              <a:t>) : </a:t>
            </a:r>
            <a:r>
              <a:rPr lang="ko-KR" altLang="en-US" sz="1600" b="1"/>
              <a:t>정규성 검정 수행</a:t>
            </a:r>
          </a:p>
          <a:p>
            <a:pPr algn="l">
              <a:spcBef>
                <a:spcPct val="50000"/>
              </a:spcBef>
              <a:buFont typeface="Wingdings" pitchFamily="2" charset="2"/>
              <a:buNone/>
            </a:pPr>
            <a:r>
              <a:rPr lang="ko-KR" altLang="en-US" sz="1600" b="1"/>
              <a:t>	 	→ 정규성 만족하는 경우 </a:t>
            </a:r>
            <a:r>
              <a:rPr lang="en-US" altLang="ko-KR" sz="1600" b="1"/>
              <a:t>:  </a:t>
            </a:r>
            <a:r>
              <a:rPr lang="ko-KR" altLang="en-US" sz="1600" b="1"/>
              <a:t>단일표본 </a:t>
            </a:r>
            <a:r>
              <a:rPr lang="en-US" altLang="ko-KR" sz="1600" b="1"/>
              <a:t>t-test </a:t>
            </a:r>
            <a:r>
              <a:rPr lang="ko-KR" altLang="en-US" sz="1600" b="1"/>
              <a:t>적용               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88913"/>
            <a:ext cx="7556500" cy="304800"/>
          </a:xfrm>
        </p:spPr>
        <p:txBody>
          <a:bodyPr/>
          <a:lstStyle/>
          <a:p>
            <a:r>
              <a:rPr lang="en-US" altLang="ko-KR">
                <a:latin typeface="Times New Roman" pitchFamily="18" charset="0"/>
                <a:ea typeface="굴림" pitchFamily="50" charset="-127"/>
              </a:rPr>
              <a:t>2. </a:t>
            </a:r>
            <a:r>
              <a:rPr lang="ko-KR" altLang="en-US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rPr>
              <a:t>단일표본 </a:t>
            </a:r>
            <a:r>
              <a:rPr lang="en-US" altLang="ko-KR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rPr>
              <a:t>T </a:t>
            </a:r>
            <a:r>
              <a:rPr lang="ko-KR" altLang="en-US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rPr>
              <a:t>검정</a:t>
            </a:r>
          </a:p>
        </p:txBody>
      </p:sp>
      <p:sp>
        <p:nvSpPr>
          <p:cNvPr id="27651" name="Rectangle 3"/>
          <p:cNvSpPr>
            <a:spLocks noChangeArrowheads="1"/>
          </p:cNvSpPr>
          <p:nvPr/>
        </p:nvSpPr>
        <p:spPr bwMode="auto">
          <a:xfrm>
            <a:off x="304800" y="1295400"/>
            <a:ext cx="8458200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>
              <a:lnSpc>
                <a:spcPct val="150000"/>
              </a:lnSpc>
              <a:spcBef>
                <a:spcPct val="50000"/>
              </a:spcBef>
              <a:buFont typeface="Wingdings" pitchFamily="2" charset="2"/>
              <a:buChar char="Ø"/>
            </a:pPr>
            <a:r>
              <a:rPr lang="en-US" altLang="ko-KR" b="1">
                <a:solidFill>
                  <a:srgbClr val="A50021"/>
                </a:solidFill>
              </a:rPr>
              <a:t>  (</a:t>
            </a:r>
            <a:r>
              <a:rPr lang="ko-KR" altLang="en-US" b="1">
                <a:solidFill>
                  <a:srgbClr val="A50021"/>
                </a:solidFill>
              </a:rPr>
              <a:t>가설</a:t>
            </a:r>
            <a:r>
              <a:rPr lang="en-US" altLang="ko-KR" b="1">
                <a:solidFill>
                  <a:srgbClr val="A50021"/>
                </a:solidFill>
              </a:rPr>
              <a:t>)</a:t>
            </a:r>
            <a:endParaRPr lang="en-US" altLang="ko-KR" sz="1600" b="1"/>
          </a:p>
        </p:txBody>
      </p:sp>
      <p:sp>
        <p:nvSpPr>
          <p:cNvPr id="27652" name="Rectangle 4"/>
          <p:cNvSpPr>
            <a:spLocks noChangeArrowheads="1"/>
          </p:cNvSpPr>
          <p:nvPr/>
        </p:nvSpPr>
        <p:spPr bwMode="auto">
          <a:xfrm>
            <a:off x="323850" y="836613"/>
            <a:ext cx="2971800" cy="3810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r>
              <a:rPr lang="en-US" altLang="ko-KR" b="1"/>
              <a:t>(3)  </a:t>
            </a:r>
            <a:r>
              <a:rPr lang="ko-KR" altLang="en-US" b="1"/>
              <a:t>원리</a:t>
            </a:r>
          </a:p>
        </p:txBody>
      </p:sp>
      <p:graphicFrame>
        <p:nvGraphicFramePr>
          <p:cNvPr id="27653" name="Object 2"/>
          <p:cNvGraphicFramePr>
            <a:graphicFrameLocks noChangeAspect="1"/>
          </p:cNvGraphicFramePr>
          <p:nvPr/>
        </p:nvGraphicFramePr>
        <p:xfrm>
          <a:off x="4521200" y="3333750"/>
          <a:ext cx="1016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0" name="Equation" r:id="rId4" imgW="101556" imgH="190417" progId="Equation.3">
                  <p:embed/>
                </p:oleObj>
              </mc:Choice>
              <mc:Fallback>
                <p:oleObj name="Equation" r:id="rId4" imgW="101556" imgH="190417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1200" y="3333750"/>
                        <a:ext cx="101600" cy="190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4" name="Rectangle 7"/>
          <p:cNvSpPr>
            <a:spLocks noChangeArrowheads="1"/>
          </p:cNvSpPr>
          <p:nvPr/>
        </p:nvSpPr>
        <p:spPr bwMode="auto">
          <a:xfrm>
            <a:off x="179388" y="4149725"/>
            <a:ext cx="8305800" cy="184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>
              <a:lnSpc>
                <a:spcPct val="150000"/>
              </a:lnSpc>
              <a:spcBef>
                <a:spcPct val="50000"/>
              </a:spcBef>
              <a:buFont typeface="Wingdings" pitchFamily="2" charset="2"/>
              <a:buChar char="Ø"/>
            </a:pPr>
            <a:r>
              <a:rPr lang="en-US" altLang="ko-KR" b="1">
                <a:solidFill>
                  <a:srgbClr val="A50021"/>
                </a:solidFill>
              </a:rPr>
              <a:t>  (</a:t>
            </a:r>
            <a:r>
              <a:rPr lang="ko-KR" altLang="en-US" b="1">
                <a:solidFill>
                  <a:srgbClr val="A50021"/>
                </a:solidFill>
              </a:rPr>
              <a:t>검정통계량</a:t>
            </a:r>
            <a:r>
              <a:rPr lang="en-US" altLang="ko-KR" b="1">
                <a:solidFill>
                  <a:srgbClr val="A50021"/>
                </a:solidFill>
              </a:rPr>
              <a:t>)</a:t>
            </a:r>
          </a:p>
          <a:p>
            <a:pPr>
              <a:lnSpc>
                <a:spcPct val="150000"/>
              </a:lnSpc>
              <a:spcBef>
                <a:spcPct val="50000"/>
              </a:spcBef>
              <a:buFont typeface="Wingdings" pitchFamily="2" charset="2"/>
              <a:buChar char="Ø"/>
            </a:pPr>
            <a:endParaRPr lang="en-US" altLang="ko-KR" b="1">
              <a:solidFill>
                <a:srgbClr val="A50021"/>
              </a:solidFill>
            </a:endParaRPr>
          </a:p>
          <a:p>
            <a:pPr>
              <a:lnSpc>
                <a:spcPct val="150000"/>
              </a:lnSpc>
              <a:spcBef>
                <a:spcPct val="50000"/>
              </a:spcBef>
              <a:buFont typeface="Wingdings" pitchFamily="2" charset="2"/>
              <a:buChar char="Ø"/>
            </a:pPr>
            <a:endParaRPr lang="en-US" altLang="ko-KR" sz="1000" b="1">
              <a:solidFill>
                <a:srgbClr val="A50021"/>
              </a:solidFill>
            </a:endParaRPr>
          </a:p>
          <a:p>
            <a:pPr lvl="2">
              <a:lnSpc>
                <a:spcPct val="150000"/>
              </a:lnSpc>
              <a:spcBef>
                <a:spcPct val="50000"/>
              </a:spcBef>
              <a:buFont typeface="Wingdings" pitchFamily="2" charset="2"/>
              <a:buChar char="Ø"/>
            </a:pPr>
            <a:r>
              <a:rPr lang="en-US" altLang="ko-KR" sz="1600" b="1">
                <a:solidFill>
                  <a:schemeClr val="accent2"/>
                </a:solidFill>
              </a:rPr>
              <a:t> </a:t>
            </a:r>
            <a:r>
              <a:rPr lang="ko-KR" altLang="en-US" sz="1600" b="1">
                <a:solidFill>
                  <a:schemeClr val="accent2"/>
                </a:solidFill>
              </a:rPr>
              <a:t>검정통계량 </a:t>
            </a:r>
            <a:r>
              <a:rPr lang="en-US" altLang="ko-KR" sz="1600" b="1">
                <a:solidFill>
                  <a:schemeClr val="accent2"/>
                </a:solidFill>
              </a:rPr>
              <a:t>T</a:t>
            </a:r>
            <a:r>
              <a:rPr lang="ko-KR" altLang="en-US" sz="1600" b="1">
                <a:solidFill>
                  <a:schemeClr val="accent2"/>
                </a:solidFill>
              </a:rPr>
              <a:t>는 자유도 </a:t>
            </a:r>
            <a:r>
              <a:rPr lang="en-US" altLang="ko-KR" sz="1600" b="1">
                <a:solidFill>
                  <a:schemeClr val="accent2"/>
                </a:solidFill>
              </a:rPr>
              <a:t>(n-1)</a:t>
            </a:r>
            <a:r>
              <a:rPr lang="ko-KR" altLang="en-US" sz="1600" b="1">
                <a:solidFill>
                  <a:schemeClr val="accent2"/>
                </a:solidFill>
              </a:rPr>
              <a:t>인 </a:t>
            </a:r>
            <a:r>
              <a:rPr lang="en-US" altLang="ko-KR" sz="1600" b="1">
                <a:solidFill>
                  <a:schemeClr val="accent2"/>
                </a:solidFill>
              </a:rPr>
              <a:t>t-</a:t>
            </a:r>
            <a:r>
              <a:rPr lang="ko-KR" altLang="en-US" sz="1600" b="1">
                <a:solidFill>
                  <a:schemeClr val="accent2"/>
                </a:solidFill>
              </a:rPr>
              <a:t>확률분포를 따른다</a:t>
            </a:r>
            <a:r>
              <a:rPr lang="en-US" altLang="ko-KR" sz="1600" b="1">
                <a:solidFill>
                  <a:schemeClr val="accent2"/>
                </a:solidFill>
              </a:rPr>
              <a:t>.</a:t>
            </a:r>
          </a:p>
        </p:txBody>
      </p:sp>
      <p:graphicFrame>
        <p:nvGraphicFramePr>
          <p:cNvPr id="27655" name="Object 3"/>
          <p:cNvGraphicFramePr>
            <a:graphicFrameLocks noChangeAspect="1"/>
          </p:cNvGraphicFramePr>
          <p:nvPr/>
        </p:nvGraphicFramePr>
        <p:xfrm>
          <a:off x="1403350" y="4724400"/>
          <a:ext cx="3079750" cy="81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1" name="Equation" r:id="rId6" imgW="1765300" imgH="469900" progId="Equation.3">
                  <p:embed/>
                </p:oleObj>
              </mc:Choice>
              <mc:Fallback>
                <p:oleObj name="Equation" r:id="rId6" imgW="1765300" imgH="4699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4724400"/>
                        <a:ext cx="3079750" cy="819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7656" name="Group 10"/>
          <p:cNvGrpSpPr>
            <a:grpSpLocks noChangeAspect="1"/>
          </p:cNvGrpSpPr>
          <p:nvPr/>
        </p:nvGrpSpPr>
        <p:grpSpPr bwMode="auto">
          <a:xfrm>
            <a:off x="1258888" y="1844675"/>
            <a:ext cx="6985000" cy="2112963"/>
            <a:chOff x="793" y="1162"/>
            <a:chExt cx="4400" cy="1331"/>
          </a:xfrm>
        </p:grpSpPr>
        <p:sp>
          <p:nvSpPr>
            <p:cNvPr id="27657" name="AutoShape 9"/>
            <p:cNvSpPr>
              <a:spLocks noChangeAspect="1" noChangeArrowheads="1" noTextEdit="1"/>
            </p:cNvSpPr>
            <p:nvPr/>
          </p:nvSpPr>
          <p:spPr bwMode="auto">
            <a:xfrm>
              <a:off x="793" y="1162"/>
              <a:ext cx="4400" cy="1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658" name="Rectangle 11"/>
            <p:cNvSpPr>
              <a:spLocks noChangeArrowheads="1"/>
            </p:cNvSpPr>
            <p:nvPr/>
          </p:nvSpPr>
          <p:spPr bwMode="auto">
            <a:xfrm>
              <a:off x="3808" y="2283"/>
              <a:ext cx="10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>
                  <a:solidFill>
                    <a:srgbClr val="000000"/>
                  </a:solidFill>
                  <a:latin typeface="Times New Roman" pitchFamily="18" charset="0"/>
                </a:rPr>
                <a:t>.</a:t>
              </a:r>
              <a:endParaRPr lang="en-US" altLang="ko-KR"/>
            </a:p>
          </p:txBody>
        </p:sp>
        <p:sp>
          <p:nvSpPr>
            <p:cNvPr id="27659" name="Rectangle 12"/>
            <p:cNvSpPr>
              <a:spLocks noChangeArrowheads="1"/>
            </p:cNvSpPr>
            <p:nvPr/>
          </p:nvSpPr>
          <p:spPr bwMode="auto">
            <a:xfrm>
              <a:off x="3372" y="2288"/>
              <a:ext cx="400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1900">
                  <a:solidFill>
                    <a:srgbClr val="000000"/>
                  </a:solidFill>
                  <a:latin typeface="Times New Roman" pitchFamily="18" charset="0"/>
                </a:rPr>
                <a:t>설정</a:t>
              </a:r>
              <a:endParaRPr lang="ko-KR" altLang="en-US"/>
            </a:p>
          </p:txBody>
        </p:sp>
        <p:sp>
          <p:nvSpPr>
            <p:cNvPr id="27660" name="Rectangle 13"/>
            <p:cNvSpPr>
              <a:spLocks noChangeArrowheads="1"/>
            </p:cNvSpPr>
            <p:nvPr/>
          </p:nvSpPr>
          <p:spPr bwMode="auto">
            <a:xfrm>
              <a:off x="3304" y="2283"/>
              <a:ext cx="14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>
                  <a:solidFill>
                    <a:srgbClr val="000000"/>
                  </a:solidFill>
                  <a:latin typeface="Times New Roman" pitchFamily="18" charset="0"/>
                </a:rPr>
                <a:t>  </a:t>
              </a:r>
              <a:endParaRPr lang="en-US" altLang="ko-KR"/>
            </a:p>
          </p:txBody>
        </p:sp>
        <p:sp>
          <p:nvSpPr>
            <p:cNvPr id="27661" name="Rectangle 14"/>
            <p:cNvSpPr>
              <a:spLocks noChangeArrowheads="1"/>
            </p:cNvSpPr>
            <p:nvPr/>
          </p:nvSpPr>
          <p:spPr bwMode="auto">
            <a:xfrm>
              <a:off x="2867" y="2288"/>
              <a:ext cx="400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1900">
                  <a:solidFill>
                    <a:srgbClr val="000000"/>
                  </a:solidFill>
                  <a:latin typeface="Times New Roman" pitchFamily="18" charset="0"/>
                </a:rPr>
                <a:t>가설</a:t>
              </a:r>
              <a:endParaRPr lang="ko-KR" altLang="en-US"/>
            </a:p>
          </p:txBody>
        </p:sp>
        <p:sp>
          <p:nvSpPr>
            <p:cNvPr id="27662" name="Rectangle 15"/>
            <p:cNvSpPr>
              <a:spLocks noChangeArrowheads="1"/>
            </p:cNvSpPr>
            <p:nvPr/>
          </p:nvSpPr>
          <p:spPr bwMode="auto">
            <a:xfrm>
              <a:off x="2496" y="2283"/>
              <a:ext cx="14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>
                  <a:solidFill>
                    <a:srgbClr val="000000"/>
                  </a:solidFill>
                  <a:latin typeface="Times New Roman" pitchFamily="18" charset="0"/>
                </a:rPr>
                <a:t>  </a:t>
              </a:r>
              <a:endParaRPr lang="en-US" altLang="ko-KR"/>
            </a:p>
          </p:txBody>
        </p:sp>
        <p:sp>
          <p:nvSpPr>
            <p:cNvPr id="27663" name="Rectangle 16"/>
            <p:cNvSpPr>
              <a:spLocks noChangeArrowheads="1"/>
            </p:cNvSpPr>
            <p:nvPr/>
          </p:nvSpPr>
          <p:spPr bwMode="auto">
            <a:xfrm>
              <a:off x="2059" y="2288"/>
              <a:ext cx="561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1900">
                  <a:solidFill>
                    <a:srgbClr val="000000"/>
                  </a:solidFill>
                  <a:latin typeface="Times New Roman" pitchFamily="18" charset="0"/>
                </a:rPr>
                <a:t>하나의</a:t>
              </a:r>
              <a:endParaRPr lang="ko-KR" altLang="en-US"/>
            </a:p>
          </p:txBody>
        </p:sp>
        <p:sp>
          <p:nvSpPr>
            <p:cNvPr id="27664" name="Rectangle 17"/>
            <p:cNvSpPr>
              <a:spLocks noChangeArrowheads="1"/>
            </p:cNvSpPr>
            <p:nvPr/>
          </p:nvSpPr>
          <p:spPr bwMode="auto">
            <a:xfrm>
              <a:off x="1991" y="2283"/>
              <a:ext cx="14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>
                  <a:solidFill>
                    <a:srgbClr val="000000"/>
                  </a:solidFill>
                  <a:latin typeface="Times New Roman" pitchFamily="18" charset="0"/>
                </a:rPr>
                <a:t>  </a:t>
              </a:r>
              <a:endParaRPr lang="en-US" altLang="ko-KR"/>
            </a:p>
          </p:txBody>
        </p:sp>
        <p:sp>
          <p:nvSpPr>
            <p:cNvPr id="27665" name="Rectangle 18"/>
            <p:cNvSpPr>
              <a:spLocks noChangeArrowheads="1"/>
            </p:cNvSpPr>
            <p:nvPr/>
          </p:nvSpPr>
          <p:spPr bwMode="auto">
            <a:xfrm>
              <a:off x="1845" y="2288"/>
              <a:ext cx="240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1900">
                  <a:solidFill>
                    <a:srgbClr val="000000"/>
                  </a:solidFill>
                  <a:latin typeface="Times New Roman" pitchFamily="18" charset="0"/>
                </a:rPr>
                <a:t>중</a:t>
              </a:r>
              <a:endParaRPr lang="ko-KR" altLang="en-US"/>
            </a:p>
          </p:txBody>
        </p:sp>
        <p:sp>
          <p:nvSpPr>
            <p:cNvPr id="27666" name="Rectangle 19"/>
            <p:cNvSpPr>
              <a:spLocks noChangeArrowheads="1"/>
            </p:cNvSpPr>
            <p:nvPr/>
          </p:nvSpPr>
          <p:spPr bwMode="auto">
            <a:xfrm>
              <a:off x="1777" y="2283"/>
              <a:ext cx="14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>
                  <a:solidFill>
                    <a:srgbClr val="000000"/>
                  </a:solidFill>
                  <a:latin typeface="Times New Roman" pitchFamily="18" charset="0"/>
                </a:rPr>
                <a:t>  </a:t>
              </a:r>
              <a:endParaRPr lang="en-US" altLang="ko-KR"/>
            </a:p>
          </p:txBody>
        </p:sp>
        <p:sp>
          <p:nvSpPr>
            <p:cNvPr id="27667" name="Rectangle 20"/>
            <p:cNvSpPr>
              <a:spLocks noChangeArrowheads="1"/>
            </p:cNvSpPr>
            <p:nvPr/>
          </p:nvSpPr>
          <p:spPr bwMode="auto">
            <a:xfrm>
              <a:off x="1654" y="2283"/>
              <a:ext cx="19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>
                  <a:solidFill>
                    <a:srgbClr val="000000"/>
                  </a:solidFill>
                  <a:latin typeface="Times New Roman" pitchFamily="18" charset="0"/>
                </a:rPr>
                <a:t>3)</a:t>
              </a:r>
              <a:endParaRPr lang="en-US" altLang="ko-KR"/>
            </a:p>
          </p:txBody>
        </p:sp>
        <p:sp>
          <p:nvSpPr>
            <p:cNvPr id="27668" name="Rectangle 21"/>
            <p:cNvSpPr>
              <a:spLocks noChangeArrowheads="1"/>
            </p:cNvSpPr>
            <p:nvPr/>
          </p:nvSpPr>
          <p:spPr bwMode="auto">
            <a:xfrm>
              <a:off x="1472" y="2283"/>
              <a:ext cx="10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>
                  <a:solidFill>
                    <a:srgbClr val="000000"/>
                  </a:solidFill>
                  <a:latin typeface="Times New Roman" pitchFamily="18" charset="0"/>
                </a:rPr>
                <a:t> </a:t>
              </a:r>
              <a:endParaRPr lang="en-US" altLang="ko-KR"/>
            </a:p>
          </p:txBody>
        </p:sp>
        <p:sp>
          <p:nvSpPr>
            <p:cNvPr id="27669" name="Rectangle 22"/>
            <p:cNvSpPr>
              <a:spLocks noChangeArrowheads="1"/>
            </p:cNvSpPr>
            <p:nvPr/>
          </p:nvSpPr>
          <p:spPr bwMode="auto">
            <a:xfrm>
              <a:off x="1348" y="2283"/>
              <a:ext cx="19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>
                  <a:solidFill>
                    <a:srgbClr val="000000"/>
                  </a:solidFill>
                  <a:latin typeface="Times New Roman" pitchFamily="18" charset="0"/>
                </a:rPr>
                <a:t>1)</a:t>
              </a:r>
              <a:endParaRPr lang="en-US" altLang="ko-KR"/>
            </a:p>
          </p:txBody>
        </p:sp>
        <p:sp>
          <p:nvSpPr>
            <p:cNvPr id="27670" name="Rectangle 23"/>
            <p:cNvSpPr>
              <a:spLocks noChangeArrowheads="1"/>
            </p:cNvSpPr>
            <p:nvPr/>
          </p:nvSpPr>
          <p:spPr bwMode="auto">
            <a:xfrm>
              <a:off x="1290" y="2283"/>
              <a:ext cx="14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>
                  <a:solidFill>
                    <a:srgbClr val="000000"/>
                  </a:solidFill>
                  <a:latin typeface="Times New Roman" pitchFamily="18" charset="0"/>
                </a:rPr>
                <a:t>  </a:t>
              </a:r>
              <a:endParaRPr lang="en-US" altLang="ko-KR"/>
            </a:p>
          </p:txBody>
        </p:sp>
        <p:sp>
          <p:nvSpPr>
            <p:cNvPr id="27671" name="Rectangle 24"/>
            <p:cNvSpPr>
              <a:spLocks noChangeArrowheads="1"/>
            </p:cNvSpPr>
            <p:nvPr/>
          </p:nvSpPr>
          <p:spPr bwMode="auto">
            <a:xfrm>
              <a:off x="877" y="2283"/>
              <a:ext cx="345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>
                  <a:solidFill>
                    <a:srgbClr val="000000"/>
                  </a:solidFill>
                  <a:latin typeface="Times New Roman" pitchFamily="18" charset="0"/>
                </a:rPr>
                <a:t>       </a:t>
              </a:r>
              <a:endParaRPr lang="en-US" altLang="ko-KR"/>
            </a:p>
          </p:txBody>
        </p:sp>
        <p:sp>
          <p:nvSpPr>
            <p:cNvPr id="27672" name="Rectangle 25"/>
            <p:cNvSpPr>
              <a:spLocks noChangeArrowheads="1"/>
            </p:cNvSpPr>
            <p:nvPr/>
          </p:nvSpPr>
          <p:spPr bwMode="auto">
            <a:xfrm>
              <a:off x="4958" y="2009"/>
              <a:ext cx="11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>
                  <a:solidFill>
                    <a:srgbClr val="000000"/>
                  </a:solidFill>
                  <a:latin typeface="Times New Roman" pitchFamily="18" charset="0"/>
                </a:rPr>
                <a:t>)</a:t>
              </a:r>
              <a:endParaRPr lang="en-US" altLang="ko-KR"/>
            </a:p>
          </p:txBody>
        </p:sp>
        <p:sp>
          <p:nvSpPr>
            <p:cNvPr id="27673" name="Rectangle 26"/>
            <p:cNvSpPr>
              <a:spLocks noChangeArrowheads="1"/>
            </p:cNvSpPr>
            <p:nvPr/>
          </p:nvSpPr>
          <p:spPr bwMode="auto">
            <a:xfrm>
              <a:off x="4926" y="2009"/>
              <a:ext cx="10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>
                  <a:solidFill>
                    <a:srgbClr val="000000"/>
                  </a:solidFill>
                  <a:latin typeface="Times New Roman" pitchFamily="18" charset="0"/>
                </a:rPr>
                <a:t>.</a:t>
              </a:r>
              <a:endParaRPr lang="en-US" altLang="ko-KR"/>
            </a:p>
          </p:txBody>
        </p:sp>
        <p:sp>
          <p:nvSpPr>
            <p:cNvPr id="27674" name="Rectangle 27"/>
            <p:cNvSpPr>
              <a:spLocks noChangeArrowheads="1"/>
            </p:cNvSpPr>
            <p:nvPr/>
          </p:nvSpPr>
          <p:spPr bwMode="auto">
            <a:xfrm>
              <a:off x="4776" y="2014"/>
              <a:ext cx="240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1900">
                  <a:solidFill>
                    <a:srgbClr val="000000"/>
                  </a:solidFill>
                  <a:latin typeface="Times New Roman" pitchFamily="18" charset="0"/>
                </a:rPr>
                <a:t>다</a:t>
              </a:r>
              <a:endParaRPr lang="ko-KR" altLang="en-US"/>
            </a:p>
          </p:txBody>
        </p:sp>
        <p:sp>
          <p:nvSpPr>
            <p:cNvPr id="27675" name="Rectangle 28"/>
            <p:cNvSpPr>
              <a:spLocks noChangeArrowheads="1"/>
            </p:cNvSpPr>
            <p:nvPr/>
          </p:nvSpPr>
          <p:spPr bwMode="auto">
            <a:xfrm>
              <a:off x="4443" y="2009"/>
              <a:ext cx="10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>
                  <a:solidFill>
                    <a:srgbClr val="000000"/>
                  </a:solidFill>
                  <a:latin typeface="Times New Roman" pitchFamily="18" charset="0"/>
                </a:rPr>
                <a:t> </a:t>
              </a:r>
              <a:endParaRPr lang="en-US" altLang="ko-KR"/>
            </a:p>
          </p:txBody>
        </p:sp>
        <p:sp>
          <p:nvSpPr>
            <p:cNvPr id="27676" name="Rectangle 29"/>
            <p:cNvSpPr>
              <a:spLocks noChangeArrowheads="1"/>
            </p:cNvSpPr>
            <p:nvPr/>
          </p:nvSpPr>
          <p:spPr bwMode="auto">
            <a:xfrm>
              <a:off x="4269" y="2009"/>
              <a:ext cx="10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>
                  <a:solidFill>
                    <a:srgbClr val="000000"/>
                  </a:solidFill>
                  <a:latin typeface="Times New Roman" pitchFamily="18" charset="0"/>
                </a:rPr>
                <a:t> </a:t>
              </a:r>
              <a:endParaRPr lang="en-US" altLang="ko-KR"/>
            </a:p>
          </p:txBody>
        </p:sp>
        <p:sp>
          <p:nvSpPr>
            <p:cNvPr id="27677" name="Rectangle 30"/>
            <p:cNvSpPr>
              <a:spLocks noChangeArrowheads="1"/>
            </p:cNvSpPr>
            <p:nvPr/>
          </p:nvSpPr>
          <p:spPr bwMode="auto">
            <a:xfrm>
              <a:off x="3934" y="2014"/>
              <a:ext cx="400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1900">
                  <a:solidFill>
                    <a:srgbClr val="000000"/>
                  </a:solidFill>
                  <a:latin typeface="Times New Roman" pitchFamily="18" charset="0"/>
                </a:rPr>
                <a:t>보다</a:t>
              </a:r>
              <a:endParaRPr lang="ko-KR" altLang="en-US"/>
            </a:p>
          </p:txBody>
        </p:sp>
        <p:sp>
          <p:nvSpPr>
            <p:cNvPr id="27678" name="Rectangle 31"/>
            <p:cNvSpPr>
              <a:spLocks noChangeArrowheads="1"/>
            </p:cNvSpPr>
            <p:nvPr/>
          </p:nvSpPr>
          <p:spPr bwMode="auto">
            <a:xfrm>
              <a:off x="3752" y="2009"/>
              <a:ext cx="10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>
                  <a:solidFill>
                    <a:srgbClr val="000000"/>
                  </a:solidFill>
                  <a:latin typeface="Times New Roman" pitchFamily="18" charset="0"/>
                </a:rPr>
                <a:t> </a:t>
              </a:r>
              <a:endParaRPr lang="en-US" altLang="ko-KR"/>
            </a:p>
          </p:txBody>
        </p:sp>
        <p:sp>
          <p:nvSpPr>
            <p:cNvPr id="27679" name="Rectangle 32"/>
            <p:cNvSpPr>
              <a:spLocks noChangeArrowheads="1"/>
            </p:cNvSpPr>
            <p:nvPr/>
          </p:nvSpPr>
          <p:spPr bwMode="auto">
            <a:xfrm>
              <a:off x="3293" y="2014"/>
              <a:ext cx="561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1900">
                  <a:solidFill>
                    <a:srgbClr val="000000"/>
                  </a:solidFill>
                  <a:latin typeface="Times New Roman" pitchFamily="18" charset="0"/>
                </a:rPr>
                <a:t>평균은</a:t>
              </a:r>
              <a:endParaRPr lang="ko-KR" altLang="en-US"/>
            </a:p>
          </p:txBody>
        </p:sp>
        <p:sp>
          <p:nvSpPr>
            <p:cNvPr id="27680" name="Rectangle 33"/>
            <p:cNvSpPr>
              <a:spLocks noChangeArrowheads="1"/>
            </p:cNvSpPr>
            <p:nvPr/>
          </p:nvSpPr>
          <p:spPr bwMode="auto">
            <a:xfrm>
              <a:off x="3209" y="2009"/>
              <a:ext cx="10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>
                  <a:solidFill>
                    <a:srgbClr val="000000"/>
                  </a:solidFill>
                  <a:latin typeface="Times New Roman" pitchFamily="18" charset="0"/>
                </a:rPr>
                <a:t> </a:t>
              </a:r>
              <a:endParaRPr lang="en-US" altLang="ko-KR"/>
            </a:p>
          </p:txBody>
        </p:sp>
        <p:sp>
          <p:nvSpPr>
            <p:cNvPr id="27681" name="Rectangle 34"/>
            <p:cNvSpPr>
              <a:spLocks noChangeArrowheads="1"/>
            </p:cNvSpPr>
            <p:nvPr/>
          </p:nvSpPr>
          <p:spPr bwMode="auto">
            <a:xfrm>
              <a:off x="2616" y="2014"/>
              <a:ext cx="721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1900">
                  <a:solidFill>
                    <a:srgbClr val="000000"/>
                  </a:solidFill>
                  <a:latin typeface="Times New Roman" pitchFamily="18" charset="0"/>
                </a:rPr>
                <a:t>모집단의</a:t>
              </a:r>
              <a:endParaRPr lang="ko-KR" altLang="en-US"/>
            </a:p>
          </p:txBody>
        </p:sp>
        <p:sp>
          <p:nvSpPr>
            <p:cNvPr id="27682" name="Rectangle 35"/>
            <p:cNvSpPr>
              <a:spLocks noChangeArrowheads="1"/>
            </p:cNvSpPr>
            <p:nvPr/>
          </p:nvSpPr>
          <p:spPr bwMode="auto">
            <a:xfrm>
              <a:off x="2568" y="2009"/>
              <a:ext cx="11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>
                  <a:solidFill>
                    <a:srgbClr val="000000"/>
                  </a:solidFill>
                  <a:latin typeface="Times New Roman" pitchFamily="18" charset="0"/>
                </a:rPr>
                <a:t>(</a:t>
              </a:r>
              <a:endParaRPr lang="en-US" altLang="ko-KR"/>
            </a:p>
          </p:txBody>
        </p:sp>
        <p:sp>
          <p:nvSpPr>
            <p:cNvPr id="27683" name="Rectangle 36"/>
            <p:cNvSpPr>
              <a:spLocks noChangeArrowheads="1"/>
            </p:cNvSpPr>
            <p:nvPr/>
          </p:nvSpPr>
          <p:spPr bwMode="auto">
            <a:xfrm>
              <a:off x="1898" y="2009"/>
              <a:ext cx="109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>
                  <a:solidFill>
                    <a:srgbClr val="000000"/>
                  </a:solidFill>
                  <a:latin typeface="Times New Roman" pitchFamily="18" charset="0"/>
                </a:rPr>
                <a:t>:</a:t>
              </a:r>
              <a:endParaRPr lang="en-US" altLang="ko-KR"/>
            </a:p>
          </p:txBody>
        </p:sp>
        <p:sp>
          <p:nvSpPr>
            <p:cNvPr id="27684" name="Rectangle 37"/>
            <p:cNvSpPr>
              <a:spLocks noChangeArrowheads="1"/>
            </p:cNvSpPr>
            <p:nvPr/>
          </p:nvSpPr>
          <p:spPr bwMode="auto">
            <a:xfrm>
              <a:off x="1554" y="2009"/>
              <a:ext cx="11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>
                  <a:solidFill>
                    <a:srgbClr val="000000"/>
                  </a:solidFill>
                  <a:latin typeface="Times New Roman" pitchFamily="18" charset="0"/>
                </a:rPr>
                <a:t>)</a:t>
              </a:r>
              <a:endParaRPr lang="en-US" altLang="ko-KR"/>
            </a:p>
          </p:txBody>
        </p:sp>
        <p:sp>
          <p:nvSpPr>
            <p:cNvPr id="27685" name="Rectangle 38"/>
            <p:cNvSpPr>
              <a:spLocks noChangeArrowheads="1"/>
            </p:cNvSpPr>
            <p:nvPr/>
          </p:nvSpPr>
          <p:spPr bwMode="auto">
            <a:xfrm>
              <a:off x="1481" y="2009"/>
              <a:ext cx="14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>
                  <a:solidFill>
                    <a:srgbClr val="000000"/>
                  </a:solidFill>
                  <a:latin typeface="Times New Roman" pitchFamily="18" charset="0"/>
                </a:rPr>
                <a:t>3</a:t>
              </a:r>
              <a:endParaRPr lang="en-US" altLang="ko-KR"/>
            </a:p>
          </p:txBody>
        </p:sp>
        <p:sp>
          <p:nvSpPr>
            <p:cNvPr id="27686" name="Rectangle 39"/>
            <p:cNvSpPr>
              <a:spLocks noChangeArrowheads="1"/>
            </p:cNvSpPr>
            <p:nvPr/>
          </p:nvSpPr>
          <p:spPr bwMode="auto">
            <a:xfrm>
              <a:off x="5118" y="1735"/>
              <a:ext cx="11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>
                  <a:solidFill>
                    <a:srgbClr val="000000"/>
                  </a:solidFill>
                  <a:latin typeface="Times New Roman" pitchFamily="18" charset="0"/>
                </a:rPr>
                <a:t>)</a:t>
              </a:r>
              <a:endParaRPr lang="en-US" altLang="ko-KR"/>
            </a:p>
          </p:txBody>
        </p:sp>
        <p:sp>
          <p:nvSpPr>
            <p:cNvPr id="27687" name="Rectangle 40"/>
            <p:cNvSpPr>
              <a:spLocks noChangeArrowheads="1"/>
            </p:cNvSpPr>
            <p:nvPr/>
          </p:nvSpPr>
          <p:spPr bwMode="auto">
            <a:xfrm>
              <a:off x="5086" y="1735"/>
              <a:ext cx="10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>
                  <a:solidFill>
                    <a:srgbClr val="000000"/>
                  </a:solidFill>
                  <a:latin typeface="Times New Roman" pitchFamily="18" charset="0"/>
                </a:rPr>
                <a:t>.</a:t>
              </a:r>
              <a:endParaRPr lang="en-US" altLang="ko-KR"/>
            </a:p>
          </p:txBody>
        </p:sp>
        <p:sp>
          <p:nvSpPr>
            <p:cNvPr id="27688" name="Rectangle 41"/>
            <p:cNvSpPr>
              <a:spLocks noChangeArrowheads="1"/>
            </p:cNvSpPr>
            <p:nvPr/>
          </p:nvSpPr>
          <p:spPr bwMode="auto">
            <a:xfrm>
              <a:off x="4936" y="1740"/>
              <a:ext cx="240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1900">
                  <a:solidFill>
                    <a:srgbClr val="000000"/>
                  </a:solidFill>
                  <a:latin typeface="Times New Roman" pitchFamily="18" charset="0"/>
                </a:rPr>
                <a:t>다</a:t>
              </a:r>
              <a:endParaRPr lang="ko-KR" altLang="en-US"/>
            </a:p>
          </p:txBody>
        </p:sp>
        <p:sp>
          <p:nvSpPr>
            <p:cNvPr id="27689" name="Rectangle 42"/>
            <p:cNvSpPr>
              <a:spLocks noChangeArrowheads="1"/>
            </p:cNvSpPr>
            <p:nvPr/>
          </p:nvSpPr>
          <p:spPr bwMode="auto">
            <a:xfrm>
              <a:off x="4603" y="1735"/>
              <a:ext cx="10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>
                  <a:solidFill>
                    <a:srgbClr val="000000"/>
                  </a:solidFill>
                  <a:latin typeface="Times New Roman" pitchFamily="18" charset="0"/>
                </a:rPr>
                <a:t> </a:t>
              </a:r>
              <a:endParaRPr lang="en-US" altLang="ko-KR"/>
            </a:p>
          </p:txBody>
        </p:sp>
        <p:sp>
          <p:nvSpPr>
            <p:cNvPr id="27690" name="Rectangle 43"/>
            <p:cNvSpPr>
              <a:spLocks noChangeArrowheads="1"/>
            </p:cNvSpPr>
            <p:nvPr/>
          </p:nvSpPr>
          <p:spPr bwMode="auto">
            <a:xfrm>
              <a:off x="4300" y="1740"/>
              <a:ext cx="240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1900">
                  <a:solidFill>
                    <a:srgbClr val="000000"/>
                  </a:solidFill>
                  <a:latin typeface="Times New Roman" pitchFamily="18" charset="0"/>
                </a:rPr>
                <a:t>작</a:t>
              </a:r>
              <a:endParaRPr lang="ko-KR" altLang="en-US"/>
            </a:p>
          </p:txBody>
        </p:sp>
        <p:sp>
          <p:nvSpPr>
            <p:cNvPr id="27691" name="Rectangle 44"/>
            <p:cNvSpPr>
              <a:spLocks noChangeArrowheads="1"/>
            </p:cNvSpPr>
            <p:nvPr/>
          </p:nvSpPr>
          <p:spPr bwMode="auto">
            <a:xfrm>
              <a:off x="4276" y="1735"/>
              <a:ext cx="10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>
                  <a:solidFill>
                    <a:srgbClr val="000000"/>
                  </a:solidFill>
                  <a:latin typeface="Times New Roman" pitchFamily="18" charset="0"/>
                </a:rPr>
                <a:t> </a:t>
              </a:r>
              <a:endParaRPr lang="en-US" altLang="ko-KR"/>
            </a:p>
          </p:txBody>
        </p:sp>
        <p:sp>
          <p:nvSpPr>
            <p:cNvPr id="27692" name="Rectangle 45"/>
            <p:cNvSpPr>
              <a:spLocks noChangeArrowheads="1"/>
            </p:cNvSpPr>
            <p:nvPr/>
          </p:nvSpPr>
          <p:spPr bwMode="auto">
            <a:xfrm>
              <a:off x="3941" y="1740"/>
              <a:ext cx="400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1900">
                  <a:solidFill>
                    <a:srgbClr val="000000"/>
                  </a:solidFill>
                  <a:latin typeface="Times New Roman" pitchFamily="18" charset="0"/>
                </a:rPr>
                <a:t>보다</a:t>
              </a:r>
              <a:endParaRPr lang="ko-KR" altLang="en-US"/>
            </a:p>
          </p:txBody>
        </p:sp>
        <p:sp>
          <p:nvSpPr>
            <p:cNvPr id="27693" name="Rectangle 46"/>
            <p:cNvSpPr>
              <a:spLocks noChangeArrowheads="1"/>
            </p:cNvSpPr>
            <p:nvPr/>
          </p:nvSpPr>
          <p:spPr bwMode="auto">
            <a:xfrm>
              <a:off x="3759" y="1735"/>
              <a:ext cx="10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>
                  <a:solidFill>
                    <a:srgbClr val="000000"/>
                  </a:solidFill>
                  <a:latin typeface="Times New Roman" pitchFamily="18" charset="0"/>
                </a:rPr>
                <a:t> </a:t>
              </a:r>
              <a:endParaRPr lang="en-US" altLang="ko-KR"/>
            </a:p>
          </p:txBody>
        </p:sp>
        <p:sp>
          <p:nvSpPr>
            <p:cNvPr id="27694" name="Rectangle 47"/>
            <p:cNvSpPr>
              <a:spLocks noChangeArrowheads="1"/>
            </p:cNvSpPr>
            <p:nvPr/>
          </p:nvSpPr>
          <p:spPr bwMode="auto">
            <a:xfrm>
              <a:off x="3301" y="1740"/>
              <a:ext cx="561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1900">
                  <a:solidFill>
                    <a:srgbClr val="000000"/>
                  </a:solidFill>
                  <a:latin typeface="Times New Roman" pitchFamily="18" charset="0"/>
                </a:rPr>
                <a:t>평균은</a:t>
              </a:r>
              <a:endParaRPr lang="ko-KR" altLang="en-US"/>
            </a:p>
          </p:txBody>
        </p:sp>
        <p:sp>
          <p:nvSpPr>
            <p:cNvPr id="27695" name="Rectangle 48"/>
            <p:cNvSpPr>
              <a:spLocks noChangeArrowheads="1"/>
            </p:cNvSpPr>
            <p:nvPr/>
          </p:nvSpPr>
          <p:spPr bwMode="auto">
            <a:xfrm>
              <a:off x="3216" y="1735"/>
              <a:ext cx="10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>
                  <a:solidFill>
                    <a:srgbClr val="000000"/>
                  </a:solidFill>
                  <a:latin typeface="Times New Roman" pitchFamily="18" charset="0"/>
                </a:rPr>
                <a:t> </a:t>
              </a:r>
              <a:endParaRPr lang="en-US" altLang="ko-KR"/>
            </a:p>
          </p:txBody>
        </p:sp>
        <p:sp>
          <p:nvSpPr>
            <p:cNvPr id="27696" name="Rectangle 49"/>
            <p:cNvSpPr>
              <a:spLocks noChangeArrowheads="1"/>
            </p:cNvSpPr>
            <p:nvPr/>
          </p:nvSpPr>
          <p:spPr bwMode="auto">
            <a:xfrm>
              <a:off x="2624" y="1740"/>
              <a:ext cx="721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1900">
                  <a:solidFill>
                    <a:srgbClr val="000000"/>
                  </a:solidFill>
                  <a:latin typeface="Times New Roman" pitchFamily="18" charset="0"/>
                </a:rPr>
                <a:t>모집단의</a:t>
              </a:r>
              <a:endParaRPr lang="ko-KR" altLang="en-US"/>
            </a:p>
          </p:txBody>
        </p:sp>
        <p:sp>
          <p:nvSpPr>
            <p:cNvPr id="27697" name="Rectangle 50"/>
            <p:cNvSpPr>
              <a:spLocks noChangeArrowheads="1"/>
            </p:cNvSpPr>
            <p:nvPr/>
          </p:nvSpPr>
          <p:spPr bwMode="auto">
            <a:xfrm>
              <a:off x="2575" y="1735"/>
              <a:ext cx="11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>
                  <a:solidFill>
                    <a:srgbClr val="000000"/>
                  </a:solidFill>
                  <a:latin typeface="Times New Roman" pitchFamily="18" charset="0"/>
                </a:rPr>
                <a:t>(</a:t>
              </a:r>
              <a:endParaRPr lang="en-US" altLang="ko-KR"/>
            </a:p>
          </p:txBody>
        </p:sp>
        <p:sp>
          <p:nvSpPr>
            <p:cNvPr id="27698" name="Rectangle 51"/>
            <p:cNvSpPr>
              <a:spLocks noChangeArrowheads="1"/>
            </p:cNvSpPr>
            <p:nvPr/>
          </p:nvSpPr>
          <p:spPr bwMode="auto">
            <a:xfrm>
              <a:off x="1908" y="1735"/>
              <a:ext cx="109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>
                  <a:solidFill>
                    <a:srgbClr val="000000"/>
                  </a:solidFill>
                  <a:latin typeface="Times New Roman" pitchFamily="18" charset="0"/>
                </a:rPr>
                <a:t>:</a:t>
              </a:r>
              <a:endParaRPr lang="en-US" altLang="ko-KR"/>
            </a:p>
          </p:txBody>
        </p:sp>
        <p:sp>
          <p:nvSpPr>
            <p:cNvPr id="27699" name="Rectangle 52"/>
            <p:cNvSpPr>
              <a:spLocks noChangeArrowheads="1"/>
            </p:cNvSpPr>
            <p:nvPr/>
          </p:nvSpPr>
          <p:spPr bwMode="auto">
            <a:xfrm>
              <a:off x="1564" y="1735"/>
              <a:ext cx="11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>
                  <a:solidFill>
                    <a:srgbClr val="000000"/>
                  </a:solidFill>
                  <a:latin typeface="Times New Roman" pitchFamily="18" charset="0"/>
                </a:rPr>
                <a:t>)</a:t>
              </a:r>
              <a:endParaRPr lang="en-US" altLang="ko-KR"/>
            </a:p>
          </p:txBody>
        </p:sp>
        <p:sp>
          <p:nvSpPr>
            <p:cNvPr id="27700" name="Rectangle 53"/>
            <p:cNvSpPr>
              <a:spLocks noChangeArrowheads="1"/>
            </p:cNvSpPr>
            <p:nvPr/>
          </p:nvSpPr>
          <p:spPr bwMode="auto">
            <a:xfrm>
              <a:off x="1486" y="1735"/>
              <a:ext cx="14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endParaRPr lang="en-US" altLang="ko-KR"/>
            </a:p>
          </p:txBody>
        </p:sp>
        <p:sp>
          <p:nvSpPr>
            <p:cNvPr id="27701" name="Rectangle 54"/>
            <p:cNvSpPr>
              <a:spLocks noChangeArrowheads="1"/>
            </p:cNvSpPr>
            <p:nvPr/>
          </p:nvSpPr>
          <p:spPr bwMode="auto">
            <a:xfrm>
              <a:off x="4984" y="1461"/>
              <a:ext cx="11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>
                  <a:solidFill>
                    <a:srgbClr val="000000"/>
                  </a:solidFill>
                  <a:latin typeface="Times New Roman" pitchFamily="18" charset="0"/>
                </a:rPr>
                <a:t>)</a:t>
              </a:r>
              <a:endParaRPr lang="en-US" altLang="ko-KR"/>
            </a:p>
          </p:txBody>
        </p:sp>
        <p:sp>
          <p:nvSpPr>
            <p:cNvPr id="27702" name="Rectangle 55"/>
            <p:cNvSpPr>
              <a:spLocks noChangeArrowheads="1"/>
            </p:cNvSpPr>
            <p:nvPr/>
          </p:nvSpPr>
          <p:spPr bwMode="auto">
            <a:xfrm>
              <a:off x="4953" y="1461"/>
              <a:ext cx="10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>
                  <a:solidFill>
                    <a:srgbClr val="000000"/>
                  </a:solidFill>
                  <a:latin typeface="Times New Roman" pitchFamily="18" charset="0"/>
                </a:rPr>
                <a:t>.</a:t>
              </a:r>
              <a:endParaRPr lang="en-US" altLang="ko-KR"/>
            </a:p>
          </p:txBody>
        </p:sp>
        <p:sp>
          <p:nvSpPr>
            <p:cNvPr id="27703" name="Rectangle 56"/>
            <p:cNvSpPr>
              <a:spLocks noChangeArrowheads="1"/>
            </p:cNvSpPr>
            <p:nvPr/>
          </p:nvSpPr>
          <p:spPr bwMode="auto">
            <a:xfrm>
              <a:off x="4802" y="1466"/>
              <a:ext cx="240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1900">
                  <a:solidFill>
                    <a:srgbClr val="000000"/>
                  </a:solidFill>
                  <a:latin typeface="Times New Roman" pitchFamily="18" charset="0"/>
                </a:rPr>
                <a:t>다</a:t>
              </a:r>
              <a:endParaRPr lang="ko-KR" altLang="en-US"/>
            </a:p>
          </p:txBody>
        </p:sp>
        <p:sp>
          <p:nvSpPr>
            <p:cNvPr id="27704" name="Rectangle 57"/>
            <p:cNvSpPr>
              <a:spLocks noChangeArrowheads="1"/>
            </p:cNvSpPr>
            <p:nvPr/>
          </p:nvSpPr>
          <p:spPr bwMode="auto">
            <a:xfrm>
              <a:off x="4470" y="1461"/>
              <a:ext cx="10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>
                  <a:solidFill>
                    <a:srgbClr val="000000"/>
                  </a:solidFill>
                  <a:latin typeface="Times New Roman" pitchFamily="18" charset="0"/>
                </a:rPr>
                <a:t> </a:t>
              </a:r>
              <a:endParaRPr lang="en-US" altLang="ko-KR"/>
            </a:p>
          </p:txBody>
        </p:sp>
        <p:sp>
          <p:nvSpPr>
            <p:cNvPr id="27705" name="Rectangle 58"/>
            <p:cNvSpPr>
              <a:spLocks noChangeArrowheads="1"/>
            </p:cNvSpPr>
            <p:nvPr/>
          </p:nvSpPr>
          <p:spPr bwMode="auto">
            <a:xfrm>
              <a:off x="4176" y="1466"/>
              <a:ext cx="240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1900">
                  <a:solidFill>
                    <a:srgbClr val="000000"/>
                  </a:solidFill>
                  <a:latin typeface="Times New Roman" pitchFamily="18" charset="0"/>
                </a:rPr>
                <a:t>아</a:t>
              </a:r>
              <a:endParaRPr lang="ko-KR" altLang="en-US"/>
            </a:p>
          </p:txBody>
        </p:sp>
        <p:sp>
          <p:nvSpPr>
            <p:cNvPr id="27706" name="Rectangle 59"/>
            <p:cNvSpPr>
              <a:spLocks noChangeArrowheads="1"/>
            </p:cNvSpPr>
            <p:nvPr/>
          </p:nvSpPr>
          <p:spPr bwMode="auto">
            <a:xfrm>
              <a:off x="4152" y="1461"/>
              <a:ext cx="10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>
                  <a:solidFill>
                    <a:srgbClr val="000000"/>
                  </a:solidFill>
                  <a:latin typeface="Times New Roman" pitchFamily="18" charset="0"/>
                </a:rPr>
                <a:t> </a:t>
              </a:r>
              <a:endParaRPr lang="en-US" altLang="ko-KR"/>
            </a:p>
          </p:txBody>
        </p:sp>
        <p:sp>
          <p:nvSpPr>
            <p:cNvPr id="27707" name="Rectangle 60"/>
            <p:cNvSpPr>
              <a:spLocks noChangeArrowheads="1"/>
            </p:cNvSpPr>
            <p:nvPr/>
          </p:nvSpPr>
          <p:spPr bwMode="auto">
            <a:xfrm>
              <a:off x="4002" y="1466"/>
              <a:ext cx="240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1900">
                  <a:solidFill>
                    <a:srgbClr val="000000"/>
                  </a:solidFill>
                  <a:latin typeface="Times New Roman" pitchFamily="18" charset="0"/>
                </a:rPr>
                <a:t>가</a:t>
              </a:r>
              <a:endParaRPr lang="ko-KR" altLang="en-US"/>
            </a:p>
          </p:txBody>
        </p:sp>
        <p:sp>
          <p:nvSpPr>
            <p:cNvPr id="27708" name="Rectangle 61"/>
            <p:cNvSpPr>
              <a:spLocks noChangeArrowheads="1"/>
            </p:cNvSpPr>
            <p:nvPr/>
          </p:nvSpPr>
          <p:spPr bwMode="auto">
            <a:xfrm>
              <a:off x="3825" y="1461"/>
              <a:ext cx="10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>
                  <a:solidFill>
                    <a:srgbClr val="000000"/>
                  </a:solidFill>
                  <a:latin typeface="Times New Roman" pitchFamily="18" charset="0"/>
                </a:rPr>
                <a:t> </a:t>
              </a:r>
              <a:endParaRPr lang="en-US" altLang="ko-KR"/>
            </a:p>
          </p:txBody>
        </p:sp>
        <p:sp>
          <p:nvSpPr>
            <p:cNvPr id="27709" name="Rectangle 62"/>
            <p:cNvSpPr>
              <a:spLocks noChangeArrowheads="1"/>
            </p:cNvSpPr>
            <p:nvPr/>
          </p:nvSpPr>
          <p:spPr bwMode="auto">
            <a:xfrm>
              <a:off x="3308" y="1466"/>
              <a:ext cx="561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1900">
                  <a:solidFill>
                    <a:srgbClr val="000000"/>
                  </a:solidFill>
                  <a:latin typeface="Times New Roman" pitchFamily="18" charset="0"/>
                </a:rPr>
                <a:t>평균은</a:t>
              </a:r>
              <a:endParaRPr lang="ko-KR" altLang="en-US"/>
            </a:p>
          </p:txBody>
        </p:sp>
        <p:sp>
          <p:nvSpPr>
            <p:cNvPr id="27710" name="Rectangle 63"/>
            <p:cNvSpPr>
              <a:spLocks noChangeArrowheads="1"/>
            </p:cNvSpPr>
            <p:nvPr/>
          </p:nvSpPr>
          <p:spPr bwMode="auto">
            <a:xfrm>
              <a:off x="3194" y="1461"/>
              <a:ext cx="10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>
                  <a:solidFill>
                    <a:srgbClr val="000000"/>
                  </a:solidFill>
                  <a:latin typeface="Times New Roman" pitchFamily="18" charset="0"/>
                </a:rPr>
                <a:t> </a:t>
              </a:r>
              <a:endParaRPr lang="en-US" altLang="ko-KR"/>
            </a:p>
          </p:txBody>
        </p:sp>
        <p:sp>
          <p:nvSpPr>
            <p:cNvPr id="27711" name="Rectangle 64"/>
            <p:cNvSpPr>
              <a:spLocks noChangeArrowheads="1"/>
            </p:cNvSpPr>
            <p:nvPr/>
          </p:nvSpPr>
          <p:spPr bwMode="auto">
            <a:xfrm>
              <a:off x="2602" y="1466"/>
              <a:ext cx="721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1900">
                  <a:solidFill>
                    <a:srgbClr val="000000"/>
                  </a:solidFill>
                  <a:latin typeface="Times New Roman" pitchFamily="18" charset="0"/>
                </a:rPr>
                <a:t>모집단의</a:t>
              </a:r>
              <a:endParaRPr lang="ko-KR" altLang="en-US"/>
            </a:p>
          </p:txBody>
        </p:sp>
        <p:sp>
          <p:nvSpPr>
            <p:cNvPr id="27712" name="Rectangle 65"/>
            <p:cNvSpPr>
              <a:spLocks noChangeArrowheads="1"/>
            </p:cNvSpPr>
            <p:nvPr/>
          </p:nvSpPr>
          <p:spPr bwMode="auto">
            <a:xfrm>
              <a:off x="2553" y="1461"/>
              <a:ext cx="11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>
                  <a:solidFill>
                    <a:srgbClr val="000000"/>
                  </a:solidFill>
                  <a:latin typeface="Times New Roman" pitchFamily="18" charset="0"/>
                </a:rPr>
                <a:t>(</a:t>
              </a:r>
              <a:endParaRPr lang="en-US" altLang="ko-KR"/>
            </a:p>
          </p:txBody>
        </p:sp>
        <p:sp>
          <p:nvSpPr>
            <p:cNvPr id="27713" name="Rectangle 66"/>
            <p:cNvSpPr>
              <a:spLocks noChangeArrowheads="1"/>
            </p:cNvSpPr>
            <p:nvPr/>
          </p:nvSpPr>
          <p:spPr bwMode="auto">
            <a:xfrm>
              <a:off x="1896" y="1461"/>
              <a:ext cx="109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>
                  <a:solidFill>
                    <a:srgbClr val="000000"/>
                  </a:solidFill>
                  <a:latin typeface="Times New Roman" pitchFamily="18" charset="0"/>
                </a:rPr>
                <a:t>:</a:t>
              </a:r>
              <a:endParaRPr lang="en-US" altLang="ko-KR"/>
            </a:p>
          </p:txBody>
        </p:sp>
        <p:sp>
          <p:nvSpPr>
            <p:cNvPr id="27714" name="Rectangle 67"/>
            <p:cNvSpPr>
              <a:spLocks noChangeArrowheads="1"/>
            </p:cNvSpPr>
            <p:nvPr/>
          </p:nvSpPr>
          <p:spPr bwMode="auto">
            <a:xfrm>
              <a:off x="1617" y="1461"/>
              <a:ext cx="10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>
                  <a:solidFill>
                    <a:srgbClr val="000000"/>
                  </a:solidFill>
                  <a:latin typeface="Times New Roman" pitchFamily="18" charset="0"/>
                </a:rPr>
                <a:t> </a:t>
              </a:r>
              <a:endParaRPr lang="en-US" altLang="ko-KR"/>
            </a:p>
          </p:txBody>
        </p:sp>
        <p:sp>
          <p:nvSpPr>
            <p:cNvPr id="27715" name="Rectangle 68"/>
            <p:cNvSpPr>
              <a:spLocks noChangeArrowheads="1"/>
            </p:cNvSpPr>
            <p:nvPr/>
          </p:nvSpPr>
          <p:spPr bwMode="auto">
            <a:xfrm>
              <a:off x="1493" y="1461"/>
              <a:ext cx="19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>
                  <a:solidFill>
                    <a:srgbClr val="000000"/>
                  </a:solidFill>
                  <a:latin typeface="Times New Roman" pitchFamily="18" charset="0"/>
                </a:rPr>
                <a:t>1)</a:t>
              </a:r>
              <a:endParaRPr lang="en-US" altLang="ko-KR"/>
            </a:p>
          </p:txBody>
        </p:sp>
        <p:sp>
          <p:nvSpPr>
            <p:cNvPr id="27716" name="Rectangle 69"/>
            <p:cNvSpPr>
              <a:spLocks noChangeArrowheads="1"/>
            </p:cNvSpPr>
            <p:nvPr/>
          </p:nvSpPr>
          <p:spPr bwMode="auto">
            <a:xfrm>
              <a:off x="1435" y="1461"/>
              <a:ext cx="14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>
                  <a:solidFill>
                    <a:srgbClr val="000000"/>
                  </a:solidFill>
                  <a:latin typeface="Times New Roman" pitchFamily="18" charset="0"/>
                </a:rPr>
                <a:t>  </a:t>
              </a:r>
              <a:endParaRPr lang="en-US" altLang="ko-KR"/>
            </a:p>
          </p:txBody>
        </p:sp>
        <p:sp>
          <p:nvSpPr>
            <p:cNvPr id="27717" name="Rectangle 70"/>
            <p:cNvSpPr>
              <a:spLocks noChangeArrowheads="1"/>
            </p:cNvSpPr>
            <p:nvPr/>
          </p:nvSpPr>
          <p:spPr bwMode="auto">
            <a:xfrm>
              <a:off x="802" y="1466"/>
              <a:ext cx="721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1900">
                  <a:solidFill>
                    <a:srgbClr val="000000"/>
                  </a:solidFill>
                  <a:latin typeface="Times New Roman" pitchFamily="18" charset="0"/>
                </a:rPr>
                <a:t>대립가설</a:t>
              </a:r>
              <a:endParaRPr lang="ko-KR" altLang="en-US"/>
            </a:p>
          </p:txBody>
        </p:sp>
        <p:sp>
          <p:nvSpPr>
            <p:cNvPr id="27718" name="Rectangle 71"/>
            <p:cNvSpPr>
              <a:spLocks noChangeArrowheads="1"/>
            </p:cNvSpPr>
            <p:nvPr/>
          </p:nvSpPr>
          <p:spPr bwMode="auto">
            <a:xfrm>
              <a:off x="4400" y="1186"/>
              <a:ext cx="11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>
                  <a:solidFill>
                    <a:srgbClr val="000000"/>
                  </a:solidFill>
                  <a:latin typeface="Times New Roman" pitchFamily="18" charset="0"/>
                </a:rPr>
                <a:t>)</a:t>
              </a:r>
              <a:endParaRPr lang="en-US" altLang="ko-KR"/>
            </a:p>
          </p:txBody>
        </p:sp>
        <p:sp>
          <p:nvSpPr>
            <p:cNvPr id="27719" name="Rectangle 72"/>
            <p:cNvSpPr>
              <a:spLocks noChangeArrowheads="1"/>
            </p:cNvSpPr>
            <p:nvPr/>
          </p:nvSpPr>
          <p:spPr bwMode="auto">
            <a:xfrm>
              <a:off x="4369" y="1186"/>
              <a:ext cx="10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>
                  <a:solidFill>
                    <a:srgbClr val="000000"/>
                  </a:solidFill>
                  <a:latin typeface="Times New Roman" pitchFamily="18" charset="0"/>
                </a:rPr>
                <a:t>.</a:t>
              </a:r>
              <a:endParaRPr lang="en-US" altLang="ko-KR"/>
            </a:p>
          </p:txBody>
        </p:sp>
        <p:sp>
          <p:nvSpPr>
            <p:cNvPr id="27720" name="Rectangle 73"/>
            <p:cNvSpPr>
              <a:spLocks noChangeArrowheads="1"/>
            </p:cNvSpPr>
            <p:nvPr/>
          </p:nvSpPr>
          <p:spPr bwMode="auto">
            <a:xfrm>
              <a:off x="4063" y="1191"/>
              <a:ext cx="400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1900">
                  <a:solidFill>
                    <a:srgbClr val="000000"/>
                  </a:solidFill>
                  <a:latin typeface="Times New Roman" pitchFamily="18" charset="0"/>
                </a:rPr>
                <a:t>이다</a:t>
              </a:r>
              <a:endParaRPr lang="ko-KR" altLang="en-US"/>
            </a:p>
          </p:txBody>
        </p:sp>
        <p:sp>
          <p:nvSpPr>
            <p:cNvPr id="27721" name="Rectangle 74"/>
            <p:cNvSpPr>
              <a:spLocks noChangeArrowheads="1"/>
            </p:cNvSpPr>
            <p:nvPr/>
          </p:nvSpPr>
          <p:spPr bwMode="auto">
            <a:xfrm>
              <a:off x="4044" y="1186"/>
              <a:ext cx="10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>
                  <a:solidFill>
                    <a:srgbClr val="000000"/>
                  </a:solidFill>
                  <a:latin typeface="Times New Roman" pitchFamily="18" charset="0"/>
                </a:rPr>
                <a:t> </a:t>
              </a:r>
              <a:endParaRPr lang="en-US" altLang="ko-KR"/>
            </a:p>
          </p:txBody>
        </p:sp>
        <p:sp>
          <p:nvSpPr>
            <p:cNvPr id="27722" name="Rectangle 75"/>
            <p:cNvSpPr>
              <a:spLocks noChangeArrowheads="1"/>
            </p:cNvSpPr>
            <p:nvPr/>
          </p:nvSpPr>
          <p:spPr bwMode="auto">
            <a:xfrm>
              <a:off x="3797" y="1186"/>
              <a:ext cx="10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>
                  <a:solidFill>
                    <a:srgbClr val="000000"/>
                  </a:solidFill>
                  <a:latin typeface="Times New Roman" pitchFamily="18" charset="0"/>
                </a:rPr>
                <a:t> </a:t>
              </a:r>
              <a:endParaRPr lang="en-US" altLang="ko-KR"/>
            </a:p>
          </p:txBody>
        </p:sp>
        <p:sp>
          <p:nvSpPr>
            <p:cNvPr id="27723" name="Rectangle 76"/>
            <p:cNvSpPr>
              <a:spLocks noChangeArrowheads="1"/>
            </p:cNvSpPr>
            <p:nvPr/>
          </p:nvSpPr>
          <p:spPr bwMode="auto">
            <a:xfrm>
              <a:off x="3338" y="1191"/>
              <a:ext cx="561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1900">
                  <a:solidFill>
                    <a:srgbClr val="000000"/>
                  </a:solidFill>
                  <a:latin typeface="Times New Roman" pitchFamily="18" charset="0"/>
                </a:rPr>
                <a:t>평균은</a:t>
              </a:r>
              <a:endParaRPr lang="ko-KR" altLang="en-US"/>
            </a:p>
          </p:txBody>
        </p:sp>
        <p:sp>
          <p:nvSpPr>
            <p:cNvPr id="27724" name="Rectangle 77"/>
            <p:cNvSpPr>
              <a:spLocks noChangeArrowheads="1"/>
            </p:cNvSpPr>
            <p:nvPr/>
          </p:nvSpPr>
          <p:spPr bwMode="auto">
            <a:xfrm>
              <a:off x="3224" y="1186"/>
              <a:ext cx="10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>
                  <a:solidFill>
                    <a:srgbClr val="000000"/>
                  </a:solidFill>
                  <a:latin typeface="Times New Roman" pitchFamily="18" charset="0"/>
                </a:rPr>
                <a:t> </a:t>
              </a:r>
              <a:endParaRPr lang="en-US" altLang="ko-KR"/>
            </a:p>
          </p:txBody>
        </p:sp>
        <p:sp>
          <p:nvSpPr>
            <p:cNvPr id="27725" name="Rectangle 78"/>
            <p:cNvSpPr>
              <a:spLocks noChangeArrowheads="1"/>
            </p:cNvSpPr>
            <p:nvPr/>
          </p:nvSpPr>
          <p:spPr bwMode="auto">
            <a:xfrm>
              <a:off x="2632" y="1191"/>
              <a:ext cx="721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1900">
                  <a:solidFill>
                    <a:srgbClr val="000000"/>
                  </a:solidFill>
                  <a:latin typeface="Times New Roman" pitchFamily="18" charset="0"/>
                </a:rPr>
                <a:t>모집단의</a:t>
              </a:r>
              <a:endParaRPr lang="ko-KR" altLang="en-US"/>
            </a:p>
          </p:txBody>
        </p:sp>
        <p:sp>
          <p:nvSpPr>
            <p:cNvPr id="27726" name="Rectangle 79"/>
            <p:cNvSpPr>
              <a:spLocks noChangeArrowheads="1"/>
            </p:cNvSpPr>
            <p:nvPr/>
          </p:nvSpPr>
          <p:spPr bwMode="auto">
            <a:xfrm>
              <a:off x="2583" y="1186"/>
              <a:ext cx="11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>
                  <a:solidFill>
                    <a:srgbClr val="000000"/>
                  </a:solidFill>
                  <a:latin typeface="Times New Roman" pitchFamily="18" charset="0"/>
                </a:rPr>
                <a:t>(</a:t>
              </a:r>
              <a:endParaRPr lang="en-US" altLang="ko-KR"/>
            </a:p>
          </p:txBody>
        </p:sp>
        <p:sp>
          <p:nvSpPr>
            <p:cNvPr id="27727" name="Rectangle 80"/>
            <p:cNvSpPr>
              <a:spLocks noChangeArrowheads="1"/>
            </p:cNvSpPr>
            <p:nvPr/>
          </p:nvSpPr>
          <p:spPr bwMode="auto">
            <a:xfrm>
              <a:off x="1928" y="1186"/>
              <a:ext cx="109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>
                  <a:solidFill>
                    <a:srgbClr val="000000"/>
                  </a:solidFill>
                  <a:latin typeface="Times New Roman" pitchFamily="18" charset="0"/>
                </a:rPr>
                <a:t>:</a:t>
              </a:r>
              <a:endParaRPr lang="en-US" altLang="ko-KR"/>
            </a:p>
          </p:txBody>
        </p:sp>
        <p:sp>
          <p:nvSpPr>
            <p:cNvPr id="27728" name="Rectangle 81"/>
            <p:cNvSpPr>
              <a:spLocks noChangeArrowheads="1"/>
            </p:cNvSpPr>
            <p:nvPr/>
          </p:nvSpPr>
          <p:spPr bwMode="auto">
            <a:xfrm>
              <a:off x="807" y="1191"/>
              <a:ext cx="721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1900">
                  <a:solidFill>
                    <a:srgbClr val="000000"/>
                  </a:solidFill>
                  <a:latin typeface="Times New Roman" pitchFamily="18" charset="0"/>
                </a:rPr>
                <a:t>귀무가설</a:t>
              </a:r>
              <a:endParaRPr lang="ko-KR" altLang="en-US"/>
            </a:p>
          </p:txBody>
        </p:sp>
        <p:sp>
          <p:nvSpPr>
            <p:cNvPr id="27729" name="Rectangle 82"/>
            <p:cNvSpPr>
              <a:spLocks noChangeArrowheads="1"/>
            </p:cNvSpPr>
            <p:nvPr/>
          </p:nvSpPr>
          <p:spPr bwMode="auto">
            <a:xfrm>
              <a:off x="3886" y="2105"/>
              <a:ext cx="87" cy="1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100">
                  <a:solidFill>
                    <a:srgbClr val="000000"/>
                  </a:solidFill>
                  <a:latin typeface="Times New Roman" pitchFamily="18" charset="0"/>
                </a:rPr>
                <a:t>0</a:t>
              </a:r>
              <a:endParaRPr lang="en-US" altLang="ko-KR"/>
            </a:p>
          </p:txBody>
        </p:sp>
        <p:sp>
          <p:nvSpPr>
            <p:cNvPr id="27730" name="Rectangle 83"/>
            <p:cNvSpPr>
              <a:spLocks noChangeArrowheads="1"/>
            </p:cNvSpPr>
            <p:nvPr/>
          </p:nvSpPr>
          <p:spPr bwMode="auto">
            <a:xfrm>
              <a:off x="2352" y="2105"/>
              <a:ext cx="87" cy="1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100">
                  <a:solidFill>
                    <a:srgbClr val="000000"/>
                  </a:solidFill>
                  <a:latin typeface="Times New Roman" pitchFamily="18" charset="0"/>
                </a:rPr>
                <a:t>0</a:t>
              </a:r>
              <a:endParaRPr lang="en-US" altLang="ko-KR"/>
            </a:p>
          </p:txBody>
        </p:sp>
        <p:sp>
          <p:nvSpPr>
            <p:cNvPr id="27731" name="Rectangle 84"/>
            <p:cNvSpPr>
              <a:spLocks noChangeArrowheads="1"/>
            </p:cNvSpPr>
            <p:nvPr/>
          </p:nvSpPr>
          <p:spPr bwMode="auto">
            <a:xfrm>
              <a:off x="1806" y="2105"/>
              <a:ext cx="87" cy="1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1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altLang="ko-KR"/>
            </a:p>
          </p:txBody>
        </p:sp>
        <p:sp>
          <p:nvSpPr>
            <p:cNvPr id="27732" name="Rectangle 85"/>
            <p:cNvSpPr>
              <a:spLocks noChangeArrowheads="1"/>
            </p:cNvSpPr>
            <p:nvPr/>
          </p:nvSpPr>
          <p:spPr bwMode="auto">
            <a:xfrm>
              <a:off x="3893" y="1830"/>
              <a:ext cx="87" cy="1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100">
                  <a:solidFill>
                    <a:srgbClr val="000000"/>
                  </a:solidFill>
                  <a:latin typeface="Times New Roman" pitchFamily="18" charset="0"/>
                </a:rPr>
                <a:t>0</a:t>
              </a:r>
              <a:endParaRPr lang="en-US" altLang="ko-KR"/>
            </a:p>
          </p:txBody>
        </p:sp>
        <p:sp>
          <p:nvSpPr>
            <p:cNvPr id="27733" name="Rectangle 86"/>
            <p:cNvSpPr>
              <a:spLocks noChangeArrowheads="1"/>
            </p:cNvSpPr>
            <p:nvPr/>
          </p:nvSpPr>
          <p:spPr bwMode="auto">
            <a:xfrm>
              <a:off x="2359" y="1830"/>
              <a:ext cx="87" cy="1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100">
                  <a:solidFill>
                    <a:srgbClr val="000000"/>
                  </a:solidFill>
                  <a:latin typeface="Times New Roman" pitchFamily="18" charset="0"/>
                </a:rPr>
                <a:t>0</a:t>
              </a:r>
              <a:endParaRPr lang="en-US" altLang="ko-KR"/>
            </a:p>
          </p:txBody>
        </p:sp>
        <p:sp>
          <p:nvSpPr>
            <p:cNvPr id="27734" name="Rectangle 87"/>
            <p:cNvSpPr>
              <a:spLocks noChangeArrowheads="1"/>
            </p:cNvSpPr>
            <p:nvPr/>
          </p:nvSpPr>
          <p:spPr bwMode="auto">
            <a:xfrm>
              <a:off x="1816" y="1830"/>
              <a:ext cx="87" cy="1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1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altLang="ko-KR"/>
            </a:p>
          </p:txBody>
        </p:sp>
        <p:sp>
          <p:nvSpPr>
            <p:cNvPr id="27735" name="Rectangle 88"/>
            <p:cNvSpPr>
              <a:spLocks noChangeArrowheads="1"/>
            </p:cNvSpPr>
            <p:nvPr/>
          </p:nvSpPr>
          <p:spPr bwMode="auto">
            <a:xfrm>
              <a:off x="3958" y="1556"/>
              <a:ext cx="87" cy="1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100">
                  <a:solidFill>
                    <a:srgbClr val="000000"/>
                  </a:solidFill>
                  <a:latin typeface="Times New Roman" pitchFamily="18" charset="0"/>
                </a:rPr>
                <a:t>0</a:t>
              </a:r>
              <a:endParaRPr lang="en-US" altLang="ko-KR"/>
            </a:p>
          </p:txBody>
        </p:sp>
        <p:sp>
          <p:nvSpPr>
            <p:cNvPr id="27736" name="Rectangle 89"/>
            <p:cNvSpPr>
              <a:spLocks noChangeArrowheads="1"/>
            </p:cNvSpPr>
            <p:nvPr/>
          </p:nvSpPr>
          <p:spPr bwMode="auto">
            <a:xfrm>
              <a:off x="2337" y="1556"/>
              <a:ext cx="87" cy="1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100">
                  <a:solidFill>
                    <a:srgbClr val="000000"/>
                  </a:solidFill>
                  <a:latin typeface="Times New Roman" pitchFamily="18" charset="0"/>
                </a:rPr>
                <a:t>0</a:t>
              </a:r>
              <a:endParaRPr lang="en-US" altLang="ko-KR"/>
            </a:p>
          </p:txBody>
        </p:sp>
        <p:sp>
          <p:nvSpPr>
            <p:cNvPr id="27737" name="Rectangle 90"/>
            <p:cNvSpPr>
              <a:spLocks noChangeArrowheads="1"/>
            </p:cNvSpPr>
            <p:nvPr/>
          </p:nvSpPr>
          <p:spPr bwMode="auto">
            <a:xfrm>
              <a:off x="1804" y="1556"/>
              <a:ext cx="87" cy="1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1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altLang="ko-KR"/>
            </a:p>
          </p:txBody>
        </p:sp>
        <p:sp>
          <p:nvSpPr>
            <p:cNvPr id="27738" name="Rectangle 91"/>
            <p:cNvSpPr>
              <a:spLocks noChangeArrowheads="1"/>
            </p:cNvSpPr>
            <p:nvPr/>
          </p:nvSpPr>
          <p:spPr bwMode="auto">
            <a:xfrm>
              <a:off x="3988" y="1282"/>
              <a:ext cx="87" cy="1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100">
                  <a:solidFill>
                    <a:srgbClr val="000000"/>
                  </a:solidFill>
                  <a:latin typeface="Times New Roman" pitchFamily="18" charset="0"/>
                </a:rPr>
                <a:t>0</a:t>
              </a:r>
              <a:endParaRPr lang="en-US" altLang="ko-KR"/>
            </a:p>
          </p:txBody>
        </p:sp>
        <p:sp>
          <p:nvSpPr>
            <p:cNvPr id="27739" name="Rectangle 92"/>
            <p:cNvSpPr>
              <a:spLocks noChangeArrowheads="1"/>
            </p:cNvSpPr>
            <p:nvPr/>
          </p:nvSpPr>
          <p:spPr bwMode="auto">
            <a:xfrm>
              <a:off x="2367" y="1282"/>
              <a:ext cx="87" cy="1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100">
                  <a:solidFill>
                    <a:srgbClr val="000000"/>
                  </a:solidFill>
                  <a:latin typeface="Times New Roman" pitchFamily="18" charset="0"/>
                </a:rPr>
                <a:t>0</a:t>
              </a:r>
              <a:endParaRPr lang="en-US" altLang="ko-KR"/>
            </a:p>
          </p:txBody>
        </p:sp>
        <p:sp>
          <p:nvSpPr>
            <p:cNvPr id="27740" name="Rectangle 93"/>
            <p:cNvSpPr>
              <a:spLocks noChangeArrowheads="1"/>
            </p:cNvSpPr>
            <p:nvPr/>
          </p:nvSpPr>
          <p:spPr bwMode="auto">
            <a:xfrm>
              <a:off x="1829" y="1282"/>
              <a:ext cx="87" cy="1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100">
                  <a:solidFill>
                    <a:srgbClr val="000000"/>
                  </a:solidFill>
                  <a:latin typeface="Times New Roman" pitchFamily="18" charset="0"/>
                </a:rPr>
                <a:t>0</a:t>
              </a:r>
              <a:endParaRPr lang="en-US" altLang="ko-KR"/>
            </a:p>
          </p:txBody>
        </p:sp>
        <p:sp>
          <p:nvSpPr>
            <p:cNvPr id="27741" name="Rectangle 94"/>
            <p:cNvSpPr>
              <a:spLocks noChangeArrowheads="1"/>
            </p:cNvSpPr>
            <p:nvPr/>
          </p:nvSpPr>
          <p:spPr bwMode="auto">
            <a:xfrm>
              <a:off x="3682" y="2288"/>
              <a:ext cx="240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1900">
                  <a:solidFill>
                    <a:srgbClr val="000000"/>
                  </a:solidFill>
                  <a:latin typeface="바탕체" pitchFamily="17" charset="-127"/>
                  <a:ea typeface="바탕체" pitchFamily="17" charset="-127"/>
                </a:rPr>
                <a:t>됨</a:t>
              </a:r>
              <a:endParaRPr lang="ko-KR" altLang="en-US"/>
            </a:p>
          </p:txBody>
        </p:sp>
        <p:sp>
          <p:nvSpPr>
            <p:cNvPr id="27742" name="Rectangle 95"/>
            <p:cNvSpPr>
              <a:spLocks noChangeArrowheads="1"/>
            </p:cNvSpPr>
            <p:nvPr/>
          </p:nvSpPr>
          <p:spPr bwMode="auto">
            <a:xfrm>
              <a:off x="3177" y="2288"/>
              <a:ext cx="240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1900">
                  <a:solidFill>
                    <a:srgbClr val="000000"/>
                  </a:solidFill>
                  <a:latin typeface="바탕체" pitchFamily="17" charset="-127"/>
                  <a:ea typeface="바탕체" pitchFamily="17" charset="-127"/>
                </a:rPr>
                <a:t>이</a:t>
              </a:r>
              <a:endParaRPr lang="ko-KR" altLang="en-US"/>
            </a:p>
          </p:txBody>
        </p:sp>
        <p:sp>
          <p:nvSpPr>
            <p:cNvPr id="27743" name="Rectangle 96"/>
            <p:cNvSpPr>
              <a:spLocks noChangeArrowheads="1"/>
            </p:cNvSpPr>
            <p:nvPr/>
          </p:nvSpPr>
          <p:spPr bwMode="auto">
            <a:xfrm>
              <a:off x="2556" y="2288"/>
              <a:ext cx="400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1900">
                  <a:solidFill>
                    <a:srgbClr val="000000"/>
                  </a:solidFill>
                  <a:latin typeface="바탕체" pitchFamily="17" charset="-127"/>
                  <a:ea typeface="바탕체" pitchFamily="17" charset="-127"/>
                </a:rPr>
                <a:t>대립</a:t>
              </a:r>
              <a:endParaRPr lang="ko-KR" altLang="en-US"/>
            </a:p>
          </p:txBody>
        </p:sp>
        <p:sp>
          <p:nvSpPr>
            <p:cNvPr id="27744" name="Rectangle 97"/>
            <p:cNvSpPr>
              <a:spLocks noChangeArrowheads="1"/>
            </p:cNvSpPr>
            <p:nvPr/>
          </p:nvSpPr>
          <p:spPr bwMode="auto">
            <a:xfrm>
              <a:off x="4465" y="2014"/>
              <a:ext cx="400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1900">
                  <a:solidFill>
                    <a:srgbClr val="000000"/>
                  </a:solidFill>
                  <a:latin typeface="바탕체" pitchFamily="17" charset="-127"/>
                  <a:ea typeface="바탕체" pitchFamily="17" charset="-127"/>
                </a:rPr>
                <a:t>것이</a:t>
              </a:r>
              <a:endParaRPr lang="ko-KR" altLang="en-US"/>
            </a:p>
          </p:txBody>
        </p:sp>
        <p:sp>
          <p:nvSpPr>
            <p:cNvPr id="27745" name="Rectangle 98"/>
            <p:cNvSpPr>
              <a:spLocks noChangeArrowheads="1"/>
            </p:cNvSpPr>
            <p:nvPr/>
          </p:nvSpPr>
          <p:spPr bwMode="auto">
            <a:xfrm>
              <a:off x="4298" y="2014"/>
              <a:ext cx="240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1900">
                  <a:solidFill>
                    <a:srgbClr val="000000"/>
                  </a:solidFill>
                  <a:latin typeface="바탕체" pitchFamily="17" charset="-127"/>
                  <a:ea typeface="바탕체" pitchFamily="17" charset="-127"/>
                </a:rPr>
                <a:t>클</a:t>
              </a:r>
              <a:endParaRPr lang="ko-KR" altLang="en-US"/>
            </a:p>
          </p:txBody>
        </p:sp>
        <p:sp>
          <p:nvSpPr>
            <p:cNvPr id="27746" name="Rectangle 99"/>
            <p:cNvSpPr>
              <a:spLocks noChangeArrowheads="1"/>
            </p:cNvSpPr>
            <p:nvPr/>
          </p:nvSpPr>
          <p:spPr bwMode="auto">
            <a:xfrm>
              <a:off x="4625" y="1740"/>
              <a:ext cx="400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1900">
                  <a:solidFill>
                    <a:srgbClr val="000000"/>
                  </a:solidFill>
                  <a:latin typeface="바탕체" pitchFamily="17" charset="-127"/>
                  <a:ea typeface="바탕체" pitchFamily="17" charset="-127"/>
                </a:rPr>
                <a:t>것이</a:t>
              </a:r>
              <a:endParaRPr lang="ko-KR" altLang="en-US"/>
            </a:p>
          </p:txBody>
        </p:sp>
        <p:sp>
          <p:nvSpPr>
            <p:cNvPr id="27747" name="Rectangle 100"/>
            <p:cNvSpPr>
              <a:spLocks noChangeArrowheads="1"/>
            </p:cNvSpPr>
            <p:nvPr/>
          </p:nvSpPr>
          <p:spPr bwMode="auto">
            <a:xfrm>
              <a:off x="4455" y="1740"/>
              <a:ext cx="240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1900">
                  <a:solidFill>
                    <a:srgbClr val="000000"/>
                  </a:solidFill>
                  <a:latin typeface="바탕체" pitchFamily="17" charset="-127"/>
                  <a:ea typeface="바탕체" pitchFamily="17" charset="-127"/>
                </a:rPr>
                <a:t>을</a:t>
              </a:r>
              <a:endParaRPr lang="ko-KR" altLang="en-US"/>
            </a:p>
          </p:txBody>
        </p:sp>
        <p:sp>
          <p:nvSpPr>
            <p:cNvPr id="27748" name="Rectangle 101"/>
            <p:cNvSpPr>
              <a:spLocks noChangeArrowheads="1"/>
            </p:cNvSpPr>
            <p:nvPr/>
          </p:nvSpPr>
          <p:spPr bwMode="auto">
            <a:xfrm>
              <a:off x="4492" y="1466"/>
              <a:ext cx="400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1900">
                  <a:solidFill>
                    <a:srgbClr val="000000"/>
                  </a:solidFill>
                  <a:latin typeface="바탕체" pitchFamily="17" charset="-127"/>
                  <a:ea typeface="바탕체" pitchFamily="17" charset="-127"/>
                </a:rPr>
                <a:t>것이</a:t>
              </a:r>
              <a:endParaRPr lang="ko-KR" altLang="en-US"/>
            </a:p>
          </p:txBody>
        </p:sp>
        <p:sp>
          <p:nvSpPr>
            <p:cNvPr id="27749" name="Rectangle 102"/>
            <p:cNvSpPr>
              <a:spLocks noChangeArrowheads="1"/>
            </p:cNvSpPr>
            <p:nvPr/>
          </p:nvSpPr>
          <p:spPr bwMode="auto">
            <a:xfrm>
              <a:off x="4332" y="1466"/>
              <a:ext cx="240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1900">
                  <a:solidFill>
                    <a:srgbClr val="000000"/>
                  </a:solidFill>
                  <a:latin typeface="바탕체" pitchFamily="17" charset="-127"/>
                  <a:ea typeface="바탕체" pitchFamily="17" charset="-127"/>
                </a:rPr>
                <a:t>닐</a:t>
              </a:r>
              <a:endParaRPr lang="ko-KR" altLang="en-US"/>
            </a:p>
          </p:txBody>
        </p:sp>
        <p:sp>
          <p:nvSpPr>
            <p:cNvPr id="27750" name="Rectangle 103"/>
            <p:cNvSpPr>
              <a:spLocks noChangeArrowheads="1"/>
            </p:cNvSpPr>
            <p:nvPr/>
          </p:nvSpPr>
          <p:spPr bwMode="auto">
            <a:xfrm>
              <a:off x="1493" y="2297"/>
              <a:ext cx="261" cy="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>
                  <a:solidFill>
                    <a:srgbClr val="000000"/>
                  </a:solidFill>
                  <a:latin typeface="MT Extra" pitchFamily="18" charset="2"/>
                </a:rPr>
                <a:t>L</a:t>
              </a:r>
              <a:endParaRPr lang="en-US" altLang="ko-KR"/>
            </a:p>
          </p:txBody>
        </p:sp>
        <p:sp>
          <p:nvSpPr>
            <p:cNvPr id="27751" name="Rectangle 104"/>
            <p:cNvSpPr>
              <a:spLocks noChangeArrowheads="1"/>
            </p:cNvSpPr>
            <p:nvPr/>
          </p:nvSpPr>
          <p:spPr bwMode="auto">
            <a:xfrm>
              <a:off x="1142" y="2265"/>
              <a:ext cx="25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>
                  <a:solidFill>
                    <a:srgbClr val="000000"/>
                  </a:solidFill>
                  <a:latin typeface="Symbol" pitchFamily="18" charset="2"/>
                </a:rPr>
                <a:t>Þ</a:t>
              </a:r>
              <a:endParaRPr lang="en-US" altLang="ko-KR"/>
            </a:p>
          </p:txBody>
        </p:sp>
        <p:sp>
          <p:nvSpPr>
            <p:cNvPr id="27752" name="Rectangle 105"/>
            <p:cNvSpPr>
              <a:spLocks noChangeArrowheads="1"/>
            </p:cNvSpPr>
            <p:nvPr/>
          </p:nvSpPr>
          <p:spPr bwMode="auto">
            <a:xfrm>
              <a:off x="2119" y="1991"/>
              <a:ext cx="18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>
                  <a:solidFill>
                    <a:srgbClr val="000000"/>
                  </a:solidFill>
                  <a:latin typeface="Symbol" pitchFamily="18" charset="2"/>
                </a:rPr>
                <a:t>&gt;</a:t>
              </a:r>
              <a:endParaRPr lang="en-US" altLang="ko-KR"/>
            </a:p>
          </p:txBody>
        </p:sp>
        <p:sp>
          <p:nvSpPr>
            <p:cNvPr id="27753" name="Rectangle 106"/>
            <p:cNvSpPr>
              <a:spLocks noChangeArrowheads="1"/>
            </p:cNvSpPr>
            <p:nvPr/>
          </p:nvSpPr>
          <p:spPr bwMode="auto">
            <a:xfrm>
              <a:off x="2126" y="1717"/>
              <a:ext cx="18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>
                  <a:solidFill>
                    <a:srgbClr val="000000"/>
                  </a:solidFill>
                  <a:latin typeface="Symbol" pitchFamily="18" charset="2"/>
                </a:rPr>
                <a:t>&lt;</a:t>
              </a:r>
              <a:endParaRPr lang="en-US" altLang="ko-KR"/>
            </a:p>
          </p:txBody>
        </p:sp>
        <p:sp>
          <p:nvSpPr>
            <p:cNvPr id="27754" name="Rectangle 107"/>
            <p:cNvSpPr>
              <a:spLocks noChangeArrowheads="1"/>
            </p:cNvSpPr>
            <p:nvPr/>
          </p:nvSpPr>
          <p:spPr bwMode="auto">
            <a:xfrm>
              <a:off x="2117" y="1443"/>
              <a:ext cx="18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>
                  <a:solidFill>
                    <a:srgbClr val="000000"/>
                  </a:solidFill>
                  <a:latin typeface="Symbol" pitchFamily="18" charset="2"/>
                </a:rPr>
                <a:t>¹</a:t>
              </a:r>
              <a:endParaRPr lang="en-US" altLang="ko-KR"/>
            </a:p>
          </p:txBody>
        </p:sp>
        <p:sp>
          <p:nvSpPr>
            <p:cNvPr id="27755" name="Rectangle 108"/>
            <p:cNvSpPr>
              <a:spLocks noChangeArrowheads="1"/>
            </p:cNvSpPr>
            <p:nvPr/>
          </p:nvSpPr>
          <p:spPr bwMode="auto">
            <a:xfrm>
              <a:off x="2149" y="1168"/>
              <a:ext cx="18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>
                  <a:solidFill>
                    <a:srgbClr val="000000"/>
                  </a:solidFill>
                  <a:latin typeface="Symbol" pitchFamily="18" charset="2"/>
                </a:rPr>
                <a:t>=</a:t>
              </a:r>
              <a:endParaRPr lang="en-US" altLang="ko-KR"/>
            </a:p>
          </p:txBody>
        </p:sp>
        <p:sp>
          <p:nvSpPr>
            <p:cNvPr id="27756" name="Rectangle 109"/>
            <p:cNvSpPr>
              <a:spLocks noChangeArrowheads="1"/>
            </p:cNvSpPr>
            <p:nvPr/>
          </p:nvSpPr>
          <p:spPr bwMode="auto">
            <a:xfrm>
              <a:off x="3791" y="1991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 i="1">
                  <a:solidFill>
                    <a:srgbClr val="000000"/>
                  </a:solidFill>
                  <a:latin typeface="Symbol" pitchFamily="18" charset="2"/>
                </a:rPr>
                <a:t>m</a:t>
              </a:r>
              <a:endParaRPr lang="en-US" altLang="ko-KR"/>
            </a:p>
          </p:txBody>
        </p:sp>
        <p:sp>
          <p:nvSpPr>
            <p:cNvPr id="27757" name="Rectangle 110"/>
            <p:cNvSpPr>
              <a:spLocks noChangeArrowheads="1"/>
            </p:cNvSpPr>
            <p:nvPr/>
          </p:nvSpPr>
          <p:spPr bwMode="auto">
            <a:xfrm>
              <a:off x="2257" y="1991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 i="1">
                  <a:solidFill>
                    <a:srgbClr val="000000"/>
                  </a:solidFill>
                  <a:latin typeface="Symbol" pitchFamily="18" charset="2"/>
                </a:rPr>
                <a:t>m</a:t>
              </a:r>
              <a:endParaRPr lang="en-US" altLang="ko-KR"/>
            </a:p>
          </p:txBody>
        </p:sp>
        <p:sp>
          <p:nvSpPr>
            <p:cNvPr id="27758" name="Rectangle 111"/>
            <p:cNvSpPr>
              <a:spLocks noChangeArrowheads="1"/>
            </p:cNvSpPr>
            <p:nvPr/>
          </p:nvSpPr>
          <p:spPr bwMode="auto">
            <a:xfrm>
              <a:off x="1983" y="1991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 i="1">
                  <a:solidFill>
                    <a:srgbClr val="000000"/>
                  </a:solidFill>
                  <a:latin typeface="Symbol" pitchFamily="18" charset="2"/>
                </a:rPr>
                <a:t>m</a:t>
              </a:r>
              <a:endParaRPr lang="en-US" altLang="ko-KR"/>
            </a:p>
          </p:txBody>
        </p:sp>
        <p:sp>
          <p:nvSpPr>
            <p:cNvPr id="27759" name="Rectangle 112"/>
            <p:cNvSpPr>
              <a:spLocks noChangeArrowheads="1"/>
            </p:cNvSpPr>
            <p:nvPr/>
          </p:nvSpPr>
          <p:spPr bwMode="auto">
            <a:xfrm>
              <a:off x="3798" y="1717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 i="1">
                  <a:solidFill>
                    <a:srgbClr val="000000"/>
                  </a:solidFill>
                  <a:latin typeface="Symbol" pitchFamily="18" charset="2"/>
                </a:rPr>
                <a:t>m</a:t>
              </a:r>
              <a:endParaRPr lang="en-US" altLang="ko-KR"/>
            </a:p>
          </p:txBody>
        </p:sp>
        <p:sp>
          <p:nvSpPr>
            <p:cNvPr id="27760" name="Rectangle 113"/>
            <p:cNvSpPr>
              <a:spLocks noChangeArrowheads="1"/>
            </p:cNvSpPr>
            <p:nvPr/>
          </p:nvSpPr>
          <p:spPr bwMode="auto">
            <a:xfrm>
              <a:off x="2265" y="1717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 i="1">
                  <a:solidFill>
                    <a:srgbClr val="000000"/>
                  </a:solidFill>
                  <a:latin typeface="Symbol" pitchFamily="18" charset="2"/>
                </a:rPr>
                <a:t>m</a:t>
              </a:r>
              <a:endParaRPr lang="en-US" altLang="ko-KR"/>
            </a:p>
          </p:txBody>
        </p:sp>
        <p:sp>
          <p:nvSpPr>
            <p:cNvPr id="27761" name="Rectangle 114"/>
            <p:cNvSpPr>
              <a:spLocks noChangeArrowheads="1"/>
            </p:cNvSpPr>
            <p:nvPr/>
          </p:nvSpPr>
          <p:spPr bwMode="auto">
            <a:xfrm>
              <a:off x="1993" y="1717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 i="1">
                  <a:solidFill>
                    <a:srgbClr val="000000"/>
                  </a:solidFill>
                  <a:latin typeface="Symbol" pitchFamily="18" charset="2"/>
                </a:rPr>
                <a:t>m</a:t>
              </a:r>
              <a:endParaRPr lang="en-US" altLang="ko-KR"/>
            </a:p>
          </p:txBody>
        </p:sp>
        <p:sp>
          <p:nvSpPr>
            <p:cNvPr id="27762" name="Rectangle 115"/>
            <p:cNvSpPr>
              <a:spLocks noChangeArrowheads="1"/>
            </p:cNvSpPr>
            <p:nvPr/>
          </p:nvSpPr>
          <p:spPr bwMode="auto">
            <a:xfrm>
              <a:off x="3864" y="1443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 i="1">
                  <a:solidFill>
                    <a:srgbClr val="000000"/>
                  </a:solidFill>
                  <a:latin typeface="Symbol" pitchFamily="18" charset="2"/>
                </a:rPr>
                <a:t>m</a:t>
              </a:r>
              <a:endParaRPr lang="en-US" altLang="ko-KR"/>
            </a:p>
          </p:txBody>
        </p:sp>
        <p:sp>
          <p:nvSpPr>
            <p:cNvPr id="27763" name="Rectangle 116"/>
            <p:cNvSpPr>
              <a:spLocks noChangeArrowheads="1"/>
            </p:cNvSpPr>
            <p:nvPr/>
          </p:nvSpPr>
          <p:spPr bwMode="auto">
            <a:xfrm>
              <a:off x="2243" y="1443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 i="1">
                  <a:solidFill>
                    <a:srgbClr val="000000"/>
                  </a:solidFill>
                  <a:latin typeface="Symbol" pitchFamily="18" charset="2"/>
                </a:rPr>
                <a:t>m</a:t>
              </a:r>
              <a:endParaRPr lang="en-US" altLang="ko-KR"/>
            </a:p>
          </p:txBody>
        </p:sp>
        <p:sp>
          <p:nvSpPr>
            <p:cNvPr id="27764" name="Rectangle 117"/>
            <p:cNvSpPr>
              <a:spLocks noChangeArrowheads="1"/>
            </p:cNvSpPr>
            <p:nvPr/>
          </p:nvSpPr>
          <p:spPr bwMode="auto">
            <a:xfrm>
              <a:off x="1981" y="1443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 i="1">
                  <a:solidFill>
                    <a:srgbClr val="000000"/>
                  </a:solidFill>
                  <a:latin typeface="Symbol" pitchFamily="18" charset="2"/>
                </a:rPr>
                <a:t>m</a:t>
              </a:r>
              <a:endParaRPr lang="en-US" altLang="ko-KR"/>
            </a:p>
          </p:txBody>
        </p:sp>
        <p:sp>
          <p:nvSpPr>
            <p:cNvPr id="27765" name="Rectangle 118"/>
            <p:cNvSpPr>
              <a:spLocks noChangeArrowheads="1"/>
            </p:cNvSpPr>
            <p:nvPr/>
          </p:nvSpPr>
          <p:spPr bwMode="auto">
            <a:xfrm>
              <a:off x="3894" y="1168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 i="1">
                  <a:solidFill>
                    <a:srgbClr val="000000"/>
                  </a:solidFill>
                  <a:latin typeface="Symbol" pitchFamily="18" charset="2"/>
                </a:rPr>
                <a:t>m</a:t>
              </a:r>
              <a:endParaRPr lang="en-US" altLang="ko-KR"/>
            </a:p>
          </p:txBody>
        </p:sp>
        <p:sp>
          <p:nvSpPr>
            <p:cNvPr id="27766" name="Rectangle 119"/>
            <p:cNvSpPr>
              <a:spLocks noChangeArrowheads="1"/>
            </p:cNvSpPr>
            <p:nvPr/>
          </p:nvSpPr>
          <p:spPr bwMode="auto">
            <a:xfrm>
              <a:off x="2273" y="1168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 i="1">
                  <a:solidFill>
                    <a:srgbClr val="000000"/>
                  </a:solidFill>
                  <a:latin typeface="Symbol" pitchFamily="18" charset="2"/>
                </a:rPr>
                <a:t>m</a:t>
              </a:r>
              <a:endParaRPr lang="en-US" altLang="ko-KR"/>
            </a:p>
          </p:txBody>
        </p:sp>
        <p:sp>
          <p:nvSpPr>
            <p:cNvPr id="27767" name="Rectangle 120"/>
            <p:cNvSpPr>
              <a:spLocks noChangeArrowheads="1"/>
            </p:cNvSpPr>
            <p:nvPr/>
          </p:nvSpPr>
          <p:spPr bwMode="auto">
            <a:xfrm>
              <a:off x="2013" y="1168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 i="1">
                  <a:solidFill>
                    <a:srgbClr val="000000"/>
                  </a:solidFill>
                  <a:latin typeface="Symbol" pitchFamily="18" charset="2"/>
                </a:rPr>
                <a:t>m</a:t>
              </a:r>
              <a:endParaRPr lang="en-US" altLang="ko-KR"/>
            </a:p>
          </p:txBody>
        </p:sp>
        <p:sp>
          <p:nvSpPr>
            <p:cNvPr id="27768" name="Rectangle 121"/>
            <p:cNvSpPr>
              <a:spLocks noChangeArrowheads="1"/>
            </p:cNvSpPr>
            <p:nvPr/>
          </p:nvSpPr>
          <p:spPr bwMode="auto">
            <a:xfrm>
              <a:off x="1690" y="2009"/>
              <a:ext cx="18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 i="1">
                  <a:solidFill>
                    <a:srgbClr val="000000"/>
                  </a:solidFill>
                  <a:latin typeface="Times New Roman" pitchFamily="18" charset="0"/>
                </a:rPr>
                <a:t>H</a:t>
              </a:r>
              <a:endParaRPr lang="en-US" altLang="ko-KR"/>
            </a:p>
          </p:txBody>
        </p:sp>
        <p:sp>
          <p:nvSpPr>
            <p:cNvPr id="27769" name="Rectangle 122"/>
            <p:cNvSpPr>
              <a:spLocks noChangeArrowheads="1"/>
            </p:cNvSpPr>
            <p:nvPr/>
          </p:nvSpPr>
          <p:spPr bwMode="auto">
            <a:xfrm>
              <a:off x="1700" y="1735"/>
              <a:ext cx="18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 i="1">
                  <a:solidFill>
                    <a:srgbClr val="000000"/>
                  </a:solidFill>
                  <a:latin typeface="Times New Roman" pitchFamily="18" charset="0"/>
                </a:rPr>
                <a:t>H</a:t>
              </a:r>
              <a:endParaRPr lang="en-US" altLang="ko-KR"/>
            </a:p>
          </p:txBody>
        </p:sp>
        <p:sp>
          <p:nvSpPr>
            <p:cNvPr id="27770" name="Rectangle 123"/>
            <p:cNvSpPr>
              <a:spLocks noChangeArrowheads="1"/>
            </p:cNvSpPr>
            <p:nvPr/>
          </p:nvSpPr>
          <p:spPr bwMode="auto">
            <a:xfrm>
              <a:off x="1688" y="1461"/>
              <a:ext cx="18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 i="1">
                  <a:solidFill>
                    <a:srgbClr val="000000"/>
                  </a:solidFill>
                  <a:latin typeface="Times New Roman" pitchFamily="18" charset="0"/>
                </a:rPr>
                <a:t>H</a:t>
              </a:r>
              <a:endParaRPr lang="en-US" altLang="ko-KR"/>
            </a:p>
          </p:txBody>
        </p:sp>
        <p:sp>
          <p:nvSpPr>
            <p:cNvPr id="27771" name="Rectangle 124"/>
            <p:cNvSpPr>
              <a:spLocks noChangeArrowheads="1"/>
            </p:cNvSpPr>
            <p:nvPr/>
          </p:nvSpPr>
          <p:spPr bwMode="auto">
            <a:xfrm>
              <a:off x="1705" y="1186"/>
              <a:ext cx="18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900" i="1">
                  <a:solidFill>
                    <a:srgbClr val="000000"/>
                  </a:solidFill>
                  <a:latin typeface="Times New Roman" pitchFamily="18" charset="0"/>
                </a:rPr>
                <a:t>H</a:t>
              </a:r>
              <a:endParaRPr lang="en-US" altLang="ko-KR"/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내용 개체 틀 4"/>
          <p:cNvSpPr txBox="1">
            <a:spLocks noGrp="1"/>
          </p:cNvSpPr>
          <p:nvPr>
            <p:ph idx="1"/>
          </p:nvPr>
        </p:nvSpPr>
        <p:spPr bwMode="auto">
          <a:xfrm>
            <a:off x="457200" y="809625"/>
            <a:ext cx="8229600" cy="978729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altLang="ko-KR" dirty="0">
                <a:ea typeface="굴림" pitchFamily="50" charset="-127"/>
              </a:rPr>
              <a:t>&gt; </a:t>
            </a:r>
            <a:r>
              <a:rPr lang="en-US" altLang="ko-KR" dirty="0" err="1">
                <a:ea typeface="굴림" pitchFamily="50" charset="-127"/>
              </a:rPr>
              <a:t>t.test</a:t>
            </a:r>
            <a:r>
              <a:rPr lang="en-US" altLang="ko-KR" dirty="0">
                <a:ea typeface="굴림" pitchFamily="50" charset="-127"/>
              </a:rPr>
              <a:t>(</a:t>
            </a:r>
            <a:r>
              <a:rPr lang="en-US" altLang="ko-KR" dirty="0" err="1">
                <a:ea typeface="굴림" pitchFamily="50" charset="-127"/>
              </a:rPr>
              <a:t>fert$ultra</a:t>
            </a:r>
            <a:r>
              <a:rPr lang="en-US" altLang="ko-KR" dirty="0">
                <a:ea typeface="굴림" pitchFamily="50" charset="-127"/>
              </a:rPr>
              <a:t>, </a:t>
            </a:r>
            <a:r>
              <a:rPr lang="en-US" altLang="ko-KR" dirty="0" err="1">
                <a:ea typeface="굴림" pitchFamily="50" charset="-127"/>
              </a:rPr>
              <a:t>fert$Standard</a:t>
            </a:r>
            <a:r>
              <a:rPr lang="en-US" altLang="ko-KR" dirty="0">
                <a:ea typeface="굴림" pitchFamily="50" charset="-127"/>
              </a:rPr>
              <a:t>, alternative=‘greater’)</a:t>
            </a:r>
          </a:p>
          <a:p>
            <a:pPr marL="0" indent="0">
              <a:buNone/>
            </a:pPr>
            <a:r>
              <a:rPr lang="en-US" altLang="ko-KR" dirty="0">
                <a:ea typeface="굴림" pitchFamily="50" charset="-127"/>
              </a:rPr>
              <a:t>&gt; </a:t>
            </a:r>
            <a:r>
              <a:rPr lang="en-US" altLang="ko-KR" dirty="0" err="1">
                <a:ea typeface="굴림" pitchFamily="50" charset="-127"/>
              </a:rPr>
              <a:t>t.test</a:t>
            </a:r>
            <a:r>
              <a:rPr lang="en-US" altLang="ko-KR" dirty="0">
                <a:ea typeface="굴림" pitchFamily="50" charset="-127"/>
              </a:rPr>
              <a:t>(</a:t>
            </a:r>
            <a:r>
              <a:rPr lang="en-US" altLang="ko-KR" dirty="0" err="1">
                <a:ea typeface="굴림" pitchFamily="50" charset="-127"/>
              </a:rPr>
              <a:t>fert$ultra</a:t>
            </a:r>
            <a:r>
              <a:rPr lang="en-US" altLang="ko-KR" dirty="0">
                <a:ea typeface="굴림" pitchFamily="50" charset="-127"/>
              </a:rPr>
              <a:t>, mu=1.07, alternative=‘greater’)</a:t>
            </a:r>
            <a:endParaRPr lang="ko-KR" altLang="en-US" dirty="0">
              <a:ea typeface="굴림" pitchFamily="50" charset="-127"/>
            </a:endParaRPr>
          </a:p>
        </p:txBody>
      </p:sp>
      <p:pic>
        <p:nvPicPr>
          <p:cNvPr id="28675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850" y="2511375"/>
            <a:ext cx="7046913" cy="3071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latin typeface="Times New Roman" pitchFamily="18" charset="0"/>
                <a:ea typeface="굴림" pitchFamily="50" charset="-127"/>
              </a:rPr>
              <a:t>2. </a:t>
            </a:r>
            <a:r>
              <a:rPr lang="ko-KR" altLang="en-US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rPr>
              <a:t>단일표본 </a:t>
            </a:r>
            <a:r>
              <a:rPr lang="en-US" altLang="ko-KR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rPr>
              <a:t>T </a:t>
            </a:r>
            <a:r>
              <a:rPr lang="ko-KR" altLang="en-US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rPr>
              <a:t>검정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solidFill>
                  <a:srgbClr val="000000"/>
                </a:solidFill>
                <a:ea typeface="굴림" pitchFamily="50" charset="-127"/>
              </a:rPr>
              <a:t>독립표본</a:t>
            </a:r>
            <a:r>
              <a:rPr lang="en-US" altLang="ko-KR">
                <a:solidFill>
                  <a:srgbClr val="000000"/>
                </a:solidFill>
                <a:ea typeface="굴림" pitchFamily="50" charset="-127"/>
              </a:rPr>
              <a:t> T</a:t>
            </a:r>
            <a:r>
              <a:rPr lang="ko-KR" altLang="en-US">
                <a:solidFill>
                  <a:srgbClr val="000000"/>
                </a:solidFill>
                <a:ea typeface="굴림" pitchFamily="50" charset="-127"/>
              </a:rPr>
              <a:t>검정의</a:t>
            </a:r>
            <a:r>
              <a:rPr lang="en-US" altLang="ko-KR">
                <a:solidFill>
                  <a:srgbClr val="000000"/>
                </a:solidFill>
                <a:ea typeface="굴림" pitchFamily="50" charset="-127"/>
              </a:rPr>
              <a:t> </a:t>
            </a:r>
            <a:r>
              <a:rPr lang="ko-KR" altLang="en-US">
                <a:solidFill>
                  <a:srgbClr val="000000"/>
                </a:solidFill>
                <a:ea typeface="굴림" pitchFamily="50" charset="-127"/>
              </a:rPr>
              <a:t>문제</a:t>
            </a:r>
          </a:p>
        </p:txBody>
      </p:sp>
      <p:sp>
        <p:nvSpPr>
          <p:cNvPr id="29699" name="Text Box 4"/>
          <p:cNvSpPr txBox="1">
            <a:spLocks noChangeArrowheads="1"/>
          </p:cNvSpPr>
          <p:nvPr/>
        </p:nvSpPr>
        <p:spPr bwMode="auto">
          <a:xfrm>
            <a:off x="468313" y="1412875"/>
            <a:ext cx="8424862" cy="4656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>
              <a:spcBef>
                <a:spcPct val="50000"/>
              </a:spcBef>
            </a:pPr>
            <a:r>
              <a:rPr lang="ko-KR" altLang="en-US" b="1"/>
              <a:t>실내온도가 손재주를 요하는 일의 작업능률에 영향을 미치는가</a:t>
            </a:r>
            <a:r>
              <a:rPr lang="en-US" altLang="ko-KR" b="1"/>
              <a:t>?  </a:t>
            </a:r>
          </a:p>
          <a:p>
            <a:pPr>
              <a:spcBef>
                <a:spcPct val="50000"/>
              </a:spcBef>
            </a:pPr>
            <a:r>
              <a:rPr lang="ko-KR" altLang="en-US" b="1"/>
              <a:t>인자 </a:t>
            </a:r>
            <a:r>
              <a:rPr lang="en-US" altLang="ko-KR" b="1"/>
              <a:t>: </a:t>
            </a:r>
            <a:r>
              <a:rPr lang="ko-KR" altLang="en-US" b="1"/>
              <a:t>온도</a:t>
            </a:r>
          </a:p>
          <a:p>
            <a:pPr>
              <a:spcBef>
                <a:spcPct val="50000"/>
              </a:spcBef>
            </a:pPr>
            <a:r>
              <a:rPr lang="ko-KR" altLang="en-US" b="1"/>
              <a:t>수준 </a:t>
            </a:r>
            <a:r>
              <a:rPr lang="en-US" altLang="ko-KR" b="1"/>
              <a:t>: 15</a:t>
            </a:r>
            <a:r>
              <a:rPr lang="ko-KR" altLang="en-US" b="1"/>
              <a:t>도</a:t>
            </a:r>
            <a:r>
              <a:rPr lang="en-US" altLang="ko-KR" b="1"/>
              <a:t>, 20</a:t>
            </a:r>
            <a:r>
              <a:rPr lang="ko-KR" altLang="en-US" b="1"/>
              <a:t>도</a:t>
            </a:r>
          </a:p>
          <a:p>
            <a:pPr>
              <a:spcBef>
                <a:spcPct val="50000"/>
              </a:spcBef>
            </a:pPr>
            <a:r>
              <a:rPr lang="ko-KR" altLang="en-US" b="1"/>
              <a:t>반응변수 </a:t>
            </a:r>
            <a:r>
              <a:rPr lang="en-US" altLang="ko-KR" b="1"/>
              <a:t>:  30</a:t>
            </a:r>
            <a:r>
              <a:rPr lang="ko-KR" altLang="en-US" b="1"/>
              <a:t>분간 정교하고 조그만 구멍에 정확히 끼워 넣은 못의 개수</a:t>
            </a:r>
          </a:p>
          <a:p>
            <a:pPr>
              <a:spcBef>
                <a:spcPct val="50000"/>
              </a:spcBef>
            </a:pPr>
            <a:r>
              <a:rPr lang="ko-KR" altLang="en-US" b="1">
                <a:solidFill>
                  <a:srgbClr val="1A0CD0"/>
                </a:solidFill>
              </a:rPr>
              <a:t>확률화계획</a:t>
            </a:r>
            <a:r>
              <a:rPr lang="ko-KR" altLang="en-US" b="1"/>
              <a:t> </a:t>
            </a:r>
            <a:r>
              <a:rPr lang="en-US" altLang="ko-KR" b="1"/>
              <a:t>: </a:t>
            </a:r>
            <a:r>
              <a:rPr lang="ko-KR" altLang="en-US" b="1"/>
              <a:t>실험대상을 </a:t>
            </a:r>
            <a:r>
              <a:rPr lang="en-US" altLang="ko-KR" b="1"/>
              <a:t>2</a:t>
            </a:r>
            <a:r>
              <a:rPr lang="ko-KR" altLang="en-US" b="1"/>
              <a:t>그룹으로 나눈 후 한 그룹은 </a:t>
            </a:r>
            <a:r>
              <a:rPr lang="en-US" altLang="ko-KR" b="1"/>
              <a:t>15</a:t>
            </a:r>
            <a:r>
              <a:rPr lang="ko-KR" altLang="en-US" b="1"/>
              <a:t>도에서 다른 그룹은 </a:t>
            </a:r>
            <a:r>
              <a:rPr lang="en-US" altLang="ko-KR" b="1"/>
              <a:t>20</a:t>
            </a:r>
            <a:r>
              <a:rPr lang="ko-KR" altLang="en-US" b="1"/>
              <a:t>도에서 작업 </a:t>
            </a:r>
          </a:p>
          <a:p>
            <a:pPr>
              <a:spcBef>
                <a:spcPct val="50000"/>
              </a:spcBef>
            </a:pPr>
            <a:r>
              <a:rPr lang="ko-KR" altLang="en-US" b="1"/>
              <a:t>문제점 </a:t>
            </a:r>
            <a:r>
              <a:rPr lang="en-US" altLang="ko-KR" b="1"/>
              <a:t>: </a:t>
            </a:r>
            <a:r>
              <a:rPr lang="ko-KR" altLang="en-US" b="1"/>
              <a:t>손재주의 차이가 커서 온도의 따른 작업능률의 차이를 파악하기 힘들다</a:t>
            </a:r>
            <a:r>
              <a:rPr lang="en-US" altLang="ko-KR" b="1"/>
              <a:t>. 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3"/>
          <p:cNvSpPr txBox="1">
            <a:spLocks noChangeArrowheads="1"/>
          </p:cNvSpPr>
          <p:nvPr/>
        </p:nvSpPr>
        <p:spPr bwMode="auto">
          <a:xfrm>
            <a:off x="468313" y="1412875"/>
            <a:ext cx="8424862" cy="301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>
              <a:spcBef>
                <a:spcPct val="50000"/>
              </a:spcBef>
            </a:pPr>
            <a:r>
              <a:rPr lang="ko-KR" altLang="en-US" sz="2800" b="1">
                <a:solidFill>
                  <a:srgbClr val="0066FF"/>
                </a:solidFill>
              </a:rPr>
              <a:t>해결방법</a:t>
            </a:r>
            <a:r>
              <a:rPr lang="en-US" altLang="ko-KR" sz="2800" b="1">
                <a:solidFill>
                  <a:srgbClr val="0066FF"/>
                </a:solidFill>
              </a:rPr>
              <a:t>(</a:t>
            </a:r>
            <a:r>
              <a:rPr lang="ko-KR" altLang="en-US" sz="2800" b="1">
                <a:solidFill>
                  <a:srgbClr val="0066FF"/>
                </a:solidFill>
              </a:rPr>
              <a:t>대응비교계획</a:t>
            </a:r>
            <a:r>
              <a:rPr lang="en-US" altLang="ko-KR" sz="2800" b="1">
                <a:solidFill>
                  <a:srgbClr val="0066FF"/>
                </a:solidFill>
              </a:rPr>
              <a:t>)</a:t>
            </a:r>
            <a:r>
              <a:rPr lang="en-US" altLang="ko-KR" sz="2800" b="1"/>
              <a:t> :</a:t>
            </a:r>
            <a:r>
              <a:rPr lang="en-US" altLang="ko-KR" b="1"/>
              <a:t> </a:t>
            </a:r>
          </a:p>
          <a:p>
            <a:pPr algn="l">
              <a:spcBef>
                <a:spcPct val="50000"/>
              </a:spcBef>
            </a:pPr>
            <a:r>
              <a:rPr lang="ko-KR" altLang="en-US" b="1"/>
              <a:t>각 실험 대상을 두 온도 모두에서 작업하게 하고  두 온도에서의 점수 차이를 관측</a:t>
            </a:r>
            <a:r>
              <a:rPr lang="en-US" altLang="ko-KR" b="1"/>
              <a:t>. </a:t>
            </a:r>
          </a:p>
          <a:p>
            <a:pPr>
              <a:spcBef>
                <a:spcPct val="50000"/>
              </a:spcBef>
            </a:pPr>
            <a:r>
              <a:rPr lang="ko-KR" altLang="en-US" b="1"/>
              <a:t>이때</a:t>
            </a:r>
            <a:r>
              <a:rPr lang="en-US" altLang="ko-KR" b="1"/>
              <a:t>, </a:t>
            </a:r>
            <a:r>
              <a:rPr lang="ko-KR" altLang="en-US" b="1"/>
              <a:t>실험의 순서를 임의</a:t>
            </a:r>
            <a:r>
              <a:rPr lang="en-US" altLang="ko-KR" b="1"/>
              <a:t>(</a:t>
            </a:r>
            <a:r>
              <a:rPr lang="ko-KR" altLang="en-US" b="1"/>
              <a:t>랜덤</a:t>
            </a:r>
            <a:r>
              <a:rPr lang="en-US" altLang="ko-KR" b="1"/>
              <a:t>)</a:t>
            </a:r>
            <a:r>
              <a:rPr lang="ko-KR" altLang="en-US" b="1"/>
              <a:t>로 해야 한다</a:t>
            </a:r>
            <a:r>
              <a:rPr lang="ko-KR" altLang="en-US"/>
              <a:t> </a:t>
            </a:r>
          </a:p>
          <a:p>
            <a:pPr>
              <a:spcBef>
                <a:spcPct val="50000"/>
              </a:spcBef>
            </a:pPr>
            <a:r>
              <a:rPr lang="en-US" altLang="ko-KR"/>
              <a:t>- </a:t>
            </a:r>
            <a:r>
              <a:rPr lang="ko-KR" altLang="en-US" b="1"/>
              <a:t>피로가 작업능률에 미치는 영향을 피하기 위해</a:t>
            </a:r>
            <a:r>
              <a:rPr lang="en-US" altLang="ko-KR" b="1"/>
              <a:t>, </a:t>
            </a:r>
            <a:r>
              <a:rPr lang="ko-KR" altLang="en-US" b="1"/>
              <a:t>각 실험단위에 대하여 두 온도에서의 각기 다른 날 시행해도 되고</a:t>
            </a:r>
            <a:r>
              <a:rPr lang="en-US" altLang="ko-KR" b="1"/>
              <a:t>, </a:t>
            </a:r>
            <a:r>
              <a:rPr lang="ko-KR" altLang="en-US" b="1"/>
              <a:t>숙달되거나 지루함 때문에 실험 순서가 반응변수에 영향을 줄 수 있으므로</a:t>
            </a:r>
          </a:p>
          <a:p>
            <a:pPr>
              <a:spcBef>
                <a:spcPct val="50000"/>
              </a:spcBef>
            </a:pPr>
            <a:r>
              <a:rPr lang="ko-KR" altLang="en-US" b="1"/>
              <a:t>손재주가 비슷한 사람끼리 짝을 짓고</a:t>
            </a:r>
            <a:r>
              <a:rPr lang="en-US" altLang="ko-KR" b="1"/>
              <a:t>, </a:t>
            </a:r>
            <a:r>
              <a:rPr lang="ko-KR" altLang="en-US" b="1"/>
              <a:t>각 짝에 대하여 누가 </a:t>
            </a:r>
            <a:r>
              <a:rPr lang="en-US" altLang="ko-KR" b="1"/>
              <a:t>15</a:t>
            </a:r>
            <a:r>
              <a:rPr lang="ko-KR" altLang="en-US" b="1"/>
              <a:t>도 또는 </a:t>
            </a:r>
            <a:r>
              <a:rPr lang="en-US" altLang="ko-KR" b="1"/>
              <a:t>20</a:t>
            </a:r>
            <a:r>
              <a:rPr lang="ko-KR" altLang="en-US" b="1"/>
              <a:t>도에서 작업하는지를 임의로 정하여 실험</a:t>
            </a:r>
            <a:r>
              <a:rPr lang="en-US" altLang="ko-KR" b="1"/>
              <a:t>. </a:t>
            </a:r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solidFill>
                  <a:srgbClr val="000000"/>
                </a:solidFill>
                <a:ea typeface="굴림" pitchFamily="50" charset="-127"/>
              </a:rPr>
              <a:t>독립표본</a:t>
            </a:r>
            <a:r>
              <a:rPr lang="en-US" altLang="ko-KR">
                <a:solidFill>
                  <a:srgbClr val="000000"/>
                </a:solidFill>
                <a:ea typeface="굴림" pitchFamily="50" charset="-127"/>
              </a:rPr>
              <a:t> T</a:t>
            </a:r>
            <a:r>
              <a:rPr lang="ko-KR" altLang="en-US">
                <a:solidFill>
                  <a:srgbClr val="000000"/>
                </a:solidFill>
                <a:ea typeface="굴림" pitchFamily="50" charset="-127"/>
              </a:rPr>
              <a:t>검정의</a:t>
            </a:r>
            <a:r>
              <a:rPr lang="en-US" altLang="ko-KR">
                <a:solidFill>
                  <a:srgbClr val="000000"/>
                </a:solidFill>
                <a:ea typeface="굴림" pitchFamily="50" charset="-127"/>
              </a:rPr>
              <a:t> </a:t>
            </a:r>
            <a:r>
              <a:rPr lang="ko-KR" altLang="en-US">
                <a:solidFill>
                  <a:srgbClr val="000000"/>
                </a:solidFill>
                <a:ea typeface="굴림" pitchFamily="50" charset="-127"/>
              </a:rPr>
              <a:t>문제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ko-KR" altLang="en-US" sz="2000">
                <a:ea typeface="굴림" pitchFamily="50" charset="-127"/>
              </a:rPr>
              <a:t>목적</a:t>
            </a:r>
            <a:r>
              <a:rPr lang="en-US" altLang="ko-KR" sz="2000">
                <a:ea typeface="굴림" pitchFamily="50" charset="-127"/>
              </a:rPr>
              <a:t>; </a:t>
            </a:r>
            <a:r>
              <a:rPr lang="ko-KR" altLang="en-US" sz="2000">
                <a:ea typeface="굴림" pitchFamily="50" charset="-127"/>
              </a:rPr>
              <a:t>주어진 모집단에서 두 가지 서로 다른 처리의 효과를 비교 </a:t>
            </a:r>
          </a:p>
          <a:p>
            <a:pPr>
              <a:buFont typeface="Wingdings 2" pitchFamily="18" charset="2"/>
              <a:buNone/>
            </a:pPr>
            <a:r>
              <a:rPr lang="en-US" altLang="ko-KR" sz="2000">
                <a:solidFill>
                  <a:srgbClr val="B262B6"/>
                </a:solidFill>
                <a:ea typeface="굴림" pitchFamily="50" charset="-127"/>
              </a:rPr>
              <a:t>&lt;&lt; </a:t>
            </a:r>
            <a:r>
              <a:rPr lang="ko-KR" altLang="en-US" sz="2000">
                <a:solidFill>
                  <a:srgbClr val="B262B6"/>
                </a:solidFill>
                <a:ea typeface="굴림" pitchFamily="50" charset="-127"/>
              </a:rPr>
              <a:t>방법</a:t>
            </a:r>
            <a:r>
              <a:rPr lang="en-US" altLang="ko-KR" sz="2000">
                <a:solidFill>
                  <a:srgbClr val="B262B6"/>
                </a:solidFill>
                <a:ea typeface="굴림" pitchFamily="50" charset="-127"/>
              </a:rPr>
              <a:t>&gt;&gt;</a:t>
            </a:r>
          </a:p>
          <a:p>
            <a:r>
              <a:rPr lang="en-US" altLang="ko-KR" sz="2000">
                <a:ea typeface="굴림" pitchFamily="50" charset="-127"/>
              </a:rPr>
              <a:t>n</a:t>
            </a:r>
            <a:r>
              <a:rPr lang="ko-KR" altLang="en-US" sz="2000">
                <a:ea typeface="굴림" pitchFamily="50" charset="-127"/>
              </a:rPr>
              <a:t>개의 실험단위를  독립적으로  선택</a:t>
            </a:r>
          </a:p>
          <a:p>
            <a:r>
              <a:rPr lang="ko-KR" altLang="en-US" sz="2000">
                <a:ea typeface="굴림" pitchFamily="50" charset="-127"/>
              </a:rPr>
              <a:t>서로 다른  두 가지  처리를  똑같은  실험단위에  적용</a:t>
            </a:r>
          </a:p>
          <a:p>
            <a:r>
              <a:rPr lang="ko-KR" altLang="en-US" sz="2000">
                <a:ea typeface="굴림" pitchFamily="50" charset="-127"/>
              </a:rPr>
              <a:t>측정값들을  쌍으로  묶어서  대응표본</a:t>
            </a:r>
            <a:r>
              <a:rPr lang="en-US" altLang="ko-KR" sz="2000">
                <a:ea typeface="굴림" pitchFamily="50" charset="-127"/>
              </a:rPr>
              <a:t>(paired sample)</a:t>
            </a:r>
            <a:r>
              <a:rPr lang="ko-KR" altLang="en-US" sz="2000">
                <a:ea typeface="굴림" pitchFamily="50" charset="-127"/>
              </a:rPr>
              <a:t>을  구성</a:t>
            </a:r>
          </a:p>
          <a:p>
            <a:r>
              <a:rPr lang="ko-KR" altLang="en-US" sz="2000">
                <a:ea typeface="굴림" pitchFamily="50" charset="-127"/>
              </a:rPr>
              <a:t>이들의  차를  이용하여  두 처리  효과간의  차에  관한  통계적 추론 방법을  적용</a:t>
            </a:r>
          </a:p>
        </p:txBody>
      </p:sp>
      <p:sp>
        <p:nvSpPr>
          <p:cNvPr id="51203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88913"/>
            <a:ext cx="7556500" cy="304800"/>
          </a:xfrm>
        </p:spPr>
        <p:txBody>
          <a:bodyPr/>
          <a:lstStyle/>
          <a:p>
            <a:r>
              <a:rPr lang="en-US" altLang="ko-KR">
                <a:latin typeface="Times New Roman" pitchFamily="18" charset="0"/>
                <a:ea typeface="굴림" pitchFamily="50" charset="-127"/>
              </a:rPr>
              <a:t>3. </a:t>
            </a:r>
            <a:r>
              <a:rPr lang="ko-KR" altLang="en-US">
                <a:latin typeface="Times New Roman" pitchFamily="18" charset="0"/>
                <a:ea typeface="굴림" pitchFamily="50" charset="-127"/>
              </a:rPr>
              <a:t>대응</a:t>
            </a:r>
            <a:r>
              <a:rPr lang="ko-KR" altLang="en-US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rPr>
              <a:t>표본  </a:t>
            </a:r>
            <a:r>
              <a:rPr lang="en-US" altLang="ko-KR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rPr>
              <a:t>T </a:t>
            </a:r>
            <a:r>
              <a:rPr lang="ko-KR" altLang="en-US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rPr>
              <a:t>검정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1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>
                <a:ea typeface="굴림" pitchFamily="50" charset="-127"/>
              </a:rPr>
              <a:t>3. </a:t>
            </a:r>
            <a:r>
              <a:rPr lang="ko-KR" altLang="en-US" sz="3200">
                <a:ea typeface="굴림" pitchFamily="50" charset="-127"/>
              </a:rPr>
              <a:t>대응 표본 </a:t>
            </a:r>
            <a:r>
              <a:rPr lang="en-US" altLang="ko-KR" sz="3200">
                <a:ea typeface="굴림" pitchFamily="50" charset="-127"/>
              </a:rPr>
              <a:t>T </a:t>
            </a:r>
            <a:r>
              <a:rPr lang="ko-KR" altLang="en-US" sz="3200">
                <a:ea typeface="굴림" pitchFamily="50" charset="-127"/>
              </a:rPr>
              <a:t>검정</a:t>
            </a:r>
            <a:r>
              <a:rPr lang="en-US" altLang="ko-KR" sz="3200">
                <a:ea typeface="굴림" pitchFamily="50" charset="-127"/>
              </a:rPr>
              <a:t> </a:t>
            </a:r>
            <a:endParaRPr lang="ko-KR" altLang="en-US" sz="3200">
              <a:ea typeface="굴림" pitchFamily="50" charset="-127"/>
            </a:endParaRPr>
          </a:p>
        </p:txBody>
      </p:sp>
      <p:graphicFrame>
        <p:nvGraphicFramePr>
          <p:cNvPr id="32771" name="Object 2"/>
          <p:cNvGraphicFramePr>
            <a:graphicFrameLocks noGrp="1" noChangeAspect="1"/>
          </p:cNvGraphicFramePr>
          <p:nvPr>
            <p:ph sz="half" idx="1"/>
          </p:nvPr>
        </p:nvGraphicFramePr>
        <p:xfrm>
          <a:off x="827088" y="1916113"/>
          <a:ext cx="4175125" cy="601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1" name="Equation" r:id="rId3" imgW="1587500" imgH="228600" progId="Equation.3">
                  <p:embed/>
                </p:oleObj>
              </mc:Choice>
              <mc:Fallback>
                <p:oleObj name="Equation" r:id="rId3" imgW="1587500" imgH="228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1916113"/>
                        <a:ext cx="4175125" cy="601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2" name="Object 3"/>
          <p:cNvGraphicFramePr>
            <a:graphicFrameLocks noGrp="1" noChangeAspect="1"/>
          </p:cNvGraphicFramePr>
          <p:nvPr>
            <p:ph sz="half" idx="2"/>
          </p:nvPr>
        </p:nvGraphicFramePr>
        <p:xfrm>
          <a:off x="684213" y="3213100"/>
          <a:ext cx="6913562" cy="1339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2" name="Equation" r:id="rId5" imgW="2489200" imgH="482600" progId="Equation.3">
                  <p:embed/>
                </p:oleObj>
              </mc:Choice>
              <mc:Fallback>
                <p:oleObj name="Equation" r:id="rId5" imgW="2489200" imgH="482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3213100"/>
                        <a:ext cx="6913562" cy="1339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3" name="Text Box 10"/>
          <p:cNvSpPr txBox="1">
            <a:spLocks noChangeArrowheads="1"/>
          </p:cNvSpPr>
          <p:nvPr/>
        </p:nvSpPr>
        <p:spPr bwMode="auto">
          <a:xfrm>
            <a:off x="395288" y="1412875"/>
            <a:ext cx="2736850" cy="385763"/>
          </a:xfrm>
          <a:prstGeom prst="rect">
            <a:avLst/>
          </a:prstGeom>
          <a:gradFill rotWithShape="1">
            <a:gsLst>
              <a:gs pos="0">
                <a:srgbClr val="FAF8A2"/>
              </a:gs>
              <a:gs pos="50000">
                <a:srgbClr val="F7F35D"/>
              </a:gs>
              <a:gs pos="100000">
                <a:srgbClr val="FAF8A2"/>
              </a:gs>
            </a:gsLst>
            <a:lin ang="5400000" scaled="1"/>
          </a:gradFill>
          <a:ln w="19050">
            <a:solidFill>
              <a:srgbClr val="7A8C46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>
            <a:spAutoFit/>
          </a:bodyPr>
          <a:lstStyle>
            <a:lvl1pPr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ko-KR" b="1"/>
              <a:t>     </a:t>
            </a:r>
            <a:r>
              <a:rPr lang="ko-KR" altLang="en-US" b="1"/>
              <a:t>두 처리 효과의 차 </a:t>
            </a:r>
          </a:p>
        </p:txBody>
      </p:sp>
      <p:sp>
        <p:nvSpPr>
          <p:cNvPr id="32774" name="Text Box 11"/>
          <p:cNvSpPr txBox="1">
            <a:spLocks noChangeArrowheads="1"/>
          </p:cNvSpPr>
          <p:nvPr/>
        </p:nvSpPr>
        <p:spPr bwMode="auto">
          <a:xfrm>
            <a:off x="395288" y="2636838"/>
            <a:ext cx="6769100" cy="385762"/>
          </a:xfrm>
          <a:prstGeom prst="rect">
            <a:avLst/>
          </a:prstGeom>
          <a:gradFill rotWithShape="1">
            <a:gsLst>
              <a:gs pos="0">
                <a:srgbClr val="FAF8A2"/>
              </a:gs>
              <a:gs pos="50000">
                <a:srgbClr val="F7F35D"/>
              </a:gs>
              <a:gs pos="100000">
                <a:srgbClr val="FAF8A2"/>
              </a:gs>
            </a:gsLst>
            <a:lin ang="5400000" scaled="1"/>
          </a:gradFill>
          <a:ln w="19050">
            <a:solidFill>
              <a:srgbClr val="7A8C46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>
            <a:spAutoFit/>
          </a:bodyPr>
          <a:lstStyle>
            <a:lvl1pPr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ko-KR" b="1"/>
              <a:t>     </a:t>
            </a:r>
            <a:r>
              <a:rPr lang="ko-KR" altLang="en-US" b="1"/>
              <a:t>두 처리 효과의 차에 대한 표본평균과  표본표준편차</a:t>
            </a:r>
          </a:p>
        </p:txBody>
      </p:sp>
      <p:sp>
        <p:nvSpPr>
          <p:cNvPr id="32775" name="Text Box 12"/>
          <p:cNvSpPr txBox="1">
            <a:spLocks noChangeArrowheads="1"/>
          </p:cNvSpPr>
          <p:nvPr/>
        </p:nvSpPr>
        <p:spPr bwMode="auto">
          <a:xfrm>
            <a:off x="395288" y="4652963"/>
            <a:ext cx="2736850" cy="369887"/>
          </a:xfrm>
          <a:prstGeom prst="rect">
            <a:avLst/>
          </a:prstGeom>
          <a:gradFill rotWithShape="1">
            <a:gsLst>
              <a:gs pos="0">
                <a:srgbClr val="FAF8A2"/>
              </a:gs>
              <a:gs pos="50000">
                <a:srgbClr val="F7F35D"/>
              </a:gs>
              <a:gs pos="100000">
                <a:srgbClr val="FAF8A2"/>
              </a:gs>
            </a:gsLst>
            <a:lin ang="5400000" scaled="1"/>
          </a:gradFill>
          <a:ln w="19050">
            <a:solidFill>
              <a:srgbClr val="7A8C46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>
            <a:spAutoFit/>
          </a:bodyPr>
          <a:lstStyle>
            <a:lvl1pPr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ko-KR" b="1"/>
              <a:t>      </a:t>
            </a:r>
            <a:r>
              <a:rPr lang="ko-KR" altLang="en-US" b="1"/>
              <a:t>기본가정 </a:t>
            </a:r>
            <a:r>
              <a:rPr lang="en-US" altLang="ko-KR" b="1"/>
              <a:t>- </a:t>
            </a:r>
            <a:r>
              <a:rPr lang="ko-KR" altLang="en-US" b="1"/>
              <a:t>정규성 </a:t>
            </a:r>
          </a:p>
        </p:txBody>
      </p:sp>
      <p:sp>
        <p:nvSpPr>
          <p:cNvPr id="32776" name="Rectangle 3"/>
          <p:cNvSpPr>
            <a:spLocks noChangeArrowheads="1"/>
          </p:cNvSpPr>
          <p:nvPr/>
        </p:nvSpPr>
        <p:spPr bwMode="auto">
          <a:xfrm>
            <a:off x="298450" y="5332413"/>
            <a:ext cx="8382000" cy="1077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>
              <a:lnSpc>
                <a:spcPct val="120000"/>
              </a:lnSpc>
              <a:spcBef>
                <a:spcPct val="20000"/>
              </a:spcBef>
              <a:buFont typeface="Wingdings" pitchFamily="2" charset="2"/>
              <a:buNone/>
            </a:pPr>
            <a:endParaRPr lang="en-US" altLang="ko-KR" sz="1600" b="1"/>
          </a:p>
          <a:p>
            <a:pPr algn="l">
              <a:lnSpc>
                <a:spcPct val="120000"/>
              </a:lnSpc>
              <a:spcBef>
                <a:spcPct val="20000"/>
              </a:spcBef>
              <a:buFont typeface="Wingdings" pitchFamily="2" charset="2"/>
              <a:buNone/>
            </a:pPr>
            <a:r>
              <a:rPr lang="en-US" altLang="ko-KR" sz="1600" b="1"/>
              <a:t>  → </a:t>
            </a:r>
            <a:r>
              <a:rPr lang="ko-KR" altLang="en-US" sz="1600" b="1"/>
              <a:t>정규성 만족하는 경우 </a:t>
            </a:r>
            <a:r>
              <a:rPr lang="en-US" altLang="ko-KR" sz="1600" b="1"/>
              <a:t>:  </a:t>
            </a:r>
            <a:r>
              <a:rPr lang="ko-KR" altLang="en-US" sz="1600" b="1"/>
              <a:t>대응표본 </a:t>
            </a:r>
            <a:r>
              <a:rPr lang="en-US" altLang="ko-KR" sz="1600" b="1"/>
              <a:t>t-test </a:t>
            </a:r>
            <a:r>
              <a:rPr lang="ko-KR" altLang="en-US" sz="1600" b="1"/>
              <a:t> 적용</a:t>
            </a:r>
            <a:endParaRPr lang="en-US" altLang="ko-KR" sz="1600" b="1"/>
          </a:p>
          <a:p>
            <a:pPr algn="l">
              <a:lnSpc>
                <a:spcPct val="120000"/>
              </a:lnSpc>
              <a:spcBef>
                <a:spcPct val="20000"/>
              </a:spcBef>
              <a:buFont typeface="Wingdings" pitchFamily="2" charset="2"/>
              <a:buNone/>
            </a:pPr>
            <a:r>
              <a:rPr lang="en-US" altLang="ko-KR" sz="1600" b="1"/>
              <a:t>  </a:t>
            </a:r>
            <a:r>
              <a:rPr lang="ko-KR" altLang="en-US" sz="1600" b="1"/>
              <a:t>→ 정규성 만족하지 않는 경우 </a:t>
            </a:r>
            <a:r>
              <a:rPr lang="en-US" altLang="ko-KR" sz="1600" b="1"/>
              <a:t>: </a:t>
            </a:r>
            <a:r>
              <a:rPr lang="ko-KR" altLang="en-US" sz="1600" b="1"/>
              <a:t>비모수검정법 중</a:t>
            </a:r>
            <a:r>
              <a:rPr lang="en-US" altLang="ko-KR" sz="1600" b="1"/>
              <a:t> </a:t>
            </a:r>
            <a:r>
              <a:rPr lang="ko-KR" altLang="en-US" sz="1600" b="1"/>
              <a:t>윌콕슨</a:t>
            </a:r>
            <a:r>
              <a:rPr lang="en-US" altLang="ko-KR" sz="1600" b="1"/>
              <a:t>(</a:t>
            </a:r>
            <a:r>
              <a:rPr lang="ko-KR" altLang="en-US" sz="1600" b="1"/>
              <a:t>순위합</a:t>
            </a:r>
            <a:r>
              <a:rPr lang="en-US" altLang="ko-KR" sz="1600" b="1"/>
              <a:t>)</a:t>
            </a:r>
            <a:r>
              <a:rPr lang="ko-KR" altLang="en-US" sz="1600" b="1"/>
              <a:t>검정 적용</a:t>
            </a:r>
          </a:p>
        </p:txBody>
      </p:sp>
      <p:graphicFrame>
        <p:nvGraphicFramePr>
          <p:cNvPr id="32777" name="Object 4"/>
          <p:cNvGraphicFramePr>
            <a:graphicFrameLocks noChangeAspect="1"/>
          </p:cNvGraphicFramePr>
          <p:nvPr/>
        </p:nvGraphicFramePr>
        <p:xfrm>
          <a:off x="1809750" y="5181600"/>
          <a:ext cx="3432175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3" name="Equation" r:id="rId7" imgW="2260600" imgH="228600" progId="Equation.3">
                  <p:embed/>
                </p:oleObj>
              </mc:Choice>
              <mc:Fallback>
                <p:oleObj name="Equation" r:id="rId7" imgW="226060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9750" y="5181600"/>
                        <a:ext cx="3432175" cy="34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88913"/>
            <a:ext cx="7556500" cy="304800"/>
          </a:xfrm>
        </p:spPr>
        <p:txBody>
          <a:bodyPr/>
          <a:lstStyle/>
          <a:p>
            <a:r>
              <a:rPr lang="en-US" altLang="ko-KR">
                <a:latin typeface="Times New Roman" pitchFamily="18" charset="0"/>
                <a:ea typeface="굴림" pitchFamily="50" charset="-127"/>
              </a:rPr>
              <a:t>3. </a:t>
            </a:r>
            <a:r>
              <a:rPr lang="ko-KR" altLang="en-US">
                <a:latin typeface="Times New Roman" pitchFamily="18" charset="0"/>
                <a:ea typeface="굴림" pitchFamily="50" charset="-127"/>
              </a:rPr>
              <a:t>대응</a:t>
            </a:r>
            <a:r>
              <a:rPr lang="ko-KR" altLang="en-US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rPr>
              <a:t>표본  </a:t>
            </a:r>
            <a:r>
              <a:rPr lang="en-US" altLang="ko-KR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rPr>
              <a:t>T </a:t>
            </a:r>
            <a:r>
              <a:rPr lang="ko-KR" altLang="en-US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rPr>
              <a:t>검정</a:t>
            </a:r>
          </a:p>
        </p:txBody>
      </p:sp>
      <p:graphicFrame>
        <p:nvGraphicFramePr>
          <p:cNvPr id="33795" name="Object 2"/>
          <p:cNvGraphicFramePr>
            <a:graphicFrameLocks noChangeAspect="1"/>
          </p:cNvGraphicFramePr>
          <p:nvPr/>
        </p:nvGraphicFramePr>
        <p:xfrm>
          <a:off x="4521200" y="3333750"/>
          <a:ext cx="1016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2" name="Equation" r:id="rId4" imgW="101556" imgH="190417" progId="Equation.3">
                  <p:embed/>
                </p:oleObj>
              </mc:Choice>
              <mc:Fallback>
                <p:oleObj name="Equation" r:id="rId4" imgW="101556" imgH="190417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1200" y="3333750"/>
                        <a:ext cx="101600" cy="190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6" name="Object 3"/>
          <p:cNvGraphicFramePr>
            <a:graphicFrameLocks noChangeAspect="1"/>
          </p:cNvGraphicFramePr>
          <p:nvPr/>
        </p:nvGraphicFramePr>
        <p:xfrm>
          <a:off x="1651000" y="3500438"/>
          <a:ext cx="5113338" cy="1457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3" name="Equation" r:id="rId6" imgW="3467100" imgH="990600" progId="Equation.3">
                  <p:embed/>
                </p:oleObj>
              </mc:Choice>
              <mc:Fallback>
                <p:oleObj name="Equation" r:id="rId6" imgW="3467100" imgH="990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1000" y="3500438"/>
                        <a:ext cx="5113338" cy="1457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7" name="Text Box 8"/>
          <p:cNvSpPr txBox="1">
            <a:spLocks noChangeArrowheads="1"/>
          </p:cNvSpPr>
          <p:nvPr/>
        </p:nvSpPr>
        <p:spPr bwMode="auto">
          <a:xfrm>
            <a:off x="395288" y="5049838"/>
            <a:ext cx="2951162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>
              <a:lnSpc>
                <a:spcPct val="150000"/>
              </a:lnSpc>
              <a:spcBef>
                <a:spcPct val="50000"/>
              </a:spcBef>
              <a:buFont typeface="Wingdings" pitchFamily="2" charset="2"/>
              <a:buChar char="Ø"/>
            </a:pPr>
            <a:r>
              <a:rPr lang="en-US" altLang="ko-KR" b="1">
                <a:solidFill>
                  <a:srgbClr val="A50021"/>
                </a:solidFill>
              </a:rPr>
              <a:t>  (</a:t>
            </a:r>
            <a:r>
              <a:rPr lang="ko-KR" altLang="en-US" b="1">
                <a:solidFill>
                  <a:srgbClr val="A50021"/>
                </a:solidFill>
              </a:rPr>
              <a:t>검정통계량</a:t>
            </a:r>
            <a:r>
              <a:rPr lang="en-US" altLang="ko-KR" b="1">
                <a:solidFill>
                  <a:srgbClr val="A50021"/>
                </a:solidFill>
              </a:rPr>
              <a:t>)</a:t>
            </a:r>
          </a:p>
        </p:txBody>
      </p:sp>
      <p:graphicFrame>
        <p:nvGraphicFramePr>
          <p:cNvPr id="33798" name="Object 5"/>
          <p:cNvGraphicFramePr>
            <a:graphicFrameLocks noChangeAspect="1"/>
          </p:cNvGraphicFramePr>
          <p:nvPr/>
        </p:nvGraphicFramePr>
        <p:xfrm>
          <a:off x="1804988" y="5499100"/>
          <a:ext cx="3095625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4" name="Equation" r:id="rId8" imgW="1828800" imgH="457200" progId="Equation.3">
                  <p:embed/>
                </p:oleObj>
              </mc:Choice>
              <mc:Fallback>
                <p:oleObj name="Equation" r:id="rId8" imgW="1828800" imgH="4572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4988" y="5499100"/>
                        <a:ext cx="3095625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9" name="Text Box 12"/>
          <p:cNvSpPr txBox="1">
            <a:spLocks noChangeArrowheads="1"/>
          </p:cNvSpPr>
          <p:nvPr/>
        </p:nvSpPr>
        <p:spPr bwMode="auto">
          <a:xfrm>
            <a:off x="312738" y="2990850"/>
            <a:ext cx="2736850" cy="368300"/>
          </a:xfrm>
          <a:prstGeom prst="rect">
            <a:avLst/>
          </a:prstGeom>
          <a:gradFill rotWithShape="1">
            <a:gsLst>
              <a:gs pos="0">
                <a:srgbClr val="FAF8A2"/>
              </a:gs>
              <a:gs pos="50000">
                <a:srgbClr val="F7F35D"/>
              </a:gs>
              <a:gs pos="100000">
                <a:srgbClr val="FAF8A2"/>
              </a:gs>
            </a:gsLst>
            <a:lin ang="5400000" scaled="1"/>
          </a:gradFill>
          <a:ln w="19050">
            <a:solidFill>
              <a:srgbClr val="7A8C46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>
            <a:spAutoFit/>
          </a:bodyPr>
          <a:lstStyle>
            <a:lvl1pPr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ko-KR" b="1"/>
              <a:t>      </a:t>
            </a:r>
            <a:r>
              <a:rPr lang="ko-KR" altLang="en-US" b="1"/>
              <a:t>가설검정 </a:t>
            </a:r>
          </a:p>
        </p:txBody>
      </p:sp>
      <p:sp>
        <p:nvSpPr>
          <p:cNvPr id="33800" name="Text Box 12"/>
          <p:cNvSpPr txBox="1">
            <a:spLocks noChangeArrowheads="1"/>
          </p:cNvSpPr>
          <p:nvPr/>
        </p:nvSpPr>
        <p:spPr bwMode="auto">
          <a:xfrm>
            <a:off x="298450" y="842963"/>
            <a:ext cx="2736850" cy="369887"/>
          </a:xfrm>
          <a:prstGeom prst="rect">
            <a:avLst/>
          </a:prstGeom>
          <a:gradFill rotWithShape="1">
            <a:gsLst>
              <a:gs pos="0">
                <a:srgbClr val="FAF8A2"/>
              </a:gs>
              <a:gs pos="50000">
                <a:srgbClr val="F7F35D"/>
              </a:gs>
              <a:gs pos="100000">
                <a:srgbClr val="FAF8A2"/>
              </a:gs>
            </a:gsLst>
            <a:lin ang="5400000" scaled="1"/>
          </a:gradFill>
          <a:ln w="19050">
            <a:solidFill>
              <a:srgbClr val="7A8C46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>
            <a:spAutoFit/>
          </a:bodyPr>
          <a:lstStyle>
            <a:lvl1pPr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ko-KR" b="1"/>
              <a:t>      </a:t>
            </a:r>
            <a:r>
              <a:rPr lang="ko-KR" altLang="en-US" b="1"/>
              <a:t>신뢰구간 </a:t>
            </a:r>
          </a:p>
        </p:txBody>
      </p:sp>
      <p:graphicFrame>
        <p:nvGraphicFramePr>
          <p:cNvPr id="33801" name="Object 12"/>
          <p:cNvGraphicFramePr>
            <a:graphicFrameLocks noChangeAspect="1"/>
          </p:cNvGraphicFramePr>
          <p:nvPr/>
        </p:nvGraphicFramePr>
        <p:xfrm>
          <a:off x="1019175" y="1657350"/>
          <a:ext cx="3351213" cy="1163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5" name="Equation" r:id="rId10" imgW="1206500" imgH="419100" progId="Equation.3">
                  <p:embed/>
                </p:oleObj>
              </mc:Choice>
              <mc:Fallback>
                <p:oleObj name="Equation" r:id="rId10" imgW="1206500" imgH="4191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9175" y="1657350"/>
                        <a:ext cx="3351213" cy="1163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02" name="AutoShape 14"/>
          <p:cNvSpPr>
            <a:spLocks noChangeArrowheads="1"/>
          </p:cNvSpPr>
          <p:nvPr/>
        </p:nvSpPr>
        <p:spPr bwMode="auto">
          <a:xfrm>
            <a:off x="4705350" y="1106488"/>
            <a:ext cx="3671888" cy="936625"/>
          </a:xfrm>
          <a:prstGeom prst="wedgeRoundRectCallout">
            <a:avLst>
              <a:gd name="adj1" fmla="val -43750"/>
              <a:gd name="adj2" fmla="val 70000"/>
              <a:gd name="adj3" fmla="val 16667"/>
            </a:avLst>
          </a:prstGeom>
          <a:solidFill>
            <a:schemeClr val="bg1"/>
          </a:solidFill>
          <a:ln w="9525">
            <a:solidFill>
              <a:srgbClr val="B262B6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 altLang="ko-KR" b="1"/>
              <a:t>t(</a:t>
            </a:r>
            <a:r>
              <a:rPr lang="el-GR" altLang="ko-KR" b="1"/>
              <a:t>α</a:t>
            </a:r>
            <a:r>
              <a:rPr lang="en-US" altLang="ko-KR" b="1"/>
              <a:t>/2:n-1)</a:t>
            </a:r>
            <a:r>
              <a:rPr lang="ko-KR" altLang="en-US" b="1"/>
              <a:t>는 </a:t>
            </a:r>
            <a:r>
              <a:rPr lang="en-US" altLang="ko-KR" b="1"/>
              <a:t>t(n-1) </a:t>
            </a:r>
            <a:r>
              <a:rPr lang="ko-KR" altLang="en-US" b="1"/>
              <a:t>분포의 </a:t>
            </a:r>
          </a:p>
          <a:p>
            <a:r>
              <a:rPr lang="ko-KR" altLang="en-US" b="1"/>
              <a:t>상위 </a:t>
            </a:r>
            <a:r>
              <a:rPr lang="el-GR" altLang="ko-KR" b="1"/>
              <a:t>α</a:t>
            </a:r>
            <a:r>
              <a:rPr lang="en-US" altLang="ko-KR" b="1"/>
              <a:t>/2 </a:t>
            </a:r>
            <a:r>
              <a:rPr lang="ko-KR" altLang="en-US" b="1"/>
              <a:t>임계값 임 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10"/>
          <p:cNvSpPr txBox="1">
            <a:spLocks noChangeArrowheads="1"/>
          </p:cNvSpPr>
          <p:nvPr/>
        </p:nvSpPr>
        <p:spPr bwMode="auto">
          <a:xfrm>
            <a:off x="482600" y="865188"/>
            <a:ext cx="8064500" cy="470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l"/>
            <a:r>
              <a:rPr lang="ko-KR" altLang="en-US" sz="2000"/>
              <a:t>신발 회사에서 아동화의 밑창에 사용되는 두 가지 재료 </a:t>
            </a:r>
            <a:r>
              <a:rPr lang="en-US" altLang="ko-KR" sz="2000"/>
              <a:t>A</a:t>
            </a:r>
            <a:r>
              <a:rPr lang="ko-KR" altLang="en-US" sz="2000"/>
              <a:t>와 재료 </a:t>
            </a:r>
            <a:r>
              <a:rPr lang="en-US" altLang="ko-KR" sz="2000"/>
              <a:t>B</a:t>
            </a:r>
            <a:r>
              <a:rPr lang="ko-KR" altLang="en-US" sz="2000"/>
              <a:t>를 비교하려고 합니다</a:t>
            </a:r>
            <a:r>
              <a:rPr lang="en-US" altLang="ko-KR" sz="2000"/>
              <a:t>. </a:t>
            </a:r>
            <a:r>
              <a:rPr lang="ko-KR" altLang="en-US" sz="2000"/>
              <a:t>이 예제에서는 연구에 참여한 </a:t>
            </a:r>
            <a:r>
              <a:rPr lang="en-US" altLang="ko-KR" sz="2000"/>
              <a:t>10</a:t>
            </a:r>
            <a:r>
              <a:rPr lang="ko-KR" altLang="en-US" sz="2000"/>
              <a:t>명의 아동에게 한 쪽 밑창은 재료 </a:t>
            </a:r>
            <a:r>
              <a:rPr lang="en-US" altLang="ko-KR" sz="2000"/>
              <a:t>A</a:t>
            </a:r>
            <a:r>
              <a:rPr lang="ko-KR" altLang="en-US" sz="2000"/>
              <a:t>로 만들고 다른 쪽 밑창은 재료 </a:t>
            </a:r>
            <a:r>
              <a:rPr lang="en-US" altLang="ko-KR" sz="2000"/>
              <a:t>B</a:t>
            </a:r>
            <a:r>
              <a:rPr lang="ko-KR" altLang="en-US" sz="2000"/>
              <a:t>로 만든 특별한 신발을 신게 했습니다</a:t>
            </a:r>
            <a:r>
              <a:rPr lang="en-US" altLang="ko-KR" sz="2000"/>
              <a:t>. </a:t>
            </a:r>
            <a:r>
              <a:rPr lang="ko-KR" altLang="en-US" sz="2000"/>
              <a:t>왼쪽 신발과 오른쪽 신발 사이의 마모 차이를 체계적으로 설명하기 위해 밑창의 종류는 임의로 지정했습니다</a:t>
            </a:r>
            <a:r>
              <a:rPr lang="en-US" altLang="ko-KR" sz="2000"/>
              <a:t>. 3</a:t>
            </a:r>
            <a:r>
              <a:rPr lang="ko-KR" altLang="en-US" sz="2000"/>
              <a:t>개월 후에 신발의 마모 정도를 측정했습니다</a:t>
            </a:r>
            <a:r>
              <a:rPr lang="en-US" altLang="ko-KR" sz="2000"/>
              <a:t>. </a:t>
            </a:r>
          </a:p>
          <a:p>
            <a:pPr algn="l"/>
            <a:r>
              <a:rPr lang="ko-KR" altLang="en-US" sz="2000"/>
              <a:t>이러한 데이터의 경우에는 비쌍체 설계가 아니라 쌍체 설계를 사용합니다</a:t>
            </a:r>
            <a:r>
              <a:rPr lang="en-US" altLang="ko-KR" sz="2000"/>
              <a:t>. </a:t>
            </a:r>
            <a:r>
              <a:rPr lang="ko-KR" altLang="en-US" sz="2000"/>
              <a:t>쌍체 </a:t>
            </a:r>
            <a:r>
              <a:rPr lang="en-US" altLang="ko-KR" sz="2000"/>
              <a:t>t </a:t>
            </a:r>
            <a:r>
              <a:rPr lang="ko-KR" altLang="en-US" sz="2000"/>
              <a:t>검정 절차에서는 쌍체 간의 차이로 인한 변동성이 제거되므로 대응하는 비쌍체 절차에서보다 더 작은 오차항을 갖게 됩니다</a:t>
            </a:r>
            <a:r>
              <a:rPr lang="en-US" altLang="ko-KR" sz="2000"/>
              <a:t>. </a:t>
            </a:r>
            <a:r>
              <a:rPr lang="ko-KR" altLang="en-US" sz="2000"/>
              <a:t>예를 들어</a:t>
            </a:r>
            <a:r>
              <a:rPr lang="en-US" altLang="ko-KR" sz="2000"/>
              <a:t>, </a:t>
            </a:r>
            <a:r>
              <a:rPr lang="ko-KR" altLang="en-US" sz="2000"/>
              <a:t>도시에 살고 있는 아동은 대개 포장된 길을 걸어다니는 반면 시골에 살고 있는 아동은 대개 포장되지 않은 길을 걸어다닙니다</a:t>
            </a:r>
            <a:r>
              <a:rPr lang="en-US" altLang="ko-KR" sz="2000"/>
              <a:t>. </a:t>
            </a:r>
          </a:p>
          <a:p>
            <a:pPr algn="l">
              <a:spcBef>
                <a:spcPct val="50000"/>
              </a:spcBef>
            </a:pPr>
            <a:r>
              <a:rPr lang="en-US" altLang="ko-KR" sz="2000"/>
              <a:t>. </a:t>
            </a:r>
            <a:r>
              <a:rPr lang="ko-KR" altLang="en-US" sz="2000"/>
              <a:t>밑창의 마모에</a:t>
            </a:r>
            <a:r>
              <a:rPr lang="ko-KR" altLang="en-US" sz="2000" b="1"/>
              <a:t> 차이가 있는지 유의수준 </a:t>
            </a:r>
            <a:r>
              <a:rPr lang="en-US" altLang="ko-KR" sz="2000" b="1"/>
              <a:t>5%</a:t>
            </a:r>
            <a:r>
              <a:rPr lang="ko-KR" altLang="en-US" sz="2000" b="1"/>
              <a:t>에서 검정하여라</a:t>
            </a:r>
            <a:r>
              <a:rPr lang="en-US" altLang="ko-KR" sz="2000" b="1"/>
              <a:t>.</a:t>
            </a:r>
          </a:p>
          <a:p>
            <a:pPr algn="l">
              <a:spcBef>
                <a:spcPct val="50000"/>
              </a:spcBef>
            </a:pPr>
            <a:r>
              <a:rPr lang="en-US" altLang="ko-KR" sz="2000" b="1"/>
              <a:t>(shoes</a:t>
            </a:r>
            <a:r>
              <a:rPr lang="en-US" altLang="ko-KR" sz="2000"/>
              <a:t>.csv)</a:t>
            </a:r>
          </a:p>
        </p:txBody>
      </p:sp>
      <p:sp>
        <p:nvSpPr>
          <p:cNvPr id="34819" name="Rectangle 46"/>
          <p:cNvSpPr>
            <a:spLocks noChangeArrowheads="1"/>
          </p:cNvSpPr>
          <p:nvPr/>
        </p:nvSpPr>
        <p:spPr bwMode="auto">
          <a:xfrm>
            <a:off x="0" y="20621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sp>
        <p:nvSpPr>
          <p:cNvPr id="34820" name="Rectangle 2"/>
          <p:cNvSpPr txBox="1">
            <a:spLocks noChangeArrowheads="1"/>
          </p:cNvSpPr>
          <p:nvPr/>
        </p:nvSpPr>
        <p:spPr bwMode="auto">
          <a:xfrm>
            <a:off x="146050" y="95250"/>
            <a:ext cx="75565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l"/>
            <a:r>
              <a:rPr lang="en-US" altLang="ko-KR" sz="2800" b="1">
                <a:solidFill>
                  <a:schemeClr val="tx2"/>
                </a:solidFill>
                <a:latin typeface="Times New Roman" pitchFamily="18" charset="0"/>
              </a:rPr>
              <a:t>3. </a:t>
            </a:r>
            <a:r>
              <a:rPr lang="ko-KR" altLang="en-US" sz="2800" b="1">
                <a:solidFill>
                  <a:schemeClr val="tx2"/>
                </a:solidFill>
                <a:latin typeface="Times New Roman" pitchFamily="18" charset="0"/>
              </a:rPr>
              <a:t>대응</a:t>
            </a:r>
            <a:r>
              <a:rPr lang="ko-KR" altLang="en-US" sz="2800" b="1">
                <a:solidFill>
                  <a:schemeClr val="tx1"/>
                </a:solidFill>
                <a:latin typeface="Times New Roman" pitchFamily="18" charset="0"/>
              </a:rPr>
              <a:t>표본  </a:t>
            </a:r>
            <a:r>
              <a:rPr lang="en-US" altLang="ko-KR" sz="2800" b="1">
                <a:solidFill>
                  <a:schemeClr val="tx1"/>
                </a:solidFill>
                <a:latin typeface="Times New Roman" pitchFamily="18" charset="0"/>
              </a:rPr>
              <a:t>T </a:t>
            </a:r>
            <a:r>
              <a:rPr lang="ko-KR" altLang="en-US" sz="2800" b="1">
                <a:solidFill>
                  <a:schemeClr val="tx1"/>
                </a:solidFill>
                <a:latin typeface="Times New Roman" pitchFamily="18" charset="0"/>
              </a:rPr>
              <a:t>검정 </a:t>
            </a:r>
            <a:r>
              <a:rPr lang="en-US" altLang="ko-KR" sz="2800" b="1">
                <a:solidFill>
                  <a:schemeClr val="tx1"/>
                </a:solidFill>
                <a:latin typeface="Times New Roman" pitchFamily="18" charset="0"/>
              </a:rPr>
              <a:t>- </a:t>
            </a:r>
            <a:r>
              <a:rPr lang="ko-KR" altLang="en-US" sz="2800" b="1">
                <a:solidFill>
                  <a:schemeClr val="tx1"/>
                </a:solidFill>
                <a:latin typeface="Times New Roman" pitchFamily="18" charset="0"/>
              </a:rPr>
              <a:t>예제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ext Box 10"/>
          <p:cNvSpPr txBox="1">
            <a:spLocks noChangeArrowheads="1"/>
          </p:cNvSpPr>
          <p:nvPr/>
        </p:nvSpPr>
        <p:spPr bwMode="auto">
          <a:xfrm>
            <a:off x="482600" y="865188"/>
            <a:ext cx="8064500" cy="862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en-US" altLang="ko-KR" sz="2000"/>
              <a:t>. </a:t>
            </a:r>
            <a:r>
              <a:rPr lang="ko-KR" altLang="en-US" sz="2000"/>
              <a:t>밑창의 마모에</a:t>
            </a:r>
            <a:r>
              <a:rPr lang="ko-KR" altLang="en-US" sz="2000" b="1"/>
              <a:t> 차이가 있는지 유의수준 </a:t>
            </a:r>
            <a:r>
              <a:rPr lang="en-US" altLang="ko-KR" sz="2000" b="1"/>
              <a:t>5%</a:t>
            </a:r>
            <a:r>
              <a:rPr lang="ko-KR" altLang="en-US" sz="2000" b="1"/>
              <a:t>에서 검정하여라</a:t>
            </a:r>
            <a:r>
              <a:rPr lang="en-US" altLang="ko-KR" sz="2000" b="1"/>
              <a:t>. </a:t>
            </a:r>
          </a:p>
          <a:p>
            <a:pPr algn="l">
              <a:spcBef>
                <a:spcPct val="50000"/>
              </a:spcBef>
            </a:pPr>
            <a:r>
              <a:rPr lang="en-US" altLang="ko-KR" sz="2000"/>
              <a:t>(shoes.csv)</a:t>
            </a:r>
          </a:p>
        </p:txBody>
      </p:sp>
      <p:sp>
        <p:nvSpPr>
          <p:cNvPr id="35843" name="Rectangle 46"/>
          <p:cNvSpPr>
            <a:spLocks noChangeArrowheads="1"/>
          </p:cNvSpPr>
          <p:nvPr/>
        </p:nvSpPr>
        <p:spPr bwMode="auto">
          <a:xfrm>
            <a:off x="0" y="20621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sp>
        <p:nvSpPr>
          <p:cNvPr id="35844" name="Rectangle 2"/>
          <p:cNvSpPr txBox="1">
            <a:spLocks noChangeArrowheads="1"/>
          </p:cNvSpPr>
          <p:nvPr/>
        </p:nvSpPr>
        <p:spPr bwMode="auto">
          <a:xfrm>
            <a:off x="146050" y="95250"/>
            <a:ext cx="75565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CC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l"/>
            <a:r>
              <a:rPr lang="en-US" altLang="ko-KR" sz="2800" b="1">
                <a:solidFill>
                  <a:schemeClr val="tx2"/>
                </a:solidFill>
                <a:latin typeface="Times New Roman" pitchFamily="18" charset="0"/>
              </a:rPr>
              <a:t>3. </a:t>
            </a:r>
            <a:r>
              <a:rPr lang="ko-KR" altLang="en-US" sz="2800" b="1">
                <a:solidFill>
                  <a:schemeClr val="tx2"/>
                </a:solidFill>
                <a:latin typeface="Times New Roman" pitchFamily="18" charset="0"/>
              </a:rPr>
              <a:t>대응</a:t>
            </a:r>
            <a:r>
              <a:rPr lang="ko-KR" altLang="en-US" sz="2800" b="1">
                <a:solidFill>
                  <a:schemeClr val="tx1"/>
                </a:solidFill>
                <a:latin typeface="Times New Roman" pitchFamily="18" charset="0"/>
              </a:rPr>
              <a:t>표본  </a:t>
            </a:r>
            <a:r>
              <a:rPr lang="en-US" altLang="ko-KR" sz="2800" b="1">
                <a:solidFill>
                  <a:schemeClr val="tx1"/>
                </a:solidFill>
                <a:latin typeface="Times New Roman" pitchFamily="18" charset="0"/>
              </a:rPr>
              <a:t>T </a:t>
            </a:r>
            <a:r>
              <a:rPr lang="ko-KR" altLang="en-US" sz="2800" b="1">
                <a:solidFill>
                  <a:schemeClr val="tx1"/>
                </a:solidFill>
                <a:latin typeface="Times New Roman" pitchFamily="18" charset="0"/>
              </a:rPr>
              <a:t>검정 </a:t>
            </a:r>
            <a:r>
              <a:rPr lang="en-US" altLang="ko-KR" sz="2800" b="1">
                <a:solidFill>
                  <a:schemeClr val="tx1"/>
                </a:solidFill>
                <a:latin typeface="Times New Roman" pitchFamily="18" charset="0"/>
              </a:rPr>
              <a:t>- </a:t>
            </a:r>
            <a:r>
              <a:rPr lang="ko-KR" altLang="en-US" sz="2800" b="1">
                <a:solidFill>
                  <a:schemeClr val="tx1"/>
                </a:solidFill>
                <a:latin typeface="Times New Roman" pitchFamily="18" charset="0"/>
              </a:rPr>
              <a:t>예제</a:t>
            </a:r>
          </a:p>
        </p:txBody>
      </p:sp>
      <p:graphicFrame>
        <p:nvGraphicFramePr>
          <p:cNvPr id="2" name="표 1"/>
          <p:cNvGraphicFramePr>
            <a:graphicFrameLocks noGrp="1"/>
          </p:cNvGraphicFramePr>
          <p:nvPr/>
        </p:nvGraphicFramePr>
        <p:xfrm>
          <a:off x="1236663" y="1831975"/>
          <a:ext cx="4000500" cy="435451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0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5275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material_A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material_B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924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2000" u="none" strike="noStrike">
                          <a:effectLst/>
                        </a:rPr>
                        <a:t>13.2</a:t>
                      </a:r>
                      <a:endParaRPr lang="en-US" altLang="ko-KR" sz="20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2000" u="none" strike="noStrike">
                          <a:effectLst/>
                        </a:rPr>
                        <a:t>14</a:t>
                      </a:r>
                      <a:endParaRPr lang="en-US" altLang="ko-KR" sz="20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924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2000" u="none" strike="noStrike">
                          <a:effectLst/>
                        </a:rPr>
                        <a:t>8.2</a:t>
                      </a:r>
                      <a:endParaRPr lang="en-US" altLang="ko-KR" sz="20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2000" u="none" strike="noStrike">
                          <a:effectLst/>
                        </a:rPr>
                        <a:t>8.8</a:t>
                      </a:r>
                      <a:endParaRPr lang="en-US" altLang="ko-KR" sz="20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924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2000" u="none" strike="noStrike">
                          <a:effectLst/>
                        </a:rPr>
                        <a:t>10.9</a:t>
                      </a:r>
                      <a:endParaRPr lang="en-US" altLang="ko-KR" sz="20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2000" u="none" strike="noStrike">
                          <a:effectLst/>
                        </a:rPr>
                        <a:t>11.2</a:t>
                      </a:r>
                      <a:endParaRPr lang="en-US" altLang="ko-KR" sz="20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924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2000" u="none" strike="noStrike">
                          <a:effectLst/>
                        </a:rPr>
                        <a:t>14.3</a:t>
                      </a:r>
                      <a:endParaRPr lang="en-US" altLang="ko-KR" sz="20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2000" u="none" strike="noStrike">
                          <a:effectLst/>
                        </a:rPr>
                        <a:t>14.2</a:t>
                      </a:r>
                      <a:endParaRPr lang="en-US" altLang="ko-KR" sz="20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924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2000" u="none" strike="noStrike">
                          <a:effectLst/>
                        </a:rPr>
                        <a:t>10.7</a:t>
                      </a:r>
                      <a:endParaRPr lang="en-US" altLang="ko-KR" sz="20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2000" u="none" strike="noStrike">
                          <a:effectLst/>
                        </a:rPr>
                        <a:t>11.8</a:t>
                      </a:r>
                      <a:endParaRPr lang="en-US" altLang="ko-KR" sz="20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924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2000" u="none" strike="noStrike">
                          <a:effectLst/>
                        </a:rPr>
                        <a:t>6.6</a:t>
                      </a:r>
                      <a:endParaRPr lang="en-US" altLang="ko-KR" sz="20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2000" u="none" strike="noStrike">
                          <a:effectLst/>
                        </a:rPr>
                        <a:t>6.4</a:t>
                      </a:r>
                      <a:endParaRPr lang="en-US" altLang="ko-KR" sz="20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924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2000" u="none" strike="noStrike">
                          <a:effectLst/>
                        </a:rPr>
                        <a:t>9.5</a:t>
                      </a:r>
                      <a:endParaRPr lang="en-US" altLang="ko-KR" sz="20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2000" u="none" strike="noStrike">
                          <a:effectLst/>
                        </a:rPr>
                        <a:t>9.8</a:t>
                      </a:r>
                      <a:endParaRPr lang="en-US" altLang="ko-KR" sz="20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3924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2000" u="none" strike="noStrike">
                          <a:effectLst/>
                        </a:rPr>
                        <a:t>10.8</a:t>
                      </a:r>
                      <a:endParaRPr lang="en-US" altLang="ko-KR" sz="20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2000" u="none" strike="noStrike">
                          <a:effectLst/>
                        </a:rPr>
                        <a:t>11.3</a:t>
                      </a:r>
                      <a:endParaRPr lang="en-US" altLang="ko-KR" sz="20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3924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2000" u="none" strike="noStrike">
                          <a:effectLst/>
                        </a:rPr>
                        <a:t>8.8</a:t>
                      </a:r>
                      <a:endParaRPr lang="en-US" altLang="ko-KR" sz="20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2000" u="none" strike="noStrike">
                          <a:effectLst/>
                        </a:rPr>
                        <a:t>9.3</a:t>
                      </a:r>
                      <a:endParaRPr lang="en-US" altLang="ko-KR" sz="20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3924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2000" u="none" strike="noStrike">
                          <a:effectLst/>
                        </a:rPr>
                        <a:t>13.3</a:t>
                      </a:r>
                      <a:endParaRPr lang="en-US" altLang="ko-KR" sz="20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2000" u="none" strike="noStrike" dirty="0">
                          <a:effectLst/>
                        </a:rPr>
                        <a:t>13.6</a:t>
                      </a:r>
                      <a:endParaRPr lang="en-US" altLang="ko-KR" sz="2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ko-KR">
                <a:latin typeface="Times New Roman" pitchFamily="18" charset="0"/>
                <a:ea typeface="굴림" pitchFamily="50" charset="-127"/>
              </a:rPr>
              <a:t>3. </a:t>
            </a:r>
            <a:r>
              <a:rPr lang="ko-KR" altLang="en-US">
                <a:latin typeface="Times New Roman" pitchFamily="18" charset="0"/>
                <a:ea typeface="굴림" pitchFamily="50" charset="-127"/>
              </a:rPr>
              <a:t>대응</a:t>
            </a:r>
            <a:r>
              <a:rPr lang="ko-KR" altLang="en-US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rPr>
              <a:t>표본  </a:t>
            </a:r>
            <a:r>
              <a:rPr lang="en-US" altLang="ko-KR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rPr>
              <a:t>T </a:t>
            </a:r>
            <a:r>
              <a:rPr lang="ko-KR" altLang="en-US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rPr>
              <a:t>검정 </a:t>
            </a:r>
            <a:r>
              <a:rPr lang="en-US" altLang="ko-KR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rPr>
              <a:t>- </a:t>
            </a:r>
            <a:r>
              <a:rPr lang="ko-KR" altLang="en-US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rPr>
              <a:t>예제</a:t>
            </a:r>
          </a:p>
        </p:txBody>
      </p:sp>
      <p:sp>
        <p:nvSpPr>
          <p:cNvPr id="7" name="내용 개체 틀 4"/>
          <p:cNvSpPr txBox="1">
            <a:spLocks/>
          </p:cNvSpPr>
          <p:nvPr/>
        </p:nvSpPr>
        <p:spPr>
          <a:xfrm>
            <a:off x="452438" y="804863"/>
            <a:ext cx="8229600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algn="l">
              <a:spcBef>
                <a:spcPct val="40000"/>
              </a:spcBef>
              <a:buClr>
                <a:schemeClr val="tx1"/>
              </a:buClr>
              <a:defRPr/>
            </a:pPr>
            <a:r>
              <a:rPr lang="en-US" altLang="ko-KR" sz="2400" b="1" kern="0" dirty="0">
                <a:solidFill>
                  <a:schemeClr val="tx1"/>
                </a:solidFill>
                <a:latin typeface="+mn-lt"/>
                <a:ea typeface="+mn-ea"/>
              </a:rPr>
              <a:t>&gt; </a:t>
            </a:r>
            <a:r>
              <a:rPr lang="en-US" altLang="ko-KR" sz="2400" b="1" kern="0" dirty="0" err="1">
                <a:solidFill>
                  <a:schemeClr val="tx1"/>
                </a:solidFill>
                <a:latin typeface="+mn-lt"/>
                <a:ea typeface="+mn-ea"/>
              </a:rPr>
              <a:t>t.test</a:t>
            </a:r>
            <a:r>
              <a:rPr lang="en-US" altLang="ko-KR" sz="2400" b="1" kern="0" dirty="0">
                <a:solidFill>
                  <a:schemeClr val="tx1"/>
                </a:solidFill>
                <a:latin typeface="+mn-lt"/>
                <a:ea typeface="+mn-ea"/>
              </a:rPr>
              <a:t>(shoes$</a:t>
            </a:r>
            <a:r>
              <a:rPr lang="en-US" altLang="ko-KR" sz="2400" b="1" kern="0" dirty="0" err="1">
                <a:solidFill>
                  <a:schemeClr val="tx1"/>
                </a:solidFill>
                <a:latin typeface="+mn-lt"/>
                <a:ea typeface="+mn-ea"/>
              </a:rPr>
              <a:t>material_A</a:t>
            </a:r>
            <a:r>
              <a:rPr lang="en-US" altLang="ko-KR" sz="2400" b="1" kern="0" dirty="0">
                <a:solidFill>
                  <a:schemeClr val="tx1"/>
                </a:solidFill>
                <a:latin typeface="+mn-lt"/>
                <a:ea typeface="+mn-ea"/>
              </a:rPr>
              <a:t>, </a:t>
            </a:r>
            <a:r>
              <a:rPr lang="en-US" altLang="ko-KR" sz="2400" b="1" kern="0" dirty="0" err="1">
                <a:solidFill>
                  <a:schemeClr val="tx1"/>
                </a:solidFill>
                <a:latin typeface="Arial" charset="0"/>
                <a:ea typeface="굴림" charset="-127"/>
              </a:rPr>
              <a:t>shoes$material_B</a:t>
            </a:r>
            <a:r>
              <a:rPr lang="en-US" altLang="ko-KR" sz="2400" b="1" kern="0" dirty="0">
                <a:solidFill>
                  <a:schemeClr val="tx1"/>
                </a:solidFill>
                <a:latin typeface="+mn-lt"/>
                <a:ea typeface="+mn-ea"/>
              </a:rPr>
              <a:t>)</a:t>
            </a:r>
            <a:endParaRPr lang="ko-KR" altLang="en-US" sz="2400" b="1" kern="0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9" name="내용 개체 틀 4"/>
          <p:cNvSpPr txBox="1">
            <a:spLocks/>
          </p:cNvSpPr>
          <p:nvPr/>
        </p:nvSpPr>
        <p:spPr>
          <a:xfrm>
            <a:off x="431800" y="3635375"/>
            <a:ext cx="8229600" cy="8302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algn="l">
              <a:spcBef>
                <a:spcPct val="40000"/>
              </a:spcBef>
              <a:buClr>
                <a:schemeClr val="tx1"/>
              </a:buClr>
              <a:defRPr/>
            </a:pPr>
            <a:r>
              <a:rPr lang="en-US" altLang="ko-KR" sz="2400" b="1" kern="0" dirty="0">
                <a:solidFill>
                  <a:schemeClr val="tx1"/>
                </a:solidFill>
                <a:latin typeface="+mn-lt"/>
                <a:ea typeface="+mn-ea"/>
              </a:rPr>
              <a:t>&gt; </a:t>
            </a:r>
            <a:r>
              <a:rPr lang="en-US" altLang="ko-KR" sz="2400" b="1" kern="0" dirty="0" err="1">
                <a:solidFill>
                  <a:schemeClr val="tx1"/>
                </a:solidFill>
                <a:latin typeface="+mn-lt"/>
                <a:ea typeface="+mn-ea"/>
              </a:rPr>
              <a:t>t.test</a:t>
            </a:r>
            <a:r>
              <a:rPr lang="en-US" altLang="ko-KR" sz="2400" b="1" kern="0" dirty="0">
                <a:solidFill>
                  <a:schemeClr val="tx1"/>
                </a:solidFill>
                <a:latin typeface="+mn-lt"/>
                <a:ea typeface="+mn-ea"/>
              </a:rPr>
              <a:t>(shoes$</a:t>
            </a:r>
            <a:r>
              <a:rPr lang="en-US" altLang="ko-KR" sz="2400" b="1" kern="0" dirty="0" err="1">
                <a:solidFill>
                  <a:schemeClr val="tx1"/>
                </a:solidFill>
                <a:latin typeface="+mn-lt"/>
                <a:ea typeface="+mn-ea"/>
              </a:rPr>
              <a:t>material_A</a:t>
            </a:r>
            <a:r>
              <a:rPr lang="en-US" altLang="ko-KR" sz="2400" b="1" kern="0" dirty="0">
                <a:solidFill>
                  <a:schemeClr val="tx1"/>
                </a:solidFill>
                <a:latin typeface="+mn-lt"/>
                <a:ea typeface="+mn-ea"/>
              </a:rPr>
              <a:t>, </a:t>
            </a:r>
            <a:r>
              <a:rPr lang="en-US" altLang="ko-KR" sz="2400" b="1" kern="0" dirty="0" err="1">
                <a:solidFill>
                  <a:schemeClr val="tx1"/>
                </a:solidFill>
                <a:latin typeface="Arial" charset="0"/>
                <a:ea typeface="굴림" charset="-127"/>
              </a:rPr>
              <a:t>shoes$material_B</a:t>
            </a:r>
            <a:r>
              <a:rPr lang="en-US" altLang="ko-KR" sz="2400" b="1" kern="0" dirty="0">
                <a:solidFill>
                  <a:schemeClr val="tx1"/>
                </a:solidFill>
                <a:latin typeface="Arial" charset="0"/>
                <a:ea typeface="굴림" charset="-127"/>
              </a:rPr>
              <a:t>, paired = TRUE</a:t>
            </a:r>
            <a:r>
              <a:rPr lang="en-US" altLang="ko-KR" sz="2400" b="1" kern="0" dirty="0">
                <a:solidFill>
                  <a:schemeClr val="tx1"/>
                </a:solidFill>
                <a:latin typeface="+mn-lt"/>
                <a:ea typeface="+mn-ea"/>
              </a:rPr>
              <a:t>)</a:t>
            </a:r>
            <a:endParaRPr lang="ko-KR" altLang="en-US" sz="2400" b="1" kern="0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CB705C74-0E6B-0A8F-C8BE-75683FC7F2D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823222" y="1219200"/>
            <a:ext cx="4821237" cy="492125"/>
          </a:xfrm>
        </p:spPr>
        <p:txBody>
          <a:bodyPr/>
          <a:lstStyle/>
          <a:p>
            <a:pPr algn="ctr" eaLnBrk="1" hangingPunct="1"/>
            <a:r>
              <a:rPr lang="ko-KR" altLang="en-US" dirty="0">
                <a:solidFill>
                  <a:schemeClr val="tx1"/>
                </a:solidFill>
              </a:rPr>
              <a:t>분산분석 </a:t>
            </a:r>
            <a:r>
              <a:rPr lang="en-US" altLang="ko-KR" dirty="0">
                <a:solidFill>
                  <a:schemeClr val="tx1"/>
                </a:solidFill>
              </a:rPr>
              <a:t>(ANOVA) 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412D132C-648C-D338-4E71-0C0B6A7CFDE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ko-KR"/>
              <a:t> 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A64BEB1E-F416-6DD4-2091-7F5C71F008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83797" y="2408646"/>
            <a:ext cx="4043363" cy="22606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70000" lnSpcReduction="20000"/>
          </a:bodyPr>
          <a:lstStyle>
            <a:lvl1pPr marL="0" indent="0" algn="ctr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None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Symbol" pitchFamily="18" charset="2"/>
              <a:buNone/>
              <a:defRPr sz="2200" b="1">
                <a:solidFill>
                  <a:schemeClr val="tx1"/>
                </a:solidFill>
                <a:latin typeface="+mn-lt"/>
              </a:defRPr>
            </a:lvl2pPr>
            <a:lvl3pPr marL="914400" indent="0" algn="ctr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64000"/>
              <a:buFont typeface="Symbol" pitchFamily="18" charset="2"/>
              <a:buNone/>
              <a:defRPr sz="2000" b="1">
                <a:solidFill>
                  <a:schemeClr val="tx1"/>
                </a:solidFill>
                <a:latin typeface="+mn-lt"/>
              </a:defRPr>
            </a:lvl3pPr>
            <a:lvl4pPr marL="1371600" indent="0" algn="ctr" rtl="0" eaLnBrk="0" fontAlgn="base" hangingPunct="0">
              <a:spcBef>
                <a:spcPct val="40000"/>
              </a:spcBef>
              <a:spcAft>
                <a:spcPct val="0"/>
              </a:spcAft>
              <a:buSzPct val="100000"/>
              <a:buNone/>
              <a:defRPr sz="2000" b="1">
                <a:solidFill>
                  <a:schemeClr val="tx1"/>
                </a:solidFill>
                <a:latin typeface="+mn-lt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None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286000" indent="0" algn="ctr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None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743200" indent="0" algn="ctr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None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200400" indent="0" algn="ctr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None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657600" indent="0" algn="ctr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None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defRPr/>
            </a:pPr>
            <a:r>
              <a:rPr lang="ko-KR" altLang="en-US" sz="2800" kern="0" dirty="0"/>
              <a:t>분산분석의 개념</a:t>
            </a:r>
          </a:p>
          <a:p>
            <a:pPr eaLnBrk="1" hangingPunct="1">
              <a:defRPr/>
            </a:pPr>
            <a:r>
              <a:rPr lang="ko-KR" altLang="en-US" sz="2800" kern="0" dirty="0"/>
              <a:t>일원배치 분산분석</a:t>
            </a:r>
            <a:endParaRPr lang="en-US" altLang="ko-KR" sz="2800" kern="0" dirty="0"/>
          </a:p>
          <a:p>
            <a:pPr eaLnBrk="1" hangingPunct="1">
              <a:defRPr/>
            </a:pPr>
            <a:r>
              <a:rPr lang="ko-KR" altLang="en-US" sz="2800" kern="0" dirty="0"/>
              <a:t>사후분석</a:t>
            </a:r>
            <a:endParaRPr lang="en-US" altLang="ko-KR" sz="2800" kern="0" dirty="0"/>
          </a:p>
          <a:p>
            <a:pPr eaLnBrk="1" hangingPunct="1">
              <a:defRPr/>
            </a:pPr>
            <a:r>
              <a:rPr lang="ko-KR" altLang="en-US" sz="2800" kern="0" dirty="0"/>
              <a:t>교호작용의</a:t>
            </a:r>
            <a:r>
              <a:rPr lang="en-US" altLang="ko-KR" sz="2800" kern="0" dirty="0"/>
              <a:t> </a:t>
            </a:r>
            <a:r>
              <a:rPr lang="ko-KR" altLang="en-US" sz="2800" kern="0" dirty="0"/>
              <a:t>의미</a:t>
            </a:r>
          </a:p>
          <a:p>
            <a:pPr eaLnBrk="1" hangingPunct="1">
              <a:defRPr/>
            </a:pPr>
            <a:r>
              <a:rPr lang="ko-KR" altLang="en-US" sz="2800" kern="0" dirty="0"/>
              <a:t>이원배치 분산분석</a:t>
            </a:r>
          </a:p>
          <a:p>
            <a:pPr eaLnBrk="1" hangingPunct="1">
              <a:defRPr/>
            </a:pPr>
            <a:r>
              <a:rPr lang="ko-KR" altLang="en-US" sz="2800" kern="0" dirty="0"/>
              <a:t>자료 실습 </a:t>
            </a:r>
          </a:p>
        </p:txBody>
      </p:sp>
    </p:spTree>
  </p:cSld>
  <p:clrMapOvr>
    <a:masterClrMapping/>
  </p:clrMapOvr>
  <p:transition spd="med">
    <p:fade thruBlk="1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06E7F74F-DED2-F066-8408-595F81C2F0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7673" y="115707"/>
            <a:ext cx="6913563" cy="369887"/>
          </a:xfrm>
        </p:spPr>
        <p:txBody>
          <a:bodyPr/>
          <a:lstStyle/>
          <a:p>
            <a:pPr eaLnBrk="1" hangingPunct="1"/>
            <a:r>
              <a:rPr lang="ko-KR" altLang="en-US" dirty="0" err="1">
                <a:solidFill>
                  <a:srgbClr val="000000"/>
                </a:solidFill>
              </a:rPr>
              <a:t>분산분석이란</a:t>
            </a:r>
            <a:r>
              <a:rPr lang="en-US" altLang="ko-KR" dirty="0">
                <a:solidFill>
                  <a:srgbClr val="000000"/>
                </a:solidFill>
              </a:rPr>
              <a:t>?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6387" name="Text Box 3">
            <a:extLst>
              <a:ext uri="{FF2B5EF4-FFF2-40B4-BE49-F238E27FC236}">
                <a16:creationId xmlns:a16="http://schemas.microsoft.com/office/drawing/2014/main" id="{D0B555CE-60F1-BDA1-76F3-E1D5C52E47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1412875"/>
            <a:ext cx="820737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0" hangingPunct="1">
              <a:spcBef>
                <a:spcPct val="50000"/>
              </a:spcBef>
            </a:pPr>
            <a:r>
              <a:rPr kumimoji="0" lang="ko-KR" altLang="en-US" b="1"/>
              <a:t>여러 공법에 의하여 생산되는 금속가공품의 인장강도를 비교하기 위하여 실험을 한 결과</a:t>
            </a:r>
            <a:r>
              <a:rPr kumimoji="0" lang="en-US" altLang="ko-KR" b="1"/>
              <a:t>,  </a:t>
            </a:r>
            <a:r>
              <a:rPr kumimoji="0" lang="ko-KR" altLang="en-US" b="1"/>
              <a:t>어떤 특정한 공법에서 인장강도가 높게 관측되었다고 하자</a:t>
            </a:r>
            <a:r>
              <a:rPr kumimoji="0" lang="en-US" altLang="ko-KR" b="1"/>
              <a:t>.  </a:t>
            </a:r>
            <a:endParaRPr kumimoji="0" lang="en-US" altLang="ko-KR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EB89AEFA-C4B2-3AFC-FAB2-2389D292F109}"/>
              </a:ext>
            </a:extLst>
          </p:cNvPr>
          <p:cNvGraphicFramePr>
            <a:graphicFrameLocks noGrp="1"/>
          </p:cNvGraphicFramePr>
          <p:nvPr/>
        </p:nvGraphicFramePr>
        <p:xfrm>
          <a:off x="1357313" y="2643188"/>
          <a:ext cx="6096000" cy="7413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681">
                <a:tc>
                  <a:txBody>
                    <a:bodyPr/>
                    <a:lstStyle/>
                    <a:p>
                      <a:pPr latinLnBrk="1"/>
                      <a:endParaRPr lang="ko-KR" altLang="en-US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공법 </a:t>
                      </a:r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ko-KR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공법</a:t>
                      </a:r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 B</a:t>
                      </a:r>
                      <a:endParaRPr lang="ko-KR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공법</a:t>
                      </a:r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 C</a:t>
                      </a:r>
                      <a:endParaRPr lang="ko-KR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평균</a:t>
                      </a:r>
                      <a:r>
                        <a:rPr lang="en-US" altLang="ko-KR" sz="1800" baseline="0" dirty="0"/>
                        <a:t> </a:t>
                      </a:r>
                      <a:endParaRPr lang="ko-KR" altLang="en-US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/>
                        <a:t>10</a:t>
                      </a:r>
                      <a:endParaRPr lang="ko-KR" altLang="en-US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/>
                        <a:t>30</a:t>
                      </a:r>
                      <a:endParaRPr lang="ko-KR" altLang="en-US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/>
                        <a:t>25</a:t>
                      </a:r>
                      <a:endParaRPr lang="ko-KR" altLang="en-US" sz="1800" dirty="0"/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8693" name="Text Box 3">
            <a:extLst>
              <a:ext uri="{FF2B5EF4-FFF2-40B4-BE49-F238E27FC236}">
                <a16:creationId xmlns:a16="http://schemas.microsoft.com/office/drawing/2014/main" id="{3EAF2DFE-CEBB-4D09-E5BD-DDB34C1269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625" y="3441700"/>
            <a:ext cx="82073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0" hangingPunct="1">
              <a:spcBef>
                <a:spcPct val="50000"/>
              </a:spcBef>
            </a:pPr>
            <a:r>
              <a:rPr kumimoji="0" lang="en-US" altLang="ko-KR" b="1"/>
              <a:t>Q)</a:t>
            </a:r>
            <a:r>
              <a:rPr kumimoji="0" lang="ko-KR" altLang="en-US" b="1"/>
              <a:t> 공법에 따라 인장강도의 차이가 있다고 결론 가능</a:t>
            </a:r>
            <a:r>
              <a:rPr kumimoji="0" lang="en-US" altLang="ko-KR" b="1"/>
              <a:t>?</a:t>
            </a:r>
          </a:p>
        </p:txBody>
      </p:sp>
      <p:sp>
        <p:nvSpPr>
          <p:cNvPr id="6" name="Text Box 3">
            <a:extLst>
              <a:ext uri="{FF2B5EF4-FFF2-40B4-BE49-F238E27FC236}">
                <a16:creationId xmlns:a16="http://schemas.microsoft.com/office/drawing/2014/main" id="{0913BB21-169C-0D4B-531C-F861E7B5A2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3933825"/>
            <a:ext cx="8207375" cy="78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0" hangingPunct="1">
              <a:spcBef>
                <a:spcPct val="50000"/>
              </a:spcBef>
            </a:pPr>
            <a:r>
              <a:rPr kumimoji="0" lang="en-US" altLang="ko-KR" b="1"/>
              <a:t>A) No, </a:t>
            </a:r>
            <a:r>
              <a:rPr kumimoji="0" lang="ko-KR" altLang="en-US" b="1"/>
              <a:t>공법에 기인할 수 있지만</a:t>
            </a:r>
            <a:r>
              <a:rPr kumimoji="0" lang="en-US" altLang="ko-KR" b="1"/>
              <a:t>, </a:t>
            </a:r>
            <a:r>
              <a:rPr kumimoji="0" lang="ko-KR" altLang="en-US" b="1"/>
              <a:t>그 이외의 다른 요인에 의해 생겨날 수도 있다</a:t>
            </a:r>
            <a:r>
              <a:rPr kumimoji="0" lang="en-US" altLang="ko-KR" b="1"/>
              <a:t>. </a:t>
            </a:r>
          </a:p>
          <a:p>
            <a:pPr eaLnBrk="1" latinLnBrk="0" hangingPunct="1">
              <a:spcBef>
                <a:spcPct val="50000"/>
              </a:spcBef>
            </a:pPr>
            <a:r>
              <a:rPr kumimoji="0" lang="en-US" altLang="ko-KR" b="1"/>
              <a:t>   </a:t>
            </a:r>
            <a:r>
              <a:rPr kumimoji="0" lang="ko-KR" altLang="en-US" b="1"/>
              <a:t>예</a:t>
            </a:r>
            <a:r>
              <a:rPr kumimoji="0" lang="en-US" altLang="ko-KR" b="1"/>
              <a:t>) </a:t>
            </a:r>
            <a:r>
              <a:rPr kumimoji="0" lang="ko-KR" altLang="en-US" b="1"/>
              <a:t>작업자의 작업능률의 차이</a:t>
            </a:r>
            <a:r>
              <a:rPr kumimoji="0" lang="en-US" altLang="ko-KR" b="1"/>
              <a:t> </a:t>
            </a:r>
          </a:p>
        </p:txBody>
      </p:sp>
      <p:sp>
        <p:nvSpPr>
          <p:cNvPr id="7" name="Text Box 3">
            <a:extLst>
              <a:ext uri="{FF2B5EF4-FFF2-40B4-BE49-F238E27FC236}">
                <a16:creationId xmlns:a16="http://schemas.microsoft.com/office/drawing/2014/main" id="{E9A55BEB-6A18-2A40-4C97-2B2D6F5BA4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4868863"/>
            <a:ext cx="820737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0" hangingPunct="1">
              <a:spcBef>
                <a:spcPct val="50000"/>
              </a:spcBef>
            </a:pPr>
            <a:r>
              <a:rPr kumimoji="0" lang="ko-KR" altLang="en-US" b="1"/>
              <a:t>해결방법</a:t>
            </a:r>
            <a:r>
              <a:rPr kumimoji="0" lang="en-US" altLang="ko-KR" b="1"/>
              <a:t>) </a:t>
            </a:r>
            <a:r>
              <a:rPr kumimoji="0" lang="ko-KR" altLang="en-US" b="1"/>
              <a:t>공법에 따른 인장강도의 차이가 있는가를 알아내기 위해서는 각 공법마다 여러 번의 실험이 이루어져야 한다</a:t>
            </a:r>
            <a:r>
              <a:rPr kumimoji="0" lang="en-US" altLang="ko-KR" b="1"/>
              <a:t>. </a:t>
            </a:r>
            <a:r>
              <a:rPr kumimoji="0" lang="ko-KR" altLang="en-US" b="1"/>
              <a:t> </a:t>
            </a:r>
            <a:endParaRPr kumimoji="0" lang="en-US" altLang="ko-K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6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6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93" grpId="0"/>
      <p:bldP spid="6" grpId="0"/>
      <p:bldP spid="7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3B0980BA-6082-CD3A-10A1-307AC5C400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5425" y="100031"/>
            <a:ext cx="6913563" cy="369887"/>
          </a:xfrm>
        </p:spPr>
        <p:txBody>
          <a:bodyPr/>
          <a:lstStyle/>
          <a:p>
            <a:pPr eaLnBrk="1" hangingPunct="1"/>
            <a:r>
              <a:rPr lang="ko-KR" altLang="en-US" dirty="0" err="1"/>
              <a:t>분산분석이란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17411" name="Text Box 3">
            <a:extLst>
              <a:ext uri="{FF2B5EF4-FFF2-40B4-BE49-F238E27FC236}">
                <a16:creationId xmlns:a16="http://schemas.microsoft.com/office/drawing/2014/main" id="{C9AB40E2-CB41-EA51-50AB-44639C2DDA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625" y="1143000"/>
            <a:ext cx="8207375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0" hangingPunct="1">
              <a:spcBef>
                <a:spcPct val="50000"/>
              </a:spcBef>
            </a:pPr>
            <a:r>
              <a:rPr kumimoji="0" lang="ko-KR" altLang="en-US" b="1"/>
              <a:t>반복실험</a:t>
            </a:r>
            <a:r>
              <a:rPr kumimoji="0" lang="en-US" altLang="ko-KR" b="1"/>
              <a:t>; </a:t>
            </a:r>
            <a:r>
              <a:rPr kumimoji="0" lang="ko-KR" altLang="en-US" b="1"/>
              <a:t>한 공법에 여러 명의 작업자를 할당하거나 한 작업자가 여러 번 실험</a:t>
            </a:r>
            <a:r>
              <a:rPr kumimoji="0" lang="en-US" altLang="ko-KR" b="1"/>
              <a:t> 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0315C28A-255D-0466-06DD-C11A64AE8287}"/>
              </a:ext>
            </a:extLst>
          </p:cNvPr>
          <p:cNvGraphicFramePr>
            <a:graphicFrameLocks noGrp="1"/>
          </p:cNvGraphicFramePr>
          <p:nvPr/>
        </p:nvGraphicFramePr>
        <p:xfrm>
          <a:off x="1042988" y="2205038"/>
          <a:ext cx="6096000" cy="1468615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13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&lt;</a:t>
                      </a:r>
                      <a:r>
                        <a:rPr kumimoji="0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예</a:t>
                      </a:r>
                      <a:r>
                        <a:rPr kumimoji="0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1&gt;</a:t>
                      </a:r>
                      <a:endParaRPr kumimoji="0" lang="ko-KR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공법 </a:t>
                      </a:r>
                      <a:r>
                        <a:rPr kumimoji="0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A</a:t>
                      </a:r>
                      <a:endParaRPr kumimoji="0" lang="ko-KR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공법</a:t>
                      </a:r>
                      <a:r>
                        <a:rPr kumimoji="0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B</a:t>
                      </a:r>
                      <a:endParaRPr kumimoji="0" lang="ko-KR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공법</a:t>
                      </a:r>
                      <a:r>
                        <a:rPr kumimoji="0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C</a:t>
                      </a:r>
                      <a:endParaRPr kumimoji="0" lang="ko-KR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6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5</a:t>
                      </a:r>
                      <a:endParaRPr kumimoji="0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25</a:t>
                      </a:r>
                      <a:endParaRPr kumimoji="0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45</a:t>
                      </a:r>
                      <a:endParaRPr kumimoji="0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CD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6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</a:t>
                      </a:r>
                      <a:endParaRPr kumimoji="0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15</a:t>
                      </a:r>
                      <a:endParaRPr kumimoji="0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35</a:t>
                      </a:r>
                      <a:endParaRPr kumimoji="0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5</a:t>
                      </a:r>
                      <a:endParaRPr kumimoji="0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8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6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평균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10</a:t>
                      </a:r>
                      <a:endParaRPr kumimoji="0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30</a:t>
                      </a:r>
                      <a:endParaRPr kumimoji="0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25</a:t>
                      </a:r>
                      <a:endParaRPr kumimoji="0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CD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ADA7CDF2-7361-B21D-ECDB-551BC206D383}"/>
              </a:ext>
            </a:extLst>
          </p:cNvPr>
          <p:cNvGraphicFramePr>
            <a:graphicFrameLocks noGrp="1"/>
          </p:cNvGraphicFramePr>
          <p:nvPr/>
        </p:nvGraphicFramePr>
        <p:xfrm>
          <a:off x="1285875" y="4857750"/>
          <a:ext cx="6096000" cy="1468615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13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&lt;</a:t>
                      </a:r>
                      <a:r>
                        <a:rPr kumimoji="0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예</a:t>
                      </a:r>
                      <a:r>
                        <a:rPr kumimoji="0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2&gt;</a:t>
                      </a:r>
                      <a:endParaRPr kumimoji="0" lang="ko-KR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공법 </a:t>
                      </a:r>
                      <a:r>
                        <a:rPr kumimoji="0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A</a:t>
                      </a:r>
                      <a:endParaRPr kumimoji="0" lang="ko-KR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공법</a:t>
                      </a:r>
                      <a:r>
                        <a:rPr kumimoji="0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B</a:t>
                      </a:r>
                      <a:endParaRPr kumimoji="0" lang="ko-KR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공법</a:t>
                      </a:r>
                      <a:r>
                        <a:rPr kumimoji="0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C</a:t>
                      </a:r>
                      <a:endParaRPr kumimoji="0" lang="ko-KR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6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9</a:t>
                      </a:r>
                      <a:endParaRPr kumimoji="0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30</a:t>
                      </a:r>
                      <a:endParaRPr kumimoji="0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26</a:t>
                      </a:r>
                      <a:endParaRPr kumimoji="0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CD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6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</a:t>
                      </a:r>
                      <a:endParaRPr kumimoji="0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11</a:t>
                      </a:r>
                      <a:endParaRPr kumimoji="0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30</a:t>
                      </a:r>
                      <a:endParaRPr kumimoji="0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24</a:t>
                      </a:r>
                      <a:endParaRPr kumimoji="0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8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6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평균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10</a:t>
                      </a:r>
                      <a:endParaRPr kumimoji="0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30</a:t>
                      </a:r>
                      <a:endParaRPr kumimoji="0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25</a:t>
                      </a:r>
                      <a:endParaRPr kumimoji="0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CD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모서리가 둥근 사각형 설명선 6">
            <a:extLst>
              <a:ext uri="{FF2B5EF4-FFF2-40B4-BE49-F238E27FC236}">
                <a16:creationId xmlns:a16="http://schemas.microsoft.com/office/drawing/2014/main" id="{23CF1327-F4EC-C846-C773-48826CFEE13D}"/>
              </a:ext>
            </a:extLst>
          </p:cNvPr>
          <p:cNvSpPr/>
          <p:nvPr/>
        </p:nvSpPr>
        <p:spPr bwMode="auto">
          <a:xfrm>
            <a:off x="2843213" y="3789363"/>
            <a:ext cx="5929312" cy="500062"/>
          </a:xfrm>
          <a:prstGeom prst="wedgeRoundRectCallout">
            <a:avLst>
              <a:gd name="adj1" fmla="val 13883"/>
              <a:gd name="adj2" fmla="val -220073"/>
              <a:gd name="adj3" fmla="val 16667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latinLnBrk="0">
              <a:defRPr/>
            </a:pPr>
            <a:endParaRPr kumimoji="0" lang="ko-KR" altLang="en-US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17467" name="TextBox 7">
            <a:extLst>
              <a:ext uri="{FF2B5EF4-FFF2-40B4-BE49-F238E27FC236}">
                <a16:creationId xmlns:a16="http://schemas.microsoft.com/office/drawing/2014/main" id="{4F64DCD7-5E87-4263-E376-8FA7802B5C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6238" y="3860800"/>
            <a:ext cx="60007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0" hangingPunct="1"/>
            <a:r>
              <a:rPr kumimoji="0" lang="ko-KR" altLang="en-US" b="1"/>
              <a:t>자료들의 변동은 작업자의 작업능률의 차이에 의한 변동</a:t>
            </a:r>
            <a:endParaRPr kumimoji="0" lang="ko-KR" altLang="en-US"/>
          </a:p>
        </p:txBody>
      </p:sp>
      <p:sp>
        <p:nvSpPr>
          <p:cNvPr id="9" name="모서리가 둥근 사각형 설명선 8">
            <a:extLst>
              <a:ext uri="{FF2B5EF4-FFF2-40B4-BE49-F238E27FC236}">
                <a16:creationId xmlns:a16="http://schemas.microsoft.com/office/drawing/2014/main" id="{BE3823FD-26E0-7C2C-A2E7-9FCAB1BF48C5}"/>
              </a:ext>
            </a:extLst>
          </p:cNvPr>
          <p:cNvSpPr/>
          <p:nvPr/>
        </p:nvSpPr>
        <p:spPr bwMode="auto">
          <a:xfrm>
            <a:off x="0" y="4429125"/>
            <a:ext cx="5724525" cy="571500"/>
          </a:xfrm>
          <a:prstGeom prst="wedgeRoundRectCallout">
            <a:avLst>
              <a:gd name="adj1" fmla="val 38984"/>
              <a:gd name="adj2" fmla="val 175568"/>
              <a:gd name="adj3" fmla="val 16667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latinLnBrk="0">
              <a:defRPr/>
            </a:pPr>
            <a:endParaRPr kumimoji="0" lang="ko-KR" altLang="en-US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17469" name="TextBox 11">
            <a:extLst>
              <a:ext uri="{FF2B5EF4-FFF2-40B4-BE49-F238E27FC236}">
                <a16:creationId xmlns:a16="http://schemas.microsoft.com/office/drawing/2014/main" id="{A1F37051-69F8-4923-1586-B072D895DA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875" y="4572000"/>
            <a:ext cx="57245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0" hangingPunct="1"/>
            <a:r>
              <a:rPr kumimoji="0" lang="ko-KR" altLang="en-US" b="1"/>
              <a:t>자료들의 변동은 공법에 따른 인장강도의 변동</a:t>
            </a:r>
            <a:endParaRPr kumimoji="0" lang="en-US" altLang="ko-KR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CFB39162-DC6C-9762-03AE-5D1C3E6C53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1998" y="117475"/>
            <a:ext cx="6913563" cy="369887"/>
          </a:xfrm>
        </p:spPr>
        <p:txBody>
          <a:bodyPr/>
          <a:lstStyle/>
          <a:p>
            <a:pPr eaLnBrk="1" hangingPunct="1"/>
            <a:r>
              <a:rPr lang="ko-KR" altLang="en-US" dirty="0" err="1"/>
              <a:t>분산분석이란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18435" name="Text Box 3">
            <a:extLst>
              <a:ext uri="{FF2B5EF4-FFF2-40B4-BE49-F238E27FC236}">
                <a16:creationId xmlns:a16="http://schemas.microsoft.com/office/drawing/2014/main" id="{DA29ACEC-0930-B268-A906-0556FD8E56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1412875"/>
            <a:ext cx="8207375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0" hangingPunct="1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kumimoji="0" lang="ko-KR" altLang="en-US" b="1"/>
              <a:t>실험계획법에서 가장 많이 사용되는 분석 방법</a:t>
            </a:r>
            <a:endParaRPr kumimoji="0" lang="en-US" altLang="ko-KR" b="1"/>
          </a:p>
          <a:p>
            <a:pPr eaLnBrk="1" latinLnBrk="0" hangingPunct="1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kumimoji="0" lang="ko-KR" altLang="en-US" b="1"/>
              <a:t>두 모평균의 차에 대한 검정의 확장</a:t>
            </a:r>
            <a:endParaRPr kumimoji="0" lang="en-US" altLang="ko-KR" b="1"/>
          </a:p>
          <a:p>
            <a:pPr eaLnBrk="1" latinLnBrk="0" hangingPunct="1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kumimoji="0" lang="ko-KR" altLang="en-US" b="1"/>
              <a:t>특성값의 분산 또는 변동을 분석하는 방법</a:t>
            </a:r>
            <a:endParaRPr kumimoji="0" lang="en-US" altLang="ko-KR"/>
          </a:p>
        </p:txBody>
      </p:sp>
      <p:sp>
        <p:nvSpPr>
          <p:cNvPr id="18436" name="Text Box 3">
            <a:extLst>
              <a:ext uri="{FF2B5EF4-FFF2-40B4-BE49-F238E27FC236}">
                <a16:creationId xmlns:a16="http://schemas.microsoft.com/office/drawing/2014/main" id="{B37DD34C-2AB7-D75C-F5DB-586A540552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625" y="3441700"/>
            <a:ext cx="820737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0" hangingPunct="1">
              <a:spcBef>
                <a:spcPct val="50000"/>
              </a:spcBef>
            </a:pPr>
            <a:r>
              <a:rPr kumimoji="0" lang="ko-KR" altLang="en-US" b="1"/>
              <a:t>원리</a:t>
            </a:r>
            <a:r>
              <a:rPr kumimoji="0" lang="en-US" altLang="ko-KR" b="1"/>
              <a:t>)</a:t>
            </a:r>
            <a:r>
              <a:rPr kumimoji="0" lang="ko-KR" altLang="en-US" b="1"/>
              <a:t> 제곱합</a:t>
            </a:r>
            <a:r>
              <a:rPr kumimoji="0" lang="en-US" altLang="ko-KR" b="1"/>
              <a:t>(</a:t>
            </a:r>
            <a:r>
              <a:rPr kumimoji="0" lang="ko-KR" altLang="en-US" b="1"/>
              <a:t>특성값의 변동</a:t>
            </a:r>
            <a:r>
              <a:rPr kumimoji="0" lang="en-US" altLang="ko-KR" b="1"/>
              <a:t>)</a:t>
            </a:r>
            <a:r>
              <a:rPr kumimoji="0" lang="ko-KR" altLang="en-US" b="1"/>
              <a:t>을 실험에 관련된 요인별로 분해하여</a:t>
            </a:r>
            <a:r>
              <a:rPr kumimoji="0" lang="en-US" altLang="ko-KR" b="1"/>
              <a:t>, </a:t>
            </a:r>
            <a:r>
              <a:rPr kumimoji="0" lang="ko-KR" altLang="en-US" b="1"/>
              <a:t>오차에 비해 큰 영향을 주는 요인이 무엇인지를 찾아내는 분석 방법</a:t>
            </a:r>
            <a:endParaRPr kumimoji="0" lang="en-US" altLang="ko-KR" b="1"/>
          </a:p>
        </p:txBody>
      </p:sp>
      <p:sp>
        <p:nvSpPr>
          <p:cNvPr id="18437" name="타원 5">
            <a:extLst>
              <a:ext uri="{FF2B5EF4-FFF2-40B4-BE49-F238E27FC236}">
                <a16:creationId xmlns:a16="http://schemas.microsoft.com/office/drawing/2014/main" id="{C0F68854-810E-4BA7-5031-EACD0884C4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4500" y="4857750"/>
            <a:ext cx="5500688" cy="1071563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0" hangingPunct="1"/>
            <a:endParaRPr kumimoji="0" lang="ko-KR" altLang="en-US"/>
          </a:p>
        </p:txBody>
      </p:sp>
      <p:sp>
        <p:nvSpPr>
          <p:cNvPr id="18438" name="자유형 9">
            <a:extLst>
              <a:ext uri="{FF2B5EF4-FFF2-40B4-BE49-F238E27FC236}">
                <a16:creationId xmlns:a16="http://schemas.microsoft.com/office/drawing/2014/main" id="{6AC8EB46-B2BC-039E-2560-9A17A3CAC7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5663" y="4902200"/>
            <a:ext cx="804862" cy="1027113"/>
          </a:xfrm>
          <a:custGeom>
            <a:avLst/>
            <a:gdLst>
              <a:gd name="T0" fmla="*/ 0 w 805775"/>
              <a:gd name="T1" fmla="*/ 0 h 1130030"/>
              <a:gd name="T2" fmla="*/ 717273 w 805775"/>
              <a:gd name="T3" fmla="*/ 94942 h 1130030"/>
              <a:gd name="T4" fmla="*/ 449491 w 805775"/>
              <a:gd name="T5" fmla="*/ 223637 h 1130030"/>
              <a:gd name="T6" fmla="*/ 439928 w 805775"/>
              <a:gd name="T7" fmla="*/ 223637 h 1130030"/>
              <a:gd name="T8" fmla="*/ 0 60000 65536"/>
              <a:gd name="T9" fmla="*/ 0 60000 65536"/>
              <a:gd name="T10" fmla="*/ 0 60000 65536"/>
              <a:gd name="T11" fmla="*/ 0 60000 65536"/>
              <a:gd name="T12" fmla="*/ 0 w 805775"/>
              <a:gd name="T13" fmla="*/ 0 h 1130030"/>
              <a:gd name="T14" fmla="*/ 805775 w 805775"/>
              <a:gd name="T15" fmla="*/ 1130030 h 113003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05775" h="1130030">
                <a:moveTo>
                  <a:pt x="0" y="0"/>
                </a:moveTo>
                <a:cubicBezTo>
                  <a:pt x="326687" y="132945"/>
                  <a:pt x="653375" y="265890"/>
                  <a:pt x="729575" y="437745"/>
                </a:cubicBezTo>
                <a:cubicBezTo>
                  <a:pt x="805775" y="609600"/>
                  <a:pt x="504217" y="932234"/>
                  <a:pt x="457200" y="1031132"/>
                </a:cubicBezTo>
                <a:cubicBezTo>
                  <a:pt x="410183" y="1130030"/>
                  <a:pt x="455579" y="1016540"/>
                  <a:pt x="447473" y="1031132"/>
                </a:cubicBezTo>
              </a:path>
            </a:pathLst>
          </a:cu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439" name="TextBox 10">
            <a:extLst>
              <a:ext uri="{FF2B5EF4-FFF2-40B4-BE49-F238E27FC236}">
                <a16:creationId xmlns:a16="http://schemas.microsoft.com/office/drawing/2014/main" id="{8485616C-B567-BFB1-A378-7DCC57E356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25" y="6000750"/>
            <a:ext cx="26431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latinLnBrk="0" hangingPunct="1"/>
            <a:r>
              <a:rPr kumimoji="0" lang="ko-KR" altLang="en-US" b="1"/>
              <a:t>총제곱합</a:t>
            </a:r>
          </a:p>
        </p:txBody>
      </p:sp>
      <p:sp>
        <p:nvSpPr>
          <p:cNvPr id="18440" name="TextBox 11">
            <a:extLst>
              <a:ext uri="{FF2B5EF4-FFF2-40B4-BE49-F238E27FC236}">
                <a16:creationId xmlns:a16="http://schemas.microsoft.com/office/drawing/2014/main" id="{5990A3EB-604A-537F-4214-8D5063BB5D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1688" y="5214938"/>
            <a:ext cx="1928812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0" hangingPunct="1"/>
            <a:r>
              <a:rPr kumimoji="0" lang="ko-KR" altLang="en-US" sz="1600" b="1"/>
              <a:t>요인에 의한 제곱합</a:t>
            </a:r>
          </a:p>
        </p:txBody>
      </p:sp>
      <p:sp>
        <p:nvSpPr>
          <p:cNvPr id="18441" name="TextBox 12">
            <a:extLst>
              <a:ext uri="{FF2B5EF4-FFF2-40B4-BE49-F238E27FC236}">
                <a16:creationId xmlns:a16="http://schemas.microsoft.com/office/drawing/2014/main" id="{84483F77-91E6-A6FF-ED4E-C0C0BCBEA1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5214938"/>
            <a:ext cx="1928813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0" hangingPunct="1"/>
            <a:r>
              <a:rPr kumimoji="0" lang="ko-KR" altLang="en-US" sz="1600" b="1"/>
              <a:t>오차에 의한 제곱합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EA6167FE-B910-EEC8-D6BE-22D4A1F24D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27" y="80962"/>
            <a:ext cx="4103687" cy="430213"/>
          </a:xfrm>
        </p:spPr>
        <p:txBody>
          <a:bodyPr/>
          <a:lstStyle/>
          <a:p>
            <a:pPr eaLnBrk="1" hangingPunct="1"/>
            <a:r>
              <a:rPr lang="ko-KR" altLang="en-US" sz="2800"/>
              <a:t>분산분석의 개념 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5BAEFF44-A5E9-4655-C654-00F86FC959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68313" y="1341438"/>
            <a:ext cx="8229600" cy="4603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ko-KR" altLang="en-US" sz="2000" b="1"/>
              <a:t>두개 이상</a:t>
            </a:r>
            <a:r>
              <a:rPr lang="en-US" altLang="ko-KR" sz="2000" b="1"/>
              <a:t>, </a:t>
            </a:r>
            <a:r>
              <a:rPr lang="ko-KR" altLang="en-US" sz="2000" b="1"/>
              <a:t>여러 모집단들의 평균을 비교하는 통계분석</a:t>
            </a:r>
            <a:endParaRPr lang="ko-KR" altLang="en-US" sz="2000"/>
          </a:p>
        </p:txBody>
      </p:sp>
      <p:sp>
        <p:nvSpPr>
          <p:cNvPr id="19460" name="Text Box 10">
            <a:extLst>
              <a:ext uri="{FF2B5EF4-FFF2-40B4-BE49-F238E27FC236}">
                <a16:creationId xmlns:a16="http://schemas.microsoft.com/office/drawing/2014/main" id="{F3E2192E-35E8-4254-719C-59CB3B8AD7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4868863"/>
            <a:ext cx="7848600" cy="147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ko-KR" b="1"/>
              <a:t> </a:t>
            </a:r>
            <a:r>
              <a:rPr lang="ko-KR" altLang="en-US" b="1"/>
              <a:t>분산분석에 사용되는 모형식 </a:t>
            </a:r>
            <a:r>
              <a:rPr lang="en-US" altLang="ko-KR" b="1"/>
              <a:t>:</a:t>
            </a:r>
            <a:r>
              <a:rPr lang="ko-KR" altLang="en-US" b="1"/>
              <a:t>하나의 종속변수와 하나 혹은 여러 개의</a:t>
            </a:r>
            <a:r>
              <a:rPr lang="en-US" altLang="ko-KR" b="1"/>
              <a:t>  </a:t>
            </a:r>
            <a:r>
              <a:rPr lang="ko-KR" altLang="en-US" b="1"/>
              <a:t>원인</a:t>
            </a:r>
            <a:r>
              <a:rPr lang="en-US" altLang="ko-KR" b="1"/>
              <a:t> </a:t>
            </a:r>
            <a:r>
              <a:rPr lang="ko-KR" altLang="en-US" b="1"/>
              <a:t>변수로 설정</a:t>
            </a:r>
          </a:p>
          <a:p>
            <a:pPr eaLnBrk="1" hangingPunct="1">
              <a:buFontTx/>
              <a:buChar char="•"/>
            </a:pPr>
            <a:r>
              <a:rPr lang="ko-KR" altLang="en-US" b="1"/>
              <a:t> 인자</a:t>
            </a:r>
            <a:r>
              <a:rPr lang="en-US" altLang="ko-KR" b="1"/>
              <a:t>(</a:t>
            </a:r>
            <a:r>
              <a:rPr lang="ko-KR" altLang="en-US" b="1"/>
              <a:t>요인</a:t>
            </a:r>
            <a:r>
              <a:rPr lang="en-US" altLang="ko-KR" b="1"/>
              <a:t>,factor),</a:t>
            </a:r>
            <a:r>
              <a:rPr lang="ko-KR" altLang="en-US" b="1"/>
              <a:t>집단</a:t>
            </a:r>
            <a:r>
              <a:rPr lang="en-US" altLang="ko-KR" b="1"/>
              <a:t>(group), </a:t>
            </a:r>
            <a:r>
              <a:rPr lang="ko-KR" altLang="en-US" b="1"/>
              <a:t>처리</a:t>
            </a:r>
            <a:r>
              <a:rPr lang="en-US" altLang="ko-KR" b="1"/>
              <a:t>(treatment) : </a:t>
            </a:r>
            <a:r>
              <a:rPr lang="ko-KR" altLang="en-US" b="1"/>
              <a:t>어떤 실험의 특성치에 </a:t>
            </a:r>
            <a:endParaRPr lang="en-US" altLang="ko-KR" b="1"/>
          </a:p>
          <a:p>
            <a:pPr eaLnBrk="1" hangingPunct="1"/>
            <a:r>
              <a:rPr lang="en-US" altLang="ko-KR" b="1"/>
              <a:t>  </a:t>
            </a:r>
            <a:r>
              <a:rPr lang="ko-KR" altLang="en-US" b="1"/>
              <a:t>영향을 주는 변수 </a:t>
            </a:r>
          </a:p>
          <a:p>
            <a:pPr eaLnBrk="1" hangingPunct="1">
              <a:buFontTx/>
              <a:buChar char="•"/>
            </a:pPr>
            <a:r>
              <a:rPr lang="ko-KR" altLang="en-US" b="1"/>
              <a:t> 인자</a:t>
            </a:r>
            <a:r>
              <a:rPr lang="en-US" altLang="ko-KR" b="1"/>
              <a:t>(</a:t>
            </a:r>
            <a:r>
              <a:rPr lang="ko-KR" altLang="en-US" b="1"/>
              <a:t>처리</a:t>
            </a:r>
            <a:r>
              <a:rPr lang="en-US" altLang="ko-KR" b="1"/>
              <a:t>,</a:t>
            </a:r>
            <a:r>
              <a:rPr lang="ko-KR" altLang="en-US" b="1"/>
              <a:t>집단</a:t>
            </a:r>
            <a:r>
              <a:rPr lang="en-US" altLang="ko-KR" b="1"/>
              <a:t>)</a:t>
            </a:r>
            <a:r>
              <a:rPr lang="ko-KR" altLang="en-US" b="1"/>
              <a:t>수준</a:t>
            </a:r>
            <a:r>
              <a:rPr lang="en-US" altLang="ko-KR" b="1"/>
              <a:t>(level) , : </a:t>
            </a:r>
            <a:r>
              <a:rPr lang="ko-KR" altLang="en-US" b="1"/>
              <a:t>각 인자의 실험 조건 </a:t>
            </a:r>
          </a:p>
        </p:txBody>
      </p:sp>
      <p:grpSp>
        <p:nvGrpSpPr>
          <p:cNvPr id="19461" name="Group 14">
            <a:extLst>
              <a:ext uri="{FF2B5EF4-FFF2-40B4-BE49-F238E27FC236}">
                <a16:creationId xmlns:a16="http://schemas.microsoft.com/office/drawing/2014/main" id="{D3B9A518-0549-1F21-7C53-A7C01782766A}"/>
              </a:ext>
            </a:extLst>
          </p:cNvPr>
          <p:cNvGrpSpPr>
            <a:grpSpLocks/>
          </p:cNvGrpSpPr>
          <p:nvPr/>
        </p:nvGrpSpPr>
        <p:grpSpPr bwMode="auto">
          <a:xfrm>
            <a:off x="827088" y="2060575"/>
            <a:ext cx="7200900" cy="2519363"/>
            <a:chOff x="521" y="1389"/>
            <a:chExt cx="4536" cy="1587"/>
          </a:xfrm>
        </p:grpSpPr>
        <p:sp>
          <p:nvSpPr>
            <p:cNvPr id="19462" name="AutoShape 4">
              <a:extLst>
                <a:ext uri="{FF2B5EF4-FFF2-40B4-BE49-F238E27FC236}">
                  <a16:creationId xmlns:a16="http://schemas.microsoft.com/office/drawing/2014/main" id="{039E8E82-22B7-9350-92F8-231A39F274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7" y="1389"/>
              <a:ext cx="1225" cy="317"/>
            </a:xfrm>
            <a:prstGeom prst="roundRect">
              <a:avLst>
                <a:gd name="adj" fmla="val 16667"/>
              </a:avLst>
            </a:prstGeom>
            <a:solidFill>
              <a:srgbClr val="FFCCFF"/>
            </a:solidFill>
            <a:ln>
              <a:noFill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hangingPunct="1"/>
              <a:r>
                <a:rPr lang="ko-KR" altLang="en-US" b="1"/>
                <a:t>특성치의 산포 </a:t>
              </a:r>
            </a:p>
          </p:txBody>
        </p:sp>
        <p:sp>
          <p:nvSpPr>
            <p:cNvPr id="19463" name="AutoShape 5">
              <a:extLst>
                <a:ext uri="{FF2B5EF4-FFF2-40B4-BE49-F238E27FC236}">
                  <a16:creationId xmlns:a16="http://schemas.microsoft.com/office/drawing/2014/main" id="{B09F0111-39EB-DC70-E923-3969C9DC4D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9" y="1389"/>
              <a:ext cx="2268" cy="317"/>
            </a:xfrm>
            <a:prstGeom prst="roundRect">
              <a:avLst>
                <a:gd name="adj" fmla="val 16667"/>
              </a:avLst>
            </a:prstGeom>
            <a:solidFill>
              <a:srgbClr val="FFCCFF"/>
            </a:solidFill>
            <a:ln>
              <a:noFill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hangingPunct="1"/>
              <a:r>
                <a:rPr lang="ko-KR" altLang="en-US" b="1"/>
                <a:t>제곱합</a:t>
              </a:r>
              <a:r>
                <a:rPr lang="en-US" altLang="ko-KR" b="1"/>
                <a:t>(sum of squares)</a:t>
              </a:r>
              <a:r>
                <a:rPr lang="ko-KR" altLang="en-US" b="1"/>
                <a:t>으로 표현</a:t>
              </a:r>
            </a:p>
          </p:txBody>
        </p:sp>
        <p:sp>
          <p:nvSpPr>
            <p:cNvPr id="19464" name="AutoShape 6">
              <a:extLst>
                <a:ext uri="{FF2B5EF4-FFF2-40B4-BE49-F238E27FC236}">
                  <a16:creationId xmlns:a16="http://schemas.microsoft.com/office/drawing/2014/main" id="{A0CF6B62-43D6-B238-6C5B-AB01610E40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8" y="2024"/>
              <a:ext cx="1406" cy="317"/>
            </a:xfrm>
            <a:prstGeom prst="roundRect">
              <a:avLst>
                <a:gd name="adj" fmla="val 16667"/>
              </a:avLst>
            </a:prstGeom>
            <a:solidFill>
              <a:srgbClr val="FFCCFF"/>
            </a:solidFill>
            <a:ln>
              <a:noFill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hangingPunct="1"/>
              <a:r>
                <a:rPr lang="ko-KR" altLang="en-US" b="1"/>
                <a:t>인자별로 분해</a:t>
              </a:r>
            </a:p>
          </p:txBody>
        </p:sp>
        <p:sp>
          <p:nvSpPr>
            <p:cNvPr id="19465" name="AutoShape 7">
              <a:extLst>
                <a:ext uri="{FF2B5EF4-FFF2-40B4-BE49-F238E27FC236}">
                  <a16:creationId xmlns:a16="http://schemas.microsoft.com/office/drawing/2014/main" id="{CC253290-8D48-FFC5-46BB-68CB524042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4" y="1434"/>
              <a:ext cx="318" cy="272"/>
            </a:xfrm>
            <a:prstGeom prst="rightArrow">
              <a:avLst>
                <a:gd name="adj1" fmla="val 50000"/>
                <a:gd name="adj2" fmla="val 29228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 b="1"/>
            </a:p>
          </p:txBody>
        </p:sp>
        <p:sp>
          <p:nvSpPr>
            <p:cNvPr id="19466" name="AutoShape 8">
              <a:extLst>
                <a:ext uri="{FF2B5EF4-FFF2-40B4-BE49-F238E27FC236}">
                  <a16:creationId xmlns:a16="http://schemas.microsoft.com/office/drawing/2014/main" id="{9DBBB7E6-FF37-D93A-F20C-CDAED04FD0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1752"/>
              <a:ext cx="317" cy="181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 b="1"/>
            </a:p>
          </p:txBody>
        </p:sp>
        <p:sp>
          <p:nvSpPr>
            <p:cNvPr id="19467" name="AutoShape 9">
              <a:extLst>
                <a:ext uri="{FF2B5EF4-FFF2-40B4-BE49-F238E27FC236}">
                  <a16:creationId xmlns:a16="http://schemas.microsoft.com/office/drawing/2014/main" id="{D05A4AA0-8039-52CC-B477-20B851F39D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1" y="1933"/>
              <a:ext cx="1905" cy="771"/>
            </a:xfrm>
            <a:prstGeom prst="wedgeRectCallout">
              <a:avLst>
                <a:gd name="adj1" fmla="val 83806"/>
                <a:gd name="adj2" fmla="val 58171"/>
              </a:avLst>
            </a:prstGeom>
            <a:solidFill>
              <a:srgbClr val="CCFFFF"/>
            </a:solidFill>
            <a:ln>
              <a:noFill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hangingPunct="1"/>
              <a:r>
                <a:rPr lang="ko-KR" altLang="en-US" b="1"/>
                <a:t>순수한 오차</a:t>
              </a:r>
              <a:r>
                <a:rPr lang="en-US" altLang="ko-KR" b="1"/>
                <a:t>(error)</a:t>
              </a:r>
              <a:r>
                <a:rPr lang="ko-KR" altLang="en-US" b="1"/>
                <a:t>에 의한 영향보다 </a:t>
              </a:r>
              <a:r>
                <a:rPr lang="ko-KR" altLang="en-US" b="1">
                  <a:solidFill>
                    <a:srgbClr val="FF6699"/>
                  </a:solidFill>
                </a:rPr>
                <a:t>큰 영향을 주는 </a:t>
              </a:r>
            </a:p>
            <a:p>
              <a:pPr algn="ctr" eaLnBrk="1" hangingPunct="1"/>
              <a:r>
                <a:rPr lang="ko-KR" altLang="en-US" b="1">
                  <a:solidFill>
                    <a:srgbClr val="FF6699"/>
                  </a:solidFill>
                </a:rPr>
                <a:t>인자가 어떤 것인가</a:t>
              </a:r>
              <a:r>
                <a:rPr lang="ko-KR" altLang="en-US" b="1"/>
                <a:t>를 </a:t>
              </a:r>
            </a:p>
            <a:p>
              <a:pPr algn="ctr" eaLnBrk="1" hangingPunct="1"/>
              <a:r>
                <a:rPr lang="ko-KR" altLang="en-US" b="1"/>
                <a:t>규명 하는 분석방법</a:t>
              </a:r>
            </a:p>
          </p:txBody>
        </p:sp>
        <p:sp>
          <p:nvSpPr>
            <p:cNvPr id="19468" name="AutoShape 11">
              <a:extLst>
                <a:ext uri="{FF2B5EF4-FFF2-40B4-BE49-F238E27FC236}">
                  <a16:creationId xmlns:a16="http://schemas.microsoft.com/office/drawing/2014/main" id="{29E2C42C-FF62-1561-83B5-872AC7A8A6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8" y="2659"/>
              <a:ext cx="1406" cy="317"/>
            </a:xfrm>
            <a:prstGeom prst="roundRect">
              <a:avLst>
                <a:gd name="adj" fmla="val 16667"/>
              </a:avLst>
            </a:prstGeom>
            <a:solidFill>
              <a:srgbClr val="FFCCFF"/>
            </a:solidFill>
            <a:ln>
              <a:noFill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hangingPunct="1"/>
              <a:r>
                <a:rPr lang="ko-KR" altLang="en-US" b="1"/>
                <a:t>분산분석 </a:t>
              </a:r>
            </a:p>
          </p:txBody>
        </p:sp>
        <p:sp>
          <p:nvSpPr>
            <p:cNvPr id="19469" name="AutoShape 13">
              <a:extLst>
                <a:ext uri="{FF2B5EF4-FFF2-40B4-BE49-F238E27FC236}">
                  <a16:creationId xmlns:a16="http://schemas.microsoft.com/office/drawing/2014/main" id="{15F12E2B-EA64-7760-9145-1E891F0989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2387"/>
              <a:ext cx="317" cy="181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 b="1"/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3">
            <a:extLst>
              <a:ext uri="{FF2B5EF4-FFF2-40B4-BE49-F238E27FC236}">
                <a16:creationId xmlns:a16="http://schemas.microsoft.com/office/drawing/2014/main" id="{515AF067-C181-1C47-763D-9980AD3888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925" y="1447800"/>
            <a:ext cx="7529513" cy="164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40000"/>
              </a:lnSpc>
            </a:pPr>
            <a:r>
              <a:rPr lang="ko-KR" altLang="en-US"/>
              <a:t>어떤 직물가공에서 처리액의 농도 </a:t>
            </a:r>
            <a:r>
              <a:rPr lang="en-US" altLang="ko-KR"/>
              <a:t>A </a:t>
            </a:r>
            <a:r>
              <a:rPr lang="ko-KR" altLang="en-US"/>
              <a:t>를 인자로 하여 </a:t>
            </a:r>
            <a:r>
              <a:rPr lang="en-US" altLang="ko-KR"/>
              <a:t>A</a:t>
            </a:r>
            <a:r>
              <a:rPr lang="en-US" altLang="ko-KR" baseline="-25000"/>
              <a:t>1</a:t>
            </a:r>
            <a:r>
              <a:rPr lang="en-US" altLang="ko-KR"/>
              <a:t>=3.0%, </a:t>
            </a:r>
          </a:p>
          <a:p>
            <a:pPr eaLnBrk="1" hangingPunct="1">
              <a:lnSpc>
                <a:spcPct val="140000"/>
              </a:lnSpc>
            </a:pPr>
            <a:r>
              <a:rPr lang="en-US" altLang="ko-KR"/>
              <a:t>    A</a:t>
            </a:r>
            <a:r>
              <a:rPr lang="en-US" altLang="ko-KR" baseline="-25000"/>
              <a:t>2</a:t>
            </a:r>
            <a:r>
              <a:rPr lang="en-US" altLang="ko-KR"/>
              <a:t>= 3.5%,  A</a:t>
            </a:r>
            <a:r>
              <a:rPr lang="en-US" altLang="ko-KR" baseline="-25000"/>
              <a:t>3 </a:t>
            </a:r>
            <a:r>
              <a:rPr lang="en-US" altLang="ko-KR"/>
              <a:t>= 4.0%,  A</a:t>
            </a:r>
            <a:r>
              <a:rPr lang="en-US" altLang="ko-KR" baseline="-25000"/>
              <a:t>4 </a:t>
            </a:r>
            <a:r>
              <a:rPr lang="en-US" altLang="ko-KR"/>
              <a:t>= 4.5% </a:t>
            </a:r>
            <a:r>
              <a:rPr lang="ko-KR" altLang="en-US"/>
              <a:t>의 수준으로 하여 실험을 한 결과</a:t>
            </a:r>
          </a:p>
          <a:p>
            <a:pPr eaLnBrk="1" hangingPunct="1">
              <a:lnSpc>
                <a:spcPct val="140000"/>
              </a:lnSpc>
            </a:pPr>
            <a:r>
              <a:rPr lang="ko-KR" altLang="en-US"/>
              <a:t>    인장하중(</a:t>
            </a:r>
            <a:r>
              <a:rPr lang="en-US" altLang="ko-KR"/>
              <a:t>kg)</a:t>
            </a:r>
            <a:r>
              <a:rPr lang="ko-KR" altLang="en-US"/>
              <a:t>의 측정데이터가 다음과 같다. 처리액 농도가 </a:t>
            </a:r>
          </a:p>
          <a:p>
            <a:pPr eaLnBrk="1" hangingPunct="1">
              <a:lnSpc>
                <a:spcPct val="140000"/>
              </a:lnSpc>
            </a:pPr>
            <a:r>
              <a:rPr lang="ko-KR" altLang="en-US"/>
              <a:t>    인장하중에 영향을 주는가를 검정하라.</a:t>
            </a:r>
          </a:p>
        </p:txBody>
      </p:sp>
      <p:sp>
        <p:nvSpPr>
          <p:cNvPr id="22531" name="Line 4">
            <a:extLst>
              <a:ext uri="{FF2B5EF4-FFF2-40B4-BE49-F238E27FC236}">
                <a16:creationId xmlns:a16="http://schemas.microsoft.com/office/drawing/2014/main" id="{D1061CE3-B06E-E510-E072-41CEDD95AE92}"/>
              </a:ext>
            </a:extLst>
          </p:cNvPr>
          <p:cNvSpPr>
            <a:spLocks noChangeShapeType="1"/>
          </p:cNvSpPr>
          <p:nvPr/>
        </p:nvSpPr>
        <p:spPr bwMode="auto">
          <a:xfrm>
            <a:off x="1844675" y="3817938"/>
            <a:ext cx="594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2532" name="Line 5">
            <a:extLst>
              <a:ext uri="{FF2B5EF4-FFF2-40B4-BE49-F238E27FC236}">
                <a16:creationId xmlns:a16="http://schemas.microsoft.com/office/drawing/2014/main" id="{AD79EEE3-C9A5-753E-33BD-B2FD5BBA6BE4}"/>
              </a:ext>
            </a:extLst>
          </p:cNvPr>
          <p:cNvSpPr>
            <a:spLocks noChangeShapeType="1"/>
          </p:cNvSpPr>
          <p:nvPr/>
        </p:nvSpPr>
        <p:spPr bwMode="auto">
          <a:xfrm>
            <a:off x="1844675" y="4275138"/>
            <a:ext cx="594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2533" name="Line 6">
            <a:extLst>
              <a:ext uri="{FF2B5EF4-FFF2-40B4-BE49-F238E27FC236}">
                <a16:creationId xmlns:a16="http://schemas.microsoft.com/office/drawing/2014/main" id="{B2B34303-B051-C2AA-6C32-13FC365D5510}"/>
              </a:ext>
            </a:extLst>
          </p:cNvPr>
          <p:cNvSpPr>
            <a:spLocks noChangeShapeType="1"/>
          </p:cNvSpPr>
          <p:nvPr/>
        </p:nvSpPr>
        <p:spPr bwMode="auto">
          <a:xfrm>
            <a:off x="1844675" y="5799138"/>
            <a:ext cx="594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2534" name="Rectangle 7">
            <a:extLst>
              <a:ext uri="{FF2B5EF4-FFF2-40B4-BE49-F238E27FC236}">
                <a16:creationId xmlns:a16="http://schemas.microsoft.com/office/drawing/2014/main" id="{7F2A5756-D9E3-BB53-A43A-3BA0AE1E0C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4675" y="3817938"/>
            <a:ext cx="5943600" cy="457200"/>
          </a:xfrm>
          <a:prstGeom prst="rect">
            <a:avLst/>
          </a:prstGeom>
          <a:solidFill>
            <a:srgbClr val="C0C0C0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endParaRPr lang="ko-KR" altLang="en-US"/>
          </a:p>
        </p:txBody>
      </p:sp>
      <p:sp>
        <p:nvSpPr>
          <p:cNvPr id="22535" name="Text Box 8">
            <a:extLst>
              <a:ext uri="{FF2B5EF4-FFF2-40B4-BE49-F238E27FC236}">
                <a16:creationId xmlns:a16="http://schemas.microsoft.com/office/drawing/2014/main" id="{78A399BE-D970-701F-0326-8877710CE8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0613" y="3398838"/>
            <a:ext cx="425450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lnSpc>
                <a:spcPct val="310000"/>
              </a:lnSpc>
            </a:pPr>
            <a:r>
              <a:rPr lang="en-US" altLang="ko-KR"/>
              <a:t>A</a:t>
            </a:r>
            <a:r>
              <a:rPr lang="en-US" altLang="ko-KR" baseline="-25000"/>
              <a:t>1</a:t>
            </a:r>
            <a:endParaRPr lang="ko-KR" altLang="en-US"/>
          </a:p>
        </p:txBody>
      </p:sp>
      <p:sp>
        <p:nvSpPr>
          <p:cNvPr id="22536" name="Text Box 9">
            <a:extLst>
              <a:ext uri="{FF2B5EF4-FFF2-40B4-BE49-F238E27FC236}">
                <a16:creationId xmlns:a16="http://schemas.microsoft.com/office/drawing/2014/main" id="{93B00267-A004-7A3C-F2FD-D82E96ABFF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28863" y="4287838"/>
            <a:ext cx="412750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ko-KR" altLang="en-US"/>
              <a:t>23</a:t>
            </a:r>
          </a:p>
          <a:p>
            <a:pPr eaLnBrk="1" hangingPunct="1"/>
            <a:r>
              <a:rPr lang="ko-KR" altLang="en-US"/>
              <a:t>23</a:t>
            </a:r>
          </a:p>
          <a:p>
            <a:pPr eaLnBrk="1" hangingPunct="1"/>
            <a:r>
              <a:rPr lang="ko-KR" altLang="en-US"/>
              <a:t>18</a:t>
            </a:r>
          </a:p>
          <a:p>
            <a:pPr eaLnBrk="1" hangingPunct="1"/>
            <a:r>
              <a:rPr lang="ko-KR" altLang="en-US"/>
              <a:t>15</a:t>
            </a:r>
          </a:p>
        </p:txBody>
      </p:sp>
      <p:sp>
        <p:nvSpPr>
          <p:cNvPr id="22537" name="Text Box 10">
            <a:extLst>
              <a:ext uri="{FF2B5EF4-FFF2-40B4-BE49-F238E27FC236}">
                <a16:creationId xmlns:a16="http://schemas.microsoft.com/office/drawing/2014/main" id="{88EE6CF6-5264-D338-23D6-D63D35D6BE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89350" y="3406775"/>
            <a:ext cx="425450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lnSpc>
                <a:spcPct val="310000"/>
              </a:lnSpc>
            </a:pPr>
            <a:r>
              <a:rPr lang="en-US" altLang="ko-KR"/>
              <a:t>A</a:t>
            </a:r>
            <a:r>
              <a:rPr lang="en-US" altLang="ko-KR" baseline="-25000"/>
              <a:t>2</a:t>
            </a:r>
            <a:endParaRPr lang="ko-KR" altLang="en-US"/>
          </a:p>
        </p:txBody>
      </p:sp>
      <p:sp>
        <p:nvSpPr>
          <p:cNvPr id="22538" name="Text Box 11">
            <a:extLst>
              <a:ext uri="{FF2B5EF4-FFF2-40B4-BE49-F238E27FC236}">
                <a16:creationId xmlns:a16="http://schemas.microsoft.com/office/drawing/2014/main" id="{A6352E18-9F0B-FA7F-BC51-F035285AE6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4295775"/>
            <a:ext cx="412750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ko-KR" altLang="en-US"/>
              <a:t>30</a:t>
            </a:r>
          </a:p>
          <a:p>
            <a:pPr eaLnBrk="1" hangingPunct="1"/>
            <a:r>
              <a:rPr lang="ko-KR" altLang="en-US"/>
              <a:t>28</a:t>
            </a:r>
          </a:p>
          <a:p>
            <a:pPr eaLnBrk="1" hangingPunct="1"/>
            <a:r>
              <a:rPr lang="ko-KR" altLang="en-US"/>
              <a:t>24</a:t>
            </a:r>
          </a:p>
        </p:txBody>
      </p:sp>
      <p:sp>
        <p:nvSpPr>
          <p:cNvPr id="22539" name="Text Box 12">
            <a:extLst>
              <a:ext uri="{FF2B5EF4-FFF2-40B4-BE49-F238E27FC236}">
                <a16:creationId xmlns:a16="http://schemas.microsoft.com/office/drawing/2014/main" id="{354F6F75-BAE0-C4F1-E223-B8504D5B89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0950" y="3406775"/>
            <a:ext cx="425450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lnSpc>
                <a:spcPct val="310000"/>
              </a:lnSpc>
            </a:pPr>
            <a:r>
              <a:rPr lang="en-US" altLang="ko-KR"/>
              <a:t>A</a:t>
            </a:r>
            <a:r>
              <a:rPr lang="en-US" altLang="ko-KR" baseline="-25000"/>
              <a:t>3</a:t>
            </a:r>
            <a:endParaRPr lang="ko-KR" altLang="en-US"/>
          </a:p>
        </p:txBody>
      </p:sp>
      <p:sp>
        <p:nvSpPr>
          <p:cNvPr id="22540" name="Text Box 13">
            <a:extLst>
              <a:ext uri="{FF2B5EF4-FFF2-40B4-BE49-F238E27FC236}">
                <a16:creationId xmlns:a16="http://schemas.microsoft.com/office/drawing/2014/main" id="{2688076F-E057-1412-D6F8-A65485BFF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4295775"/>
            <a:ext cx="412750" cy="1465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ko-KR" altLang="en-US"/>
              <a:t>18</a:t>
            </a:r>
          </a:p>
          <a:p>
            <a:pPr eaLnBrk="1" hangingPunct="1"/>
            <a:r>
              <a:rPr lang="ko-KR" altLang="en-US"/>
              <a:t>14</a:t>
            </a:r>
          </a:p>
          <a:p>
            <a:pPr eaLnBrk="1" hangingPunct="1"/>
            <a:r>
              <a:rPr lang="ko-KR" altLang="en-US"/>
              <a:t>20</a:t>
            </a:r>
          </a:p>
          <a:p>
            <a:pPr eaLnBrk="1" hangingPunct="1"/>
            <a:r>
              <a:rPr lang="ko-KR" altLang="en-US"/>
              <a:t>15</a:t>
            </a:r>
          </a:p>
          <a:p>
            <a:pPr eaLnBrk="1" hangingPunct="1"/>
            <a:endParaRPr lang="ko-KR" altLang="en-US"/>
          </a:p>
        </p:txBody>
      </p:sp>
      <p:sp>
        <p:nvSpPr>
          <p:cNvPr id="22541" name="Text Box 14">
            <a:extLst>
              <a:ext uri="{FF2B5EF4-FFF2-40B4-BE49-F238E27FC236}">
                <a16:creationId xmlns:a16="http://schemas.microsoft.com/office/drawing/2014/main" id="{A2D7C44F-42E3-3D93-AE03-356653BDFF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2550" y="3406775"/>
            <a:ext cx="425450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lnSpc>
                <a:spcPct val="310000"/>
              </a:lnSpc>
            </a:pPr>
            <a:r>
              <a:rPr lang="en-US" altLang="ko-KR"/>
              <a:t>A</a:t>
            </a:r>
            <a:r>
              <a:rPr lang="en-US" altLang="ko-KR" baseline="-25000"/>
              <a:t>4</a:t>
            </a:r>
            <a:endParaRPr lang="ko-KR" altLang="en-US"/>
          </a:p>
        </p:txBody>
      </p:sp>
      <p:sp>
        <p:nvSpPr>
          <p:cNvPr id="22542" name="Text Box 15">
            <a:extLst>
              <a:ext uri="{FF2B5EF4-FFF2-40B4-BE49-F238E27FC236}">
                <a16:creationId xmlns:a16="http://schemas.microsoft.com/office/drawing/2014/main" id="{838ACF40-8833-AE0F-121D-1EB65DC5DE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4295775"/>
            <a:ext cx="412750" cy="1465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ko-KR" altLang="en-US"/>
              <a:t>31</a:t>
            </a:r>
          </a:p>
          <a:p>
            <a:pPr eaLnBrk="1" hangingPunct="1"/>
            <a:r>
              <a:rPr lang="ko-KR" altLang="en-US"/>
              <a:t>24</a:t>
            </a:r>
          </a:p>
          <a:p>
            <a:pPr eaLnBrk="1" hangingPunct="1"/>
            <a:r>
              <a:rPr lang="ko-KR" altLang="en-US"/>
              <a:t>22</a:t>
            </a:r>
          </a:p>
          <a:p>
            <a:pPr eaLnBrk="1" hangingPunct="1"/>
            <a:r>
              <a:rPr lang="ko-KR" altLang="en-US"/>
              <a:t>28</a:t>
            </a:r>
          </a:p>
          <a:p>
            <a:pPr eaLnBrk="1" hangingPunct="1"/>
            <a:r>
              <a:rPr lang="ko-KR" altLang="en-US"/>
              <a:t>30</a:t>
            </a:r>
          </a:p>
        </p:txBody>
      </p:sp>
      <p:sp>
        <p:nvSpPr>
          <p:cNvPr id="2" name="Text Box 3">
            <a:extLst>
              <a:ext uri="{FF2B5EF4-FFF2-40B4-BE49-F238E27FC236}">
                <a16:creationId xmlns:a16="http://schemas.microsoft.com/office/drawing/2014/main" id="{6E5B9DB0-5CA9-0F2E-E075-9E3588EA60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89539"/>
            <a:ext cx="5990608" cy="3877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609600" indent="-609600" algn="l">
              <a:lnSpc>
                <a:spcPct val="80000"/>
              </a:lnSpc>
            </a:pPr>
            <a:r>
              <a:rPr lang="ko-KR" altLang="en-US" sz="2400" b="1" dirty="0" err="1">
                <a:latin typeface="HY바다L" pitchFamily="18" charset="-127"/>
                <a:ea typeface="HY바다L" pitchFamily="18" charset="-127"/>
              </a:rPr>
              <a:t>일원배치법</a:t>
            </a:r>
            <a:endParaRPr lang="en-US" altLang="ko-KR" sz="2400" dirty="0">
              <a:latin typeface="HY바다L" pitchFamily="18" charset="-127"/>
              <a:ea typeface="HY바다L" pitchFamily="18" charset="-127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2EBEA323-041D-216C-0211-F5A748C523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4071" y="76835"/>
            <a:ext cx="6913563" cy="430213"/>
          </a:xfrm>
        </p:spPr>
        <p:txBody>
          <a:bodyPr/>
          <a:lstStyle/>
          <a:p>
            <a:r>
              <a:rPr lang="ko-KR" altLang="en-US" dirty="0" err="1"/>
              <a:t>일원배치법</a:t>
            </a:r>
            <a:endParaRPr lang="ko-KR" altLang="en-US" sz="2800" dirty="0"/>
          </a:p>
        </p:txBody>
      </p:sp>
      <p:sp>
        <p:nvSpPr>
          <p:cNvPr id="24579" name="Rectangle 4">
            <a:extLst>
              <a:ext uri="{FF2B5EF4-FFF2-40B4-BE49-F238E27FC236}">
                <a16:creationId xmlns:a16="http://schemas.microsoft.com/office/drawing/2014/main" id="{80AB6D91-74D0-471B-5756-CAD3CECE88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5813" y="1143000"/>
            <a:ext cx="7416800" cy="2857500"/>
          </a:xfrm>
          <a:prstGeom prst="rect">
            <a:avLst/>
          </a:prstGeom>
          <a:solidFill>
            <a:srgbClr val="E9FFBF"/>
          </a:solidFill>
          <a:ln w="6350">
            <a:solidFill>
              <a:schemeClr val="accent2"/>
            </a:solidFill>
            <a:miter lim="800000"/>
            <a:headEnd/>
            <a:tailEnd/>
          </a:ln>
        </p:spPr>
        <p:txBody>
          <a:bodyPr/>
          <a:lstStyle>
            <a:lvl1pPr marL="609600" indent="-609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0" hangingPunct="1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None/>
            </a:pPr>
            <a:r>
              <a:rPr kumimoji="0" lang="ko-KR" altLang="en-US" b="1"/>
              <a:t>특성값에 대한 한 종류의 인자만의 영향을 조사</a:t>
            </a:r>
            <a:endParaRPr kumimoji="0" lang="en-US" altLang="ko-KR" b="1"/>
          </a:p>
          <a:p>
            <a:pPr eaLnBrk="1" latinLnBrk="0" hangingPunct="1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u"/>
            </a:pPr>
            <a:r>
              <a:rPr kumimoji="0" lang="ko-KR" altLang="en-US" b="1"/>
              <a:t>여러가지 공법에 의하여 생산되는 금속가공품의 인장강도에 차이</a:t>
            </a:r>
            <a:r>
              <a:rPr kumimoji="0" lang="en-US" altLang="ko-KR" b="1"/>
              <a:t>?</a:t>
            </a:r>
          </a:p>
          <a:p>
            <a:pPr eaLnBrk="1" latinLnBrk="0" hangingPunct="1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u"/>
            </a:pPr>
            <a:r>
              <a:rPr kumimoji="0" lang="ko-KR" altLang="en-US" b="1"/>
              <a:t>세 가지 제조업체에 따라 </a:t>
            </a:r>
            <a:r>
              <a:rPr kumimoji="0" lang="en-US" altLang="ko-KR" b="1"/>
              <a:t>(</a:t>
            </a:r>
            <a:r>
              <a:rPr kumimoji="0" lang="ko-KR" altLang="en-US" b="1"/>
              <a:t>평균</a:t>
            </a:r>
            <a:r>
              <a:rPr kumimoji="0" lang="en-US" altLang="ko-KR" b="1"/>
              <a:t>) </a:t>
            </a:r>
            <a:r>
              <a:rPr kumimoji="0" lang="ko-KR" altLang="en-US" b="1"/>
              <a:t>자동차의 수명이 다른가</a:t>
            </a:r>
            <a:r>
              <a:rPr kumimoji="0" lang="en-US" altLang="ko-KR" b="1"/>
              <a:t>?</a:t>
            </a:r>
          </a:p>
          <a:p>
            <a:pPr eaLnBrk="1" latinLnBrk="0" hangingPunct="1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None/>
            </a:pPr>
            <a:r>
              <a:rPr kumimoji="0" lang="en-US" altLang="ko-KR" b="1">
                <a:solidFill>
                  <a:srgbClr val="000099"/>
                </a:solidFill>
              </a:rPr>
              <a:t>		⇒     </a:t>
            </a:r>
            <a:r>
              <a:rPr kumimoji="0" lang="ko-KR" altLang="en-US" b="1">
                <a:solidFill>
                  <a:srgbClr val="000099"/>
                </a:solidFill>
              </a:rPr>
              <a:t>일원배치법 </a:t>
            </a:r>
            <a:r>
              <a:rPr kumimoji="0" lang="en-US" altLang="ko-KR" b="1">
                <a:solidFill>
                  <a:srgbClr val="000099"/>
                </a:solidFill>
              </a:rPr>
              <a:t>(One-Way ANOVA)</a:t>
            </a:r>
          </a:p>
        </p:txBody>
      </p:sp>
      <p:sp>
        <p:nvSpPr>
          <p:cNvPr id="24580" name="Rectangle 4">
            <a:extLst>
              <a:ext uri="{FF2B5EF4-FFF2-40B4-BE49-F238E27FC236}">
                <a16:creationId xmlns:a16="http://schemas.microsoft.com/office/drawing/2014/main" id="{2213BE3D-577E-89AA-38C9-26F891674D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5813" y="4214813"/>
            <a:ext cx="7416800" cy="2000250"/>
          </a:xfrm>
          <a:prstGeom prst="rect">
            <a:avLst/>
          </a:prstGeom>
          <a:solidFill>
            <a:srgbClr val="E9FFBF"/>
          </a:solidFill>
          <a:ln w="6350">
            <a:solidFill>
              <a:schemeClr val="accent2"/>
            </a:solidFill>
            <a:miter lim="800000"/>
            <a:headEnd/>
            <a:tailEnd/>
          </a:ln>
        </p:spPr>
        <p:txBody>
          <a:bodyPr/>
          <a:lstStyle>
            <a:lvl1pPr marL="609600" indent="-609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0" hangingPunct="1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u"/>
            </a:pPr>
            <a:r>
              <a:rPr kumimoji="0" lang="en-US" altLang="ko-KR" b="1"/>
              <a:t>3</a:t>
            </a:r>
            <a:r>
              <a:rPr kumimoji="0" lang="ko-KR" altLang="en-US" b="1"/>
              <a:t>개 이상의 처리효과를 비교하는데 사용</a:t>
            </a:r>
            <a:endParaRPr kumimoji="0" lang="en-US" altLang="ko-KR" b="1"/>
          </a:p>
          <a:p>
            <a:pPr eaLnBrk="1" latinLnBrk="0" hangingPunct="1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u"/>
            </a:pPr>
            <a:r>
              <a:rPr kumimoji="0" lang="ko-KR" altLang="en-US" b="1"/>
              <a:t>각 수준에서의 반복수는 같지 않아도 좋음</a:t>
            </a:r>
            <a:endParaRPr kumimoji="0" lang="en-US" altLang="ko-KR" b="1"/>
          </a:p>
          <a:p>
            <a:pPr eaLnBrk="1" latinLnBrk="0" hangingPunct="1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u"/>
            </a:pPr>
            <a:r>
              <a:rPr kumimoji="0" lang="ko-KR" altLang="en-US" b="1"/>
              <a:t>많이 사용되는 수준수는 </a:t>
            </a:r>
            <a:r>
              <a:rPr kumimoji="0" lang="en-US" altLang="ko-KR" b="1"/>
              <a:t>3-5</a:t>
            </a:r>
            <a:r>
              <a:rPr kumimoji="0" lang="ko-KR" altLang="en-US" b="1"/>
              <a:t>개</a:t>
            </a:r>
            <a:endParaRPr kumimoji="0" lang="en-US" altLang="ko-KR" b="1"/>
          </a:p>
          <a:p>
            <a:pPr eaLnBrk="1" latinLnBrk="0" hangingPunct="1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buSzPct val="80000"/>
            </a:pPr>
            <a:r>
              <a:rPr kumimoji="0" lang="en-US" altLang="ko-KR" b="1"/>
              <a:t>                        </a:t>
            </a:r>
            <a:r>
              <a:rPr kumimoji="0" lang="ko-KR" altLang="en-US" b="1"/>
              <a:t>반복수는 </a:t>
            </a:r>
            <a:r>
              <a:rPr kumimoji="0" lang="en-US" altLang="ko-KR" b="1"/>
              <a:t>3-10</a:t>
            </a:r>
            <a:r>
              <a:rPr kumimoji="0" lang="ko-KR" altLang="en-US" b="1"/>
              <a:t>개</a:t>
            </a:r>
            <a:endParaRPr kumimoji="0" lang="en-US" altLang="ko-KR" b="1">
              <a:solidFill>
                <a:srgbClr val="000099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6FD1C31C-2BB3-295E-9911-1503F2FBA6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653" y="72164"/>
            <a:ext cx="6913563" cy="369887"/>
          </a:xfrm>
        </p:spPr>
        <p:txBody>
          <a:bodyPr/>
          <a:lstStyle/>
          <a:p>
            <a:r>
              <a:rPr lang="ko-KR" altLang="en-US" dirty="0"/>
              <a:t>실험의 순서</a:t>
            </a:r>
          </a:p>
        </p:txBody>
      </p:sp>
      <p:sp>
        <p:nvSpPr>
          <p:cNvPr id="25603" name="Rectangle 4">
            <a:extLst>
              <a:ext uri="{FF2B5EF4-FFF2-40B4-BE49-F238E27FC236}">
                <a16:creationId xmlns:a16="http://schemas.microsoft.com/office/drawing/2014/main" id="{0100CD1D-D30C-6B26-8F25-BAD40B5503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7250" y="2286000"/>
            <a:ext cx="7416800" cy="1500188"/>
          </a:xfrm>
          <a:prstGeom prst="rect">
            <a:avLst/>
          </a:prstGeom>
          <a:solidFill>
            <a:srgbClr val="99CCFF"/>
          </a:solidFill>
          <a:ln w="6350">
            <a:solidFill>
              <a:schemeClr val="accent2"/>
            </a:solidFill>
            <a:miter lim="800000"/>
            <a:headEnd/>
            <a:tailEnd/>
          </a:ln>
        </p:spPr>
        <p:txBody>
          <a:bodyPr/>
          <a:lstStyle>
            <a:lvl1pPr marL="609600" indent="-609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0" hangingPunct="1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None/>
            </a:pPr>
            <a:r>
              <a:rPr kumimoji="0" lang="en-US" altLang="ko-KR" b="1"/>
              <a:t>A, B, C </a:t>
            </a:r>
            <a:r>
              <a:rPr kumimoji="0" lang="ko-KR" altLang="en-US" b="1"/>
              <a:t>세 공법에서 각각 </a:t>
            </a:r>
            <a:r>
              <a:rPr kumimoji="0" lang="en-US" altLang="ko-KR" b="1"/>
              <a:t>5</a:t>
            </a:r>
            <a:r>
              <a:rPr kumimoji="0" lang="ko-KR" altLang="en-US" b="1"/>
              <a:t>번의 반복인 일원배치법</a:t>
            </a:r>
            <a:endParaRPr kumimoji="0" lang="en-US" altLang="ko-KR" b="1"/>
          </a:p>
          <a:p>
            <a:pPr eaLnBrk="1" latinLnBrk="0" hangingPunct="1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None/>
            </a:pPr>
            <a:r>
              <a:rPr kumimoji="0" lang="en-US" altLang="ko-KR" b="1"/>
              <a:t> - </a:t>
            </a:r>
            <a:r>
              <a:rPr kumimoji="0" lang="ko-KR" altLang="en-US" b="1"/>
              <a:t>완전랜덤화하는 방법은 </a:t>
            </a:r>
            <a:r>
              <a:rPr kumimoji="0" lang="en-US" altLang="ko-KR" b="1"/>
              <a:t>3X5=15</a:t>
            </a:r>
            <a:r>
              <a:rPr kumimoji="0" lang="ko-KR" altLang="en-US" b="1"/>
              <a:t>개의 각 실험단위에</a:t>
            </a:r>
            <a:r>
              <a:rPr kumimoji="0" lang="en-US" altLang="ko-KR" b="1"/>
              <a:t> </a:t>
            </a:r>
            <a:r>
              <a:rPr kumimoji="0" lang="ko-KR" altLang="en-US" b="1"/>
              <a:t>번호를 부여하고</a:t>
            </a:r>
            <a:r>
              <a:rPr kumimoji="0" lang="en-US" altLang="ko-KR" b="1"/>
              <a:t>, </a:t>
            </a:r>
            <a:r>
              <a:rPr kumimoji="0" lang="ko-KR" altLang="en-US" b="1"/>
              <a:t>이를 랜덤하게 뽑아 실험 실시</a:t>
            </a:r>
            <a:endParaRPr kumimoji="0" lang="en-US" altLang="ko-KR" b="1">
              <a:solidFill>
                <a:srgbClr val="000099"/>
              </a:solidFill>
            </a:endParaRPr>
          </a:p>
        </p:txBody>
      </p:sp>
      <p:sp>
        <p:nvSpPr>
          <p:cNvPr id="25604" name="TextBox 3">
            <a:extLst>
              <a:ext uri="{FF2B5EF4-FFF2-40B4-BE49-F238E27FC236}">
                <a16:creationId xmlns:a16="http://schemas.microsoft.com/office/drawing/2014/main" id="{CB494F04-2B6A-963C-6571-846A04D3F6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813" y="1143000"/>
            <a:ext cx="721518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0" hangingPunct="1"/>
            <a:r>
              <a:rPr kumimoji="0" lang="ko-KR" altLang="en-US" b="1"/>
              <a:t>완전랜덤</a:t>
            </a:r>
            <a:r>
              <a:rPr kumimoji="0" lang="en-US" altLang="ko-KR" b="1"/>
              <a:t>(</a:t>
            </a:r>
            <a:r>
              <a:rPr kumimoji="0" lang="ko-KR" altLang="en-US" b="1"/>
              <a:t>확률</a:t>
            </a:r>
            <a:r>
              <a:rPr kumimoji="0" lang="en-US" altLang="ko-KR" b="1"/>
              <a:t>)</a:t>
            </a:r>
            <a:r>
              <a:rPr kumimoji="0" lang="ko-KR" altLang="en-US" b="1"/>
              <a:t>화계획</a:t>
            </a:r>
            <a:endParaRPr kumimoji="0" lang="en-US" altLang="ko-KR" b="1"/>
          </a:p>
          <a:p>
            <a:pPr eaLnBrk="1" latinLnBrk="0" hangingPunct="1"/>
            <a:r>
              <a:rPr kumimoji="0" lang="en-US" altLang="ko-KR" b="1"/>
              <a:t>  </a:t>
            </a:r>
            <a:r>
              <a:rPr kumimoji="0" lang="ko-KR" altLang="en-US" sz="2200" b="1"/>
              <a:t>실험이 랜덤하게 선택된 순서에 의해 시행되어야 한다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8235EEA4-BFCB-DE67-071D-52E818398C88}"/>
              </a:ext>
            </a:extLst>
          </p:cNvPr>
          <p:cNvGraphicFramePr>
            <a:graphicFrameLocks noGrp="1"/>
          </p:cNvGraphicFramePr>
          <p:nvPr/>
        </p:nvGraphicFramePr>
        <p:xfrm>
          <a:off x="1500188" y="4000500"/>
          <a:ext cx="6096000" cy="222567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94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공법 </a:t>
                      </a:r>
                      <a:r>
                        <a:rPr lang="en-US" altLang="ko-KR" sz="1800" dirty="0"/>
                        <a:t>A</a:t>
                      </a:r>
                      <a:endParaRPr lang="ko-KR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공법 </a:t>
                      </a:r>
                      <a:r>
                        <a:rPr lang="en-US" altLang="ko-KR" sz="1800" dirty="0"/>
                        <a:t>B</a:t>
                      </a:r>
                      <a:endParaRPr lang="ko-KR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공법 </a:t>
                      </a:r>
                      <a:r>
                        <a:rPr lang="en-US" altLang="ko-KR" sz="1800" dirty="0"/>
                        <a:t>C</a:t>
                      </a:r>
                      <a:endParaRPr lang="ko-KR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①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⑫</a:t>
                      </a:r>
                      <a:endParaRPr lang="ko-KR" altLang="en-US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⑬</a:t>
                      </a:r>
                      <a:endParaRPr lang="ko-KR" altLang="en-US" sz="1800" dirty="0"/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⑥</a:t>
                      </a:r>
                      <a:endParaRPr lang="ko-KR" altLang="en-US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③</a:t>
                      </a:r>
                      <a:endParaRPr lang="ko-KR" altLang="en-US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⑤ </a:t>
                      </a:r>
                      <a:endParaRPr lang="ko-KR" altLang="en-US" sz="1800" dirty="0"/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⑩</a:t>
                      </a:r>
                      <a:endParaRPr lang="ko-KR" altLang="en-US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⑨</a:t>
                      </a:r>
                      <a:endParaRPr lang="ko-KR" altLang="en-US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④</a:t>
                      </a:r>
                      <a:endParaRPr lang="ko-KR" altLang="en-US" sz="1800" dirty="0"/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⑪</a:t>
                      </a:r>
                      <a:endParaRPr lang="ko-KR" altLang="en-US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⑧</a:t>
                      </a:r>
                      <a:endParaRPr lang="ko-KR" altLang="en-US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⑮</a:t>
                      </a:r>
                      <a:endParaRPr lang="ko-KR" altLang="en-US" sz="1800" dirty="0"/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②</a:t>
                      </a:r>
                      <a:endParaRPr lang="ko-KR" altLang="en-US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⑦</a:t>
                      </a:r>
                      <a:endParaRPr lang="ko-KR" altLang="en-US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⑭</a:t>
                      </a:r>
                      <a:endParaRPr lang="ko-KR" alt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 Box 4">
            <a:extLst>
              <a:ext uri="{FF2B5EF4-FFF2-40B4-BE49-F238E27FC236}">
                <a16:creationId xmlns:a16="http://schemas.microsoft.com/office/drawing/2014/main" id="{C27C9D56-2E93-6E13-BF57-EF0AC7F10E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1700213"/>
            <a:ext cx="770572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0" hangingPunct="1">
              <a:spcBef>
                <a:spcPct val="50000"/>
              </a:spcBef>
              <a:buClr>
                <a:srgbClr val="993300"/>
              </a:buClr>
              <a:buFont typeface="Wingdings" panose="05000000000000000000" pitchFamily="2" charset="2"/>
              <a:buChar char="v"/>
            </a:pPr>
            <a:r>
              <a:rPr kumimoji="0" lang="en-US" altLang="ko-KR" b="1">
                <a:solidFill>
                  <a:srgbClr val="000099"/>
                </a:solidFill>
              </a:rPr>
              <a:t> (</a:t>
            </a:r>
            <a:r>
              <a:rPr kumimoji="0" lang="ko-KR" altLang="en-US" b="1">
                <a:solidFill>
                  <a:srgbClr val="000099"/>
                </a:solidFill>
              </a:rPr>
              <a:t>예제</a:t>
            </a:r>
            <a:r>
              <a:rPr kumimoji="0" lang="en-US" altLang="ko-KR" b="1">
                <a:solidFill>
                  <a:srgbClr val="000099"/>
                </a:solidFill>
              </a:rPr>
              <a:t>)</a:t>
            </a:r>
            <a:r>
              <a:rPr kumimoji="0" lang="en-US" altLang="ko-KR" sz="1400" b="1"/>
              <a:t>  </a:t>
            </a:r>
            <a:r>
              <a:rPr kumimoji="0" lang="ko-KR" altLang="en-US" b="1"/>
              <a:t>어떤 생산업체에서 작업시간대에 따라 생산량이 다른지 알고자 한다</a:t>
            </a:r>
            <a:r>
              <a:rPr kumimoji="0" lang="en-US" altLang="ko-KR" b="1"/>
              <a:t>. </a:t>
            </a:r>
            <a:r>
              <a:rPr kumimoji="0" lang="ko-KR" altLang="en-US" b="1"/>
              <a:t>작업 시간대를 오전</a:t>
            </a:r>
            <a:r>
              <a:rPr kumimoji="0" lang="en-US" altLang="ko-KR" b="1"/>
              <a:t>, </a:t>
            </a:r>
            <a:r>
              <a:rPr kumimoji="0" lang="ko-KR" altLang="en-US" b="1"/>
              <a:t>오후</a:t>
            </a:r>
            <a:r>
              <a:rPr kumimoji="0" lang="en-US" altLang="ko-KR" b="1"/>
              <a:t>, </a:t>
            </a:r>
            <a:r>
              <a:rPr kumimoji="0" lang="ko-KR" altLang="en-US" b="1"/>
              <a:t>야간</a:t>
            </a:r>
            <a:r>
              <a:rPr kumimoji="0" lang="en-US" altLang="ko-KR" b="1"/>
              <a:t>, </a:t>
            </a:r>
            <a:r>
              <a:rPr kumimoji="0" lang="ko-KR" altLang="en-US" b="1"/>
              <a:t>새벽으로 구분하여 각각 </a:t>
            </a:r>
            <a:r>
              <a:rPr kumimoji="0" lang="en-US" altLang="ko-KR" b="1"/>
              <a:t>8</a:t>
            </a:r>
            <a:r>
              <a:rPr kumimoji="0" lang="ko-KR" altLang="en-US" b="1"/>
              <a:t>개씩 표본 추출하였다</a:t>
            </a:r>
            <a:r>
              <a:rPr kumimoji="0" lang="en-US" altLang="ko-KR" b="1"/>
              <a:t>.</a:t>
            </a:r>
          </a:p>
        </p:txBody>
      </p:sp>
      <p:sp>
        <p:nvSpPr>
          <p:cNvPr id="26627" name="Rectangle 34">
            <a:extLst>
              <a:ext uri="{FF2B5EF4-FFF2-40B4-BE49-F238E27FC236}">
                <a16:creationId xmlns:a16="http://schemas.microsoft.com/office/drawing/2014/main" id="{F081B688-4914-AF79-1320-F491104433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2448" y="105257"/>
            <a:ext cx="6913563" cy="369887"/>
          </a:xfrm>
        </p:spPr>
        <p:txBody>
          <a:bodyPr/>
          <a:lstStyle/>
          <a:p>
            <a:r>
              <a:rPr lang="ko-KR" altLang="en-US" dirty="0"/>
              <a:t>일원 </a:t>
            </a:r>
            <a:r>
              <a:rPr lang="ko-KR" altLang="en-US" dirty="0" err="1"/>
              <a:t>배치법</a:t>
            </a:r>
            <a:r>
              <a:rPr lang="en-US" altLang="ko-KR" dirty="0"/>
              <a:t>(</a:t>
            </a:r>
            <a:r>
              <a:rPr lang="ko-KR" altLang="en-US" dirty="0"/>
              <a:t>자료 구조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D799379F-0EF9-23D0-59D7-ABA3D7383EB3}"/>
              </a:ext>
            </a:extLst>
          </p:cNvPr>
          <p:cNvGraphicFramePr>
            <a:graphicFrameLocks noGrp="1"/>
          </p:cNvGraphicFramePr>
          <p:nvPr/>
        </p:nvGraphicFramePr>
        <p:xfrm>
          <a:off x="1500188" y="2857500"/>
          <a:ext cx="6096000" cy="302748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753">
                <a:tc>
                  <a:txBody>
                    <a:bodyPr/>
                    <a:lstStyle/>
                    <a:p>
                      <a:pPr algn="ctr" latinLnBrk="1"/>
                      <a:endParaRPr lang="ko-KR" altLang="en-US" sz="1800" b="1" dirty="0"/>
                    </a:p>
                  </a:txBody>
                  <a:tcPr marT="45709" marB="45709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1" dirty="0"/>
                        <a:t>오 전</a:t>
                      </a:r>
                    </a:p>
                  </a:txBody>
                  <a:tcPr marT="45709" marB="45709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1" dirty="0"/>
                        <a:t>오 후</a:t>
                      </a:r>
                    </a:p>
                  </a:txBody>
                  <a:tcPr marT="45709" marB="45709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1" dirty="0"/>
                        <a:t>야간</a:t>
                      </a:r>
                    </a:p>
                  </a:txBody>
                  <a:tcPr marT="45709" marB="45709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1" dirty="0"/>
                        <a:t>새벽</a:t>
                      </a:r>
                    </a:p>
                  </a:txBody>
                  <a:tcPr marT="45709" marB="45709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800" b="1" dirty="0"/>
                    </a:p>
                  </a:txBody>
                  <a:tcPr marT="45709" marB="4570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5858">
                <a:tc>
                  <a:txBody>
                    <a:bodyPr/>
                    <a:lstStyle/>
                    <a:p>
                      <a:pPr algn="ctr" latinLnBrk="1"/>
                      <a:endParaRPr lang="ko-KR" altLang="en-US" sz="1800" b="1"/>
                    </a:p>
                  </a:txBody>
                  <a:tcPr marT="45709" marB="45709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/>
                        <a:t>75</a:t>
                      </a:r>
                    </a:p>
                    <a:p>
                      <a:pPr algn="ctr" latinLnBrk="1"/>
                      <a:r>
                        <a:rPr lang="en-US" altLang="ko-KR" sz="1800" b="1" dirty="0"/>
                        <a:t>70</a:t>
                      </a:r>
                    </a:p>
                    <a:p>
                      <a:pPr algn="ctr" latinLnBrk="1"/>
                      <a:r>
                        <a:rPr lang="en-US" altLang="ko-KR" sz="1800" b="1" dirty="0"/>
                        <a:t>66</a:t>
                      </a:r>
                    </a:p>
                    <a:p>
                      <a:pPr algn="ctr" latinLnBrk="1"/>
                      <a:r>
                        <a:rPr lang="en-US" altLang="ko-KR" sz="1800" b="1" dirty="0"/>
                        <a:t>69</a:t>
                      </a:r>
                    </a:p>
                    <a:p>
                      <a:pPr algn="ctr" latinLnBrk="1"/>
                      <a:r>
                        <a:rPr lang="en-US" altLang="ko-KR" sz="1800" b="1" dirty="0"/>
                        <a:t>77</a:t>
                      </a:r>
                    </a:p>
                    <a:p>
                      <a:pPr algn="ctr" latinLnBrk="1"/>
                      <a:r>
                        <a:rPr lang="en-US" altLang="ko-KR" sz="1800" b="1" dirty="0"/>
                        <a:t>75</a:t>
                      </a:r>
                    </a:p>
                    <a:p>
                      <a:pPr algn="ctr" latinLnBrk="1"/>
                      <a:r>
                        <a:rPr lang="en-US" altLang="ko-KR" sz="1800" b="1" dirty="0"/>
                        <a:t>79</a:t>
                      </a:r>
                    </a:p>
                    <a:p>
                      <a:pPr algn="ctr" latinLnBrk="1"/>
                      <a:r>
                        <a:rPr lang="en-US" altLang="ko-KR" sz="1800" b="1" dirty="0"/>
                        <a:t>71</a:t>
                      </a:r>
                      <a:endParaRPr lang="ko-KR" altLang="en-US" sz="1800" b="1" dirty="0"/>
                    </a:p>
                  </a:txBody>
                  <a:tcPr marT="45709" marB="45709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/>
                        <a:t>78</a:t>
                      </a:r>
                    </a:p>
                    <a:p>
                      <a:pPr algn="ctr" latinLnBrk="1"/>
                      <a:r>
                        <a:rPr lang="en-US" altLang="ko-KR" sz="1800" b="1" dirty="0"/>
                        <a:t>68</a:t>
                      </a:r>
                    </a:p>
                    <a:p>
                      <a:pPr algn="ctr" latinLnBrk="1"/>
                      <a:r>
                        <a:rPr lang="en-US" altLang="ko-KR" sz="1800" b="1" dirty="0"/>
                        <a:t>72</a:t>
                      </a:r>
                    </a:p>
                    <a:p>
                      <a:pPr algn="ctr" latinLnBrk="1"/>
                      <a:r>
                        <a:rPr lang="en-US" altLang="ko-KR" sz="1800" b="1" dirty="0"/>
                        <a:t>74</a:t>
                      </a:r>
                    </a:p>
                    <a:p>
                      <a:pPr algn="ctr" latinLnBrk="1"/>
                      <a:r>
                        <a:rPr lang="en-US" altLang="ko-KR" sz="1800" b="1" dirty="0"/>
                        <a:t>75</a:t>
                      </a:r>
                    </a:p>
                    <a:p>
                      <a:pPr algn="ctr" latinLnBrk="1"/>
                      <a:r>
                        <a:rPr lang="en-US" altLang="ko-KR" sz="1800" b="1" dirty="0"/>
                        <a:t>70</a:t>
                      </a:r>
                    </a:p>
                    <a:p>
                      <a:pPr algn="ctr" latinLnBrk="1"/>
                      <a:r>
                        <a:rPr lang="en-US" altLang="ko-KR" sz="1800" b="1" dirty="0"/>
                        <a:t>66</a:t>
                      </a:r>
                    </a:p>
                    <a:p>
                      <a:pPr algn="ctr" latinLnBrk="1"/>
                      <a:r>
                        <a:rPr lang="en-US" altLang="ko-KR" sz="1800" b="1" dirty="0"/>
                        <a:t>69</a:t>
                      </a:r>
                    </a:p>
                  </a:txBody>
                  <a:tcPr marT="45709" marB="45709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/>
                        <a:t>55</a:t>
                      </a:r>
                    </a:p>
                    <a:p>
                      <a:pPr algn="ctr" latinLnBrk="1"/>
                      <a:r>
                        <a:rPr lang="en-US" altLang="ko-KR" sz="1800" b="1" dirty="0"/>
                        <a:t>60</a:t>
                      </a:r>
                    </a:p>
                    <a:p>
                      <a:pPr algn="ctr" latinLnBrk="1"/>
                      <a:r>
                        <a:rPr lang="en-US" altLang="ko-KR" sz="1800" b="1" dirty="0"/>
                        <a:t>64</a:t>
                      </a:r>
                    </a:p>
                    <a:p>
                      <a:pPr algn="ctr" latinLnBrk="1"/>
                      <a:r>
                        <a:rPr lang="en-US" altLang="ko-KR" sz="1800" b="1" dirty="0"/>
                        <a:t>65</a:t>
                      </a:r>
                    </a:p>
                    <a:p>
                      <a:pPr algn="ctr" latinLnBrk="1"/>
                      <a:r>
                        <a:rPr lang="en-US" altLang="ko-KR" sz="1800" b="1" dirty="0"/>
                        <a:t>67</a:t>
                      </a:r>
                    </a:p>
                    <a:p>
                      <a:pPr algn="ctr" latinLnBrk="1"/>
                      <a:r>
                        <a:rPr lang="en-US" altLang="ko-KR" sz="1800" b="1" dirty="0"/>
                        <a:t>71</a:t>
                      </a:r>
                    </a:p>
                    <a:p>
                      <a:pPr algn="ctr" latinLnBrk="1"/>
                      <a:r>
                        <a:rPr lang="en-US" altLang="ko-KR" sz="1800" b="1" dirty="0"/>
                        <a:t>78</a:t>
                      </a:r>
                    </a:p>
                    <a:p>
                      <a:pPr algn="ctr" latinLnBrk="1"/>
                      <a:r>
                        <a:rPr lang="en-US" altLang="ko-KR" sz="1800" b="1" dirty="0"/>
                        <a:t>68</a:t>
                      </a:r>
                      <a:endParaRPr lang="ko-KR" altLang="en-US" sz="1800" b="1" dirty="0"/>
                    </a:p>
                  </a:txBody>
                  <a:tcPr marT="45709" marB="45709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/>
                        <a:t>68</a:t>
                      </a:r>
                    </a:p>
                    <a:p>
                      <a:pPr algn="ctr" latinLnBrk="1"/>
                      <a:r>
                        <a:rPr lang="en-US" altLang="ko-KR" sz="1800" b="1" dirty="0"/>
                        <a:t>71</a:t>
                      </a:r>
                    </a:p>
                    <a:p>
                      <a:pPr algn="ctr" latinLnBrk="1"/>
                      <a:r>
                        <a:rPr lang="en-US" altLang="ko-KR" sz="1800" b="1" dirty="0"/>
                        <a:t>75</a:t>
                      </a:r>
                    </a:p>
                    <a:p>
                      <a:pPr algn="ctr" latinLnBrk="1"/>
                      <a:r>
                        <a:rPr lang="en-US" altLang="ko-KR" sz="1800" b="1" dirty="0"/>
                        <a:t>71</a:t>
                      </a:r>
                    </a:p>
                    <a:p>
                      <a:pPr algn="ctr" latinLnBrk="1"/>
                      <a:r>
                        <a:rPr lang="en-US" altLang="ko-KR" sz="1800" b="1" dirty="0"/>
                        <a:t>70</a:t>
                      </a:r>
                    </a:p>
                    <a:p>
                      <a:pPr algn="ctr" latinLnBrk="1"/>
                      <a:r>
                        <a:rPr lang="en-US" altLang="ko-KR" sz="1800" b="1" dirty="0"/>
                        <a:t>66</a:t>
                      </a:r>
                    </a:p>
                    <a:p>
                      <a:pPr algn="ctr" latinLnBrk="1"/>
                      <a:r>
                        <a:rPr lang="en-US" altLang="ko-KR" sz="1800" b="1" dirty="0"/>
                        <a:t>69</a:t>
                      </a:r>
                    </a:p>
                    <a:p>
                      <a:pPr algn="ctr" latinLnBrk="1"/>
                      <a:r>
                        <a:rPr lang="en-US" altLang="ko-KR" sz="1800" b="1" dirty="0"/>
                        <a:t>73</a:t>
                      </a:r>
                      <a:endParaRPr lang="ko-KR" altLang="en-US" sz="1800" b="1" dirty="0"/>
                    </a:p>
                  </a:txBody>
                  <a:tcPr marT="45709" marB="45709"/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800" b="1" dirty="0"/>
                    </a:p>
                    <a:p>
                      <a:pPr algn="ctr" latinLnBrk="1"/>
                      <a:endParaRPr lang="en-US" altLang="ko-KR" sz="1800" b="1" dirty="0"/>
                    </a:p>
                    <a:p>
                      <a:pPr algn="ctr" latinLnBrk="1"/>
                      <a:endParaRPr lang="en-US" altLang="ko-KR" sz="1800" b="1" dirty="0"/>
                    </a:p>
                    <a:p>
                      <a:pPr algn="ctr" latinLnBrk="1"/>
                      <a:endParaRPr lang="en-US" altLang="ko-KR" sz="1800" b="1" dirty="0"/>
                    </a:p>
                    <a:p>
                      <a:pPr algn="ctr" latinLnBrk="1"/>
                      <a:endParaRPr lang="en-US" altLang="ko-KR" sz="1800" b="1" dirty="0"/>
                    </a:p>
                    <a:p>
                      <a:pPr algn="ctr" latinLnBrk="1"/>
                      <a:endParaRPr lang="en-US" altLang="ko-KR" sz="1800" b="1" dirty="0"/>
                    </a:p>
                    <a:p>
                      <a:pPr algn="ctr" latinLnBrk="1"/>
                      <a:endParaRPr lang="en-US" altLang="ko-KR" sz="1800" b="1" dirty="0"/>
                    </a:p>
                    <a:p>
                      <a:pPr algn="ctr" latinLnBrk="1"/>
                      <a:r>
                        <a:rPr lang="ko-KR" altLang="en-US" sz="1800" b="1" dirty="0" err="1"/>
                        <a:t>총평균</a:t>
                      </a:r>
                      <a:endParaRPr lang="ko-KR" altLang="en-US" sz="1800" b="1" dirty="0"/>
                    </a:p>
                  </a:txBody>
                  <a:tcPr marT="45709" marB="4570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7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1" dirty="0"/>
                        <a:t>평균</a:t>
                      </a:r>
                    </a:p>
                  </a:txBody>
                  <a:tcPr marT="45709" marB="45709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/>
                        <a:t>72.8</a:t>
                      </a:r>
                      <a:endParaRPr lang="ko-KR" altLang="en-US" sz="1800" b="1" dirty="0"/>
                    </a:p>
                  </a:txBody>
                  <a:tcPr marT="45709" marB="45709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/>
                        <a:t>71.5</a:t>
                      </a:r>
                      <a:endParaRPr lang="ko-KR" altLang="en-US" sz="1800" b="1" dirty="0"/>
                    </a:p>
                  </a:txBody>
                  <a:tcPr marT="45709" marB="45709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/>
                        <a:t>66.0</a:t>
                      </a:r>
                      <a:endParaRPr lang="ko-KR" altLang="en-US" sz="1800" b="1" dirty="0"/>
                    </a:p>
                  </a:txBody>
                  <a:tcPr marT="45709" marB="45709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/>
                        <a:t>70.4</a:t>
                      </a:r>
                      <a:endParaRPr lang="ko-KR" altLang="en-US" sz="1800" b="1" dirty="0"/>
                    </a:p>
                  </a:txBody>
                  <a:tcPr marT="45709" marB="45709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/>
                        <a:t>70.2</a:t>
                      </a:r>
                      <a:endParaRPr lang="ko-KR" altLang="en-US" sz="1800" b="1" dirty="0"/>
                    </a:p>
                  </a:txBody>
                  <a:tcPr marT="45709" marB="4570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EBD78C7D-C3C6-F37B-546A-3D105BA83406}"/>
              </a:ext>
            </a:extLst>
          </p:cNvPr>
          <p:cNvGraphicFramePr>
            <a:graphicFrameLocks noGrp="1"/>
          </p:cNvGraphicFramePr>
          <p:nvPr/>
        </p:nvGraphicFramePr>
        <p:xfrm>
          <a:off x="8623300" y="1196975"/>
          <a:ext cx="484188" cy="4064002"/>
        </p:xfrm>
        <a:graphic>
          <a:graphicData uri="http://schemas.openxmlformats.org/drawingml/2006/table">
            <a:tbl>
              <a:tblPr/>
              <a:tblGrid>
                <a:gridCol w="2420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0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442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시간대</a:t>
                      </a:r>
                    </a:p>
                  </a:txBody>
                  <a:tcPr marL="3362" marR="3362" marT="33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생산량</a:t>
                      </a:r>
                    </a:p>
                  </a:txBody>
                  <a:tcPr marL="3362" marR="3362" marT="33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4580">
                <a:tc>
                  <a:txBody>
                    <a:bodyPr/>
                    <a:lstStyle/>
                    <a:p>
                      <a:pPr algn="ctr" rtl="0" fontAlgn="t"/>
                      <a:r>
                        <a:rPr lang="ko-KR" altLang="en-US" sz="6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오 전</a:t>
                      </a:r>
                      <a:r>
                        <a:rPr lang="ko-KR" altLang="en-US" sz="600" b="1" i="0" u="none" strike="noStrike">
                          <a:solidFill>
                            <a:srgbClr val="FFFFFF"/>
                          </a:solidFill>
                          <a:latin typeface="맑은 고딕"/>
                        </a:rPr>
                        <a:t> </a:t>
                      </a:r>
                      <a:endParaRPr lang="ko-KR" altLang="en-US" sz="600" b="1" i="0" u="none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3362" marR="3362" marT="3367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75</a:t>
                      </a:r>
                    </a:p>
                  </a:txBody>
                  <a:tcPr marL="3362" marR="3362" marT="3367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8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4580">
                <a:tc>
                  <a:txBody>
                    <a:bodyPr/>
                    <a:lstStyle/>
                    <a:p>
                      <a:pPr algn="ctr" rtl="0" fontAlgn="t"/>
                      <a:r>
                        <a:rPr lang="ko-KR" altLang="en-US" sz="6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오 전</a:t>
                      </a:r>
                      <a:r>
                        <a:rPr lang="ko-KR" altLang="en-US" sz="600" b="1" i="0" u="none" strike="noStrike">
                          <a:solidFill>
                            <a:srgbClr val="FFFFFF"/>
                          </a:solidFill>
                          <a:latin typeface="맑은 고딕"/>
                        </a:rPr>
                        <a:t> </a:t>
                      </a:r>
                      <a:endParaRPr lang="ko-KR" altLang="en-US" sz="600" b="1" i="0" u="none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3362" marR="3362" marT="3367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70</a:t>
                      </a:r>
                    </a:p>
                  </a:txBody>
                  <a:tcPr marL="3362" marR="3362" marT="3367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4580">
                <a:tc>
                  <a:txBody>
                    <a:bodyPr/>
                    <a:lstStyle/>
                    <a:p>
                      <a:pPr algn="ctr" rtl="0" fontAlgn="t"/>
                      <a:r>
                        <a:rPr lang="ko-KR" altLang="en-US" sz="6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오 전</a:t>
                      </a:r>
                      <a:r>
                        <a:rPr lang="ko-KR" altLang="en-US" sz="600" b="1" i="0" u="none" strike="noStrike">
                          <a:solidFill>
                            <a:srgbClr val="FFFFFF"/>
                          </a:solidFill>
                          <a:latin typeface="맑은 고딕"/>
                        </a:rPr>
                        <a:t> </a:t>
                      </a:r>
                      <a:endParaRPr lang="ko-KR" altLang="en-US" sz="600" b="1" i="0" u="none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3362" marR="3362" marT="3367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66</a:t>
                      </a:r>
                    </a:p>
                  </a:txBody>
                  <a:tcPr marL="3362" marR="3362" marT="3367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4580">
                <a:tc>
                  <a:txBody>
                    <a:bodyPr/>
                    <a:lstStyle/>
                    <a:p>
                      <a:pPr algn="ctr" rtl="0" fontAlgn="t"/>
                      <a:r>
                        <a:rPr lang="ko-KR" altLang="en-US" sz="6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오 전</a:t>
                      </a:r>
                      <a:r>
                        <a:rPr lang="ko-KR" altLang="en-US" sz="600" b="1" i="0" u="none" strike="noStrike">
                          <a:solidFill>
                            <a:srgbClr val="FFFFFF"/>
                          </a:solidFill>
                          <a:latin typeface="맑은 고딕"/>
                        </a:rPr>
                        <a:t> </a:t>
                      </a:r>
                      <a:endParaRPr lang="ko-KR" altLang="en-US" sz="600" b="1" i="0" u="none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3362" marR="3362" marT="3367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69</a:t>
                      </a:r>
                    </a:p>
                  </a:txBody>
                  <a:tcPr marL="3362" marR="3362" marT="3367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4580">
                <a:tc>
                  <a:txBody>
                    <a:bodyPr/>
                    <a:lstStyle/>
                    <a:p>
                      <a:pPr algn="ctr" rtl="0" fontAlgn="t"/>
                      <a:r>
                        <a:rPr lang="ko-KR" altLang="en-US" sz="6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오 전</a:t>
                      </a:r>
                      <a:r>
                        <a:rPr lang="ko-KR" altLang="en-US" sz="600" b="1" i="0" u="none" strike="noStrike">
                          <a:solidFill>
                            <a:srgbClr val="FFFFFF"/>
                          </a:solidFill>
                          <a:latin typeface="맑은 고딕"/>
                        </a:rPr>
                        <a:t> </a:t>
                      </a:r>
                      <a:endParaRPr lang="ko-KR" altLang="en-US" sz="600" b="1" i="0" u="none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3362" marR="3362" marT="3367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77</a:t>
                      </a:r>
                    </a:p>
                  </a:txBody>
                  <a:tcPr marL="3362" marR="3362" marT="3367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4580">
                <a:tc>
                  <a:txBody>
                    <a:bodyPr/>
                    <a:lstStyle/>
                    <a:p>
                      <a:pPr algn="ctr" rtl="0" fontAlgn="t"/>
                      <a:r>
                        <a:rPr lang="ko-KR" altLang="en-US" sz="6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오 전</a:t>
                      </a:r>
                      <a:r>
                        <a:rPr lang="ko-KR" altLang="en-US" sz="600" b="1" i="0" u="none" strike="noStrike">
                          <a:solidFill>
                            <a:srgbClr val="FFFFFF"/>
                          </a:solidFill>
                          <a:latin typeface="맑은 고딕"/>
                        </a:rPr>
                        <a:t> </a:t>
                      </a:r>
                      <a:endParaRPr lang="ko-KR" altLang="en-US" sz="600" b="1" i="0" u="none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3362" marR="3362" marT="3367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75</a:t>
                      </a:r>
                    </a:p>
                  </a:txBody>
                  <a:tcPr marL="3362" marR="3362" marT="3367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24580">
                <a:tc>
                  <a:txBody>
                    <a:bodyPr/>
                    <a:lstStyle/>
                    <a:p>
                      <a:pPr algn="ctr" rtl="0" fontAlgn="t"/>
                      <a:r>
                        <a:rPr lang="ko-KR" altLang="en-US" sz="6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오 전</a:t>
                      </a:r>
                      <a:r>
                        <a:rPr lang="ko-KR" altLang="en-US" sz="600" b="1" i="0" u="none" strike="noStrike">
                          <a:solidFill>
                            <a:srgbClr val="FFFFFF"/>
                          </a:solidFill>
                          <a:latin typeface="맑은 고딕"/>
                        </a:rPr>
                        <a:t> </a:t>
                      </a:r>
                      <a:endParaRPr lang="ko-KR" altLang="en-US" sz="600" b="1" i="0" u="none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3362" marR="3362" marT="3367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79</a:t>
                      </a:r>
                    </a:p>
                  </a:txBody>
                  <a:tcPr marL="3362" marR="3362" marT="3367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24580">
                <a:tc>
                  <a:txBody>
                    <a:bodyPr/>
                    <a:lstStyle/>
                    <a:p>
                      <a:pPr algn="ctr" rtl="0" fontAlgn="t"/>
                      <a:r>
                        <a:rPr lang="ko-KR" altLang="en-US" sz="6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오 전</a:t>
                      </a:r>
                      <a:r>
                        <a:rPr lang="ko-KR" altLang="en-US" sz="600" b="1" i="0" u="none" strike="noStrike">
                          <a:solidFill>
                            <a:srgbClr val="FFFFFF"/>
                          </a:solidFill>
                          <a:latin typeface="맑은 고딕"/>
                        </a:rPr>
                        <a:t> </a:t>
                      </a:r>
                      <a:endParaRPr lang="ko-KR" altLang="en-US" sz="600" b="1" i="0" u="none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3362" marR="3362" marT="3367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71</a:t>
                      </a:r>
                    </a:p>
                  </a:txBody>
                  <a:tcPr marL="3362" marR="3362" marT="3367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24580">
                <a:tc>
                  <a:txBody>
                    <a:bodyPr/>
                    <a:lstStyle/>
                    <a:p>
                      <a:pPr algn="ctr" rtl="0" fontAlgn="t"/>
                      <a:r>
                        <a:rPr lang="ko-KR" altLang="en-US" sz="6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오 후</a:t>
                      </a:r>
                      <a:r>
                        <a:rPr lang="ko-KR" altLang="en-US" sz="600" b="1" i="0" u="none" strike="noStrike">
                          <a:solidFill>
                            <a:srgbClr val="FFFFFF"/>
                          </a:solidFill>
                          <a:latin typeface="맑은 고딕"/>
                        </a:rPr>
                        <a:t> </a:t>
                      </a:r>
                      <a:endParaRPr lang="ko-KR" altLang="en-US" sz="600" b="1" i="0" u="none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3362" marR="3362" marT="3367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78</a:t>
                      </a:r>
                    </a:p>
                  </a:txBody>
                  <a:tcPr marL="3362" marR="3362" marT="3367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8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24580">
                <a:tc>
                  <a:txBody>
                    <a:bodyPr/>
                    <a:lstStyle/>
                    <a:p>
                      <a:pPr algn="ctr" rtl="0" fontAlgn="t"/>
                      <a:r>
                        <a:rPr lang="ko-KR" altLang="en-US" sz="6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오 후</a:t>
                      </a:r>
                      <a:r>
                        <a:rPr lang="ko-KR" altLang="en-US" sz="600" b="1" i="0" u="none" strike="noStrike">
                          <a:solidFill>
                            <a:srgbClr val="FFFFFF"/>
                          </a:solidFill>
                          <a:latin typeface="맑은 고딕"/>
                        </a:rPr>
                        <a:t> </a:t>
                      </a:r>
                      <a:endParaRPr lang="ko-KR" altLang="en-US" sz="600" b="1" i="0" u="none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3362" marR="3362" marT="3367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68</a:t>
                      </a:r>
                    </a:p>
                  </a:txBody>
                  <a:tcPr marL="3362" marR="3362" marT="3367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24580">
                <a:tc>
                  <a:txBody>
                    <a:bodyPr/>
                    <a:lstStyle/>
                    <a:p>
                      <a:pPr algn="ctr" rtl="0" fontAlgn="t"/>
                      <a:r>
                        <a:rPr lang="ko-KR" altLang="en-US" sz="6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오 후</a:t>
                      </a:r>
                      <a:r>
                        <a:rPr lang="ko-KR" altLang="en-US" sz="600" b="1" i="0" u="none" strike="noStrike">
                          <a:solidFill>
                            <a:srgbClr val="FFFFFF"/>
                          </a:solidFill>
                          <a:latin typeface="맑은 고딕"/>
                        </a:rPr>
                        <a:t> </a:t>
                      </a:r>
                      <a:endParaRPr lang="ko-KR" altLang="en-US" sz="600" b="1" i="0" u="none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3362" marR="3362" marT="3367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72</a:t>
                      </a:r>
                    </a:p>
                  </a:txBody>
                  <a:tcPr marL="3362" marR="3362" marT="3367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24580">
                <a:tc>
                  <a:txBody>
                    <a:bodyPr/>
                    <a:lstStyle/>
                    <a:p>
                      <a:pPr algn="ctr" rtl="0" fontAlgn="t"/>
                      <a:r>
                        <a:rPr lang="ko-KR" altLang="en-US" sz="6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오 후</a:t>
                      </a:r>
                      <a:r>
                        <a:rPr lang="ko-KR" altLang="en-US" sz="600" b="1" i="0" u="none" strike="noStrike">
                          <a:solidFill>
                            <a:srgbClr val="FFFFFF"/>
                          </a:solidFill>
                          <a:latin typeface="맑은 고딕"/>
                        </a:rPr>
                        <a:t> </a:t>
                      </a:r>
                      <a:endParaRPr lang="ko-KR" altLang="en-US" sz="600" b="1" i="0" u="none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3362" marR="3362" marT="3367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74</a:t>
                      </a:r>
                    </a:p>
                  </a:txBody>
                  <a:tcPr marL="3362" marR="3362" marT="3367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24580">
                <a:tc>
                  <a:txBody>
                    <a:bodyPr/>
                    <a:lstStyle/>
                    <a:p>
                      <a:pPr algn="ctr" rtl="0" fontAlgn="t"/>
                      <a:r>
                        <a:rPr lang="ko-KR" altLang="en-US" sz="6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오 후</a:t>
                      </a:r>
                      <a:r>
                        <a:rPr lang="ko-KR" altLang="en-US" sz="600" b="1" i="0" u="none" strike="noStrike">
                          <a:solidFill>
                            <a:srgbClr val="FFFFFF"/>
                          </a:solidFill>
                          <a:latin typeface="맑은 고딕"/>
                        </a:rPr>
                        <a:t> </a:t>
                      </a:r>
                      <a:endParaRPr lang="ko-KR" altLang="en-US" sz="600" b="1" i="0" u="none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3362" marR="3362" marT="3367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75</a:t>
                      </a:r>
                    </a:p>
                  </a:txBody>
                  <a:tcPr marL="3362" marR="3362" marT="3367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24580">
                <a:tc>
                  <a:txBody>
                    <a:bodyPr/>
                    <a:lstStyle/>
                    <a:p>
                      <a:pPr algn="ctr" rtl="0" fontAlgn="t"/>
                      <a:r>
                        <a:rPr lang="ko-KR" altLang="en-US" sz="6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오 후</a:t>
                      </a:r>
                      <a:r>
                        <a:rPr lang="ko-KR" altLang="en-US" sz="600" b="1" i="0" u="none" strike="noStrike">
                          <a:solidFill>
                            <a:srgbClr val="FFFFFF"/>
                          </a:solidFill>
                          <a:latin typeface="맑은 고딕"/>
                        </a:rPr>
                        <a:t> </a:t>
                      </a:r>
                      <a:endParaRPr lang="ko-KR" altLang="en-US" sz="600" b="1" i="0" u="none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3362" marR="3362" marT="3367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70</a:t>
                      </a:r>
                    </a:p>
                  </a:txBody>
                  <a:tcPr marL="3362" marR="3362" marT="3367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24580">
                <a:tc>
                  <a:txBody>
                    <a:bodyPr/>
                    <a:lstStyle/>
                    <a:p>
                      <a:pPr algn="ctr" rtl="0" fontAlgn="t"/>
                      <a:r>
                        <a:rPr lang="ko-KR" altLang="en-US" sz="6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오 후</a:t>
                      </a:r>
                      <a:r>
                        <a:rPr lang="ko-KR" altLang="en-US" sz="600" b="1" i="0" u="none" strike="noStrike">
                          <a:solidFill>
                            <a:srgbClr val="FFFFFF"/>
                          </a:solidFill>
                          <a:latin typeface="맑은 고딕"/>
                        </a:rPr>
                        <a:t> </a:t>
                      </a:r>
                      <a:endParaRPr lang="ko-KR" altLang="en-US" sz="600" b="1" i="0" u="none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3362" marR="3362" marT="3367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66</a:t>
                      </a:r>
                    </a:p>
                  </a:txBody>
                  <a:tcPr marL="3362" marR="3362" marT="3367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24580">
                <a:tc>
                  <a:txBody>
                    <a:bodyPr/>
                    <a:lstStyle/>
                    <a:p>
                      <a:pPr algn="ctr" rtl="0" fontAlgn="t"/>
                      <a:r>
                        <a:rPr lang="ko-KR" altLang="en-US" sz="6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오 후</a:t>
                      </a:r>
                      <a:r>
                        <a:rPr lang="ko-KR" altLang="en-US" sz="600" b="1" i="0" u="none" strike="noStrike">
                          <a:solidFill>
                            <a:srgbClr val="FFFFFF"/>
                          </a:solidFill>
                          <a:latin typeface="맑은 고딕"/>
                        </a:rPr>
                        <a:t> </a:t>
                      </a:r>
                      <a:endParaRPr lang="ko-KR" altLang="en-US" sz="600" b="1" i="0" u="none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3362" marR="3362" marT="3367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69</a:t>
                      </a:r>
                    </a:p>
                  </a:txBody>
                  <a:tcPr marL="3362" marR="3362" marT="3367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24580">
                <a:tc>
                  <a:txBody>
                    <a:bodyPr/>
                    <a:lstStyle/>
                    <a:p>
                      <a:pPr algn="ctr" rtl="0" fontAlgn="t"/>
                      <a:r>
                        <a:rPr lang="ko-KR" altLang="en-US" sz="6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야간</a:t>
                      </a:r>
                      <a:r>
                        <a:rPr lang="ko-KR" altLang="en-US" sz="600" b="1" i="0" u="none" strike="noStrike">
                          <a:solidFill>
                            <a:srgbClr val="FFFFFF"/>
                          </a:solidFill>
                          <a:latin typeface="맑은 고딕"/>
                        </a:rPr>
                        <a:t> </a:t>
                      </a:r>
                      <a:endParaRPr lang="ko-KR" altLang="en-US" sz="600" b="1" i="0" u="none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3362" marR="3362" marT="3367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55</a:t>
                      </a:r>
                    </a:p>
                  </a:txBody>
                  <a:tcPr marL="3362" marR="3362" marT="3367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8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24580">
                <a:tc>
                  <a:txBody>
                    <a:bodyPr/>
                    <a:lstStyle/>
                    <a:p>
                      <a:pPr algn="ctr" rtl="0" fontAlgn="t"/>
                      <a:r>
                        <a:rPr lang="ko-KR" altLang="en-US" sz="6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야간</a:t>
                      </a:r>
                      <a:r>
                        <a:rPr lang="ko-KR" altLang="en-US" sz="600" b="1" i="0" u="none" strike="noStrike">
                          <a:solidFill>
                            <a:srgbClr val="FFFFFF"/>
                          </a:solidFill>
                          <a:latin typeface="맑은 고딕"/>
                        </a:rPr>
                        <a:t> </a:t>
                      </a:r>
                      <a:endParaRPr lang="ko-KR" altLang="en-US" sz="600" b="1" i="0" u="none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3362" marR="3362" marT="3367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60</a:t>
                      </a:r>
                    </a:p>
                  </a:txBody>
                  <a:tcPr marL="3362" marR="3362" marT="3367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24580">
                <a:tc>
                  <a:txBody>
                    <a:bodyPr/>
                    <a:lstStyle/>
                    <a:p>
                      <a:pPr algn="ctr" rtl="0" fontAlgn="t"/>
                      <a:r>
                        <a:rPr lang="ko-KR" altLang="en-US" sz="6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야간</a:t>
                      </a:r>
                      <a:r>
                        <a:rPr lang="ko-KR" altLang="en-US" sz="600" b="1" i="0" u="none" strike="noStrike">
                          <a:solidFill>
                            <a:srgbClr val="FFFFFF"/>
                          </a:solidFill>
                          <a:latin typeface="맑은 고딕"/>
                        </a:rPr>
                        <a:t> </a:t>
                      </a:r>
                      <a:endParaRPr lang="ko-KR" altLang="en-US" sz="600" b="1" i="0" u="none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3362" marR="3362" marT="3367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64</a:t>
                      </a:r>
                    </a:p>
                  </a:txBody>
                  <a:tcPr marL="3362" marR="3362" marT="3367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24580">
                <a:tc>
                  <a:txBody>
                    <a:bodyPr/>
                    <a:lstStyle/>
                    <a:p>
                      <a:pPr algn="ctr" rtl="0" fontAlgn="t"/>
                      <a:r>
                        <a:rPr lang="ko-KR" altLang="en-US" sz="6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야간</a:t>
                      </a:r>
                      <a:r>
                        <a:rPr lang="ko-KR" altLang="en-US" sz="600" b="1" i="0" u="none" strike="noStrike">
                          <a:solidFill>
                            <a:srgbClr val="FFFFFF"/>
                          </a:solidFill>
                          <a:latin typeface="맑은 고딕"/>
                        </a:rPr>
                        <a:t> </a:t>
                      </a:r>
                      <a:endParaRPr lang="ko-KR" altLang="en-US" sz="600" b="1" i="0" u="none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3362" marR="3362" marT="3367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65</a:t>
                      </a:r>
                    </a:p>
                  </a:txBody>
                  <a:tcPr marL="3362" marR="3362" marT="3367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24580">
                <a:tc>
                  <a:txBody>
                    <a:bodyPr/>
                    <a:lstStyle/>
                    <a:p>
                      <a:pPr algn="ctr" rtl="0" fontAlgn="t"/>
                      <a:r>
                        <a:rPr lang="ko-KR" altLang="en-US" sz="6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야간</a:t>
                      </a:r>
                      <a:r>
                        <a:rPr lang="ko-KR" altLang="en-US" sz="600" b="1" i="0" u="none" strike="noStrike">
                          <a:solidFill>
                            <a:srgbClr val="FFFFFF"/>
                          </a:solidFill>
                          <a:latin typeface="맑은 고딕"/>
                        </a:rPr>
                        <a:t> </a:t>
                      </a:r>
                      <a:endParaRPr lang="ko-KR" altLang="en-US" sz="600" b="1" i="0" u="none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3362" marR="3362" marT="3367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67</a:t>
                      </a:r>
                    </a:p>
                  </a:txBody>
                  <a:tcPr marL="3362" marR="3362" marT="3367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24580">
                <a:tc>
                  <a:txBody>
                    <a:bodyPr/>
                    <a:lstStyle/>
                    <a:p>
                      <a:pPr algn="ctr" rtl="0" fontAlgn="t"/>
                      <a:r>
                        <a:rPr lang="ko-KR" altLang="en-US" sz="6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야간</a:t>
                      </a:r>
                      <a:r>
                        <a:rPr lang="ko-KR" altLang="en-US" sz="600" b="1" i="0" u="none" strike="noStrike">
                          <a:solidFill>
                            <a:srgbClr val="FFFFFF"/>
                          </a:solidFill>
                          <a:latin typeface="맑은 고딕"/>
                        </a:rPr>
                        <a:t> </a:t>
                      </a:r>
                      <a:endParaRPr lang="ko-KR" altLang="en-US" sz="600" b="1" i="0" u="none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3362" marR="3362" marT="3367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71</a:t>
                      </a:r>
                    </a:p>
                  </a:txBody>
                  <a:tcPr marL="3362" marR="3362" marT="3367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24580">
                <a:tc>
                  <a:txBody>
                    <a:bodyPr/>
                    <a:lstStyle/>
                    <a:p>
                      <a:pPr algn="ctr" rtl="0" fontAlgn="t"/>
                      <a:r>
                        <a:rPr lang="ko-KR" altLang="en-US" sz="6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야간</a:t>
                      </a:r>
                      <a:r>
                        <a:rPr lang="ko-KR" altLang="en-US" sz="600" b="1" i="0" u="none" strike="noStrike">
                          <a:solidFill>
                            <a:srgbClr val="FFFFFF"/>
                          </a:solidFill>
                          <a:latin typeface="맑은 고딕"/>
                        </a:rPr>
                        <a:t> </a:t>
                      </a:r>
                      <a:endParaRPr lang="ko-KR" altLang="en-US" sz="600" b="1" i="0" u="none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3362" marR="3362" marT="3367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78</a:t>
                      </a:r>
                    </a:p>
                  </a:txBody>
                  <a:tcPr marL="3362" marR="3362" marT="3367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24580">
                <a:tc>
                  <a:txBody>
                    <a:bodyPr/>
                    <a:lstStyle/>
                    <a:p>
                      <a:pPr algn="ctr" rtl="0" fontAlgn="t"/>
                      <a:r>
                        <a:rPr lang="ko-KR" altLang="en-US" sz="6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야간</a:t>
                      </a:r>
                      <a:r>
                        <a:rPr lang="ko-KR" altLang="en-US" sz="600" b="1" i="0" u="none" strike="noStrike">
                          <a:solidFill>
                            <a:srgbClr val="FFFFFF"/>
                          </a:solidFill>
                          <a:latin typeface="맑은 고딕"/>
                        </a:rPr>
                        <a:t> </a:t>
                      </a:r>
                      <a:endParaRPr lang="ko-KR" altLang="en-US" sz="600" b="1" i="0" u="none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3362" marR="3362" marT="3367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68</a:t>
                      </a:r>
                    </a:p>
                  </a:txBody>
                  <a:tcPr marL="3362" marR="3362" marT="3367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24580">
                <a:tc>
                  <a:txBody>
                    <a:bodyPr/>
                    <a:lstStyle/>
                    <a:p>
                      <a:pPr algn="ctr" rtl="0" fontAlgn="t"/>
                      <a:r>
                        <a:rPr lang="ko-KR" altLang="en-US" sz="6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새벽</a:t>
                      </a:r>
                      <a:r>
                        <a:rPr lang="ko-KR" altLang="en-US" sz="600" b="1" i="0" u="none" strike="noStrike">
                          <a:solidFill>
                            <a:srgbClr val="FFFFFF"/>
                          </a:solidFill>
                          <a:latin typeface="맑은 고딕"/>
                        </a:rPr>
                        <a:t> </a:t>
                      </a:r>
                      <a:endParaRPr lang="ko-KR" altLang="en-US" sz="600" b="1" i="0" u="none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3362" marR="3362" marT="3367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68</a:t>
                      </a:r>
                    </a:p>
                  </a:txBody>
                  <a:tcPr marL="3362" marR="3362" marT="3367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8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124580">
                <a:tc>
                  <a:txBody>
                    <a:bodyPr/>
                    <a:lstStyle/>
                    <a:p>
                      <a:pPr algn="ctr" rtl="0" fontAlgn="t"/>
                      <a:r>
                        <a:rPr lang="ko-KR" altLang="en-US" sz="6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새벽</a:t>
                      </a:r>
                      <a:r>
                        <a:rPr lang="ko-KR" altLang="en-US" sz="600" b="1" i="0" u="none" strike="noStrike">
                          <a:solidFill>
                            <a:srgbClr val="FFFFFF"/>
                          </a:solidFill>
                          <a:latin typeface="맑은 고딕"/>
                        </a:rPr>
                        <a:t> </a:t>
                      </a:r>
                      <a:endParaRPr lang="ko-KR" altLang="en-US" sz="600" b="1" i="0" u="none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3362" marR="3362" marT="3367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71</a:t>
                      </a:r>
                    </a:p>
                  </a:txBody>
                  <a:tcPr marL="3362" marR="3362" marT="3367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124580">
                <a:tc>
                  <a:txBody>
                    <a:bodyPr/>
                    <a:lstStyle/>
                    <a:p>
                      <a:pPr algn="ctr" rtl="0" fontAlgn="t"/>
                      <a:r>
                        <a:rPr lang="ko-KR" altLang="en-US" sz="6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새벽</a:t>
                      </a:r>
                      <a:r>
                        <a:rPr lang="ko-KR" altLang="en-US" sz="600" b="1" i="0" u="none" strike="noStrike">
                          <a:solidFill>
                            <a:srgbClr val="FFFFFF"/>
                          </a:solidFill>
                          <a:latin typeface="맑은 고딕"/>
                        </a:rPr>
                        <a:t> </a:t>
                      </a:r>
                      <a:endParaRPr lang="ko-KR" altLang="en-US" sz="600" b="1" i="0" u="none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3362" marR="3362" marT="3367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75</a:t>
                      </a:r>
                    </a:p>
                  </a:txBody>
                  <a:tcPr marL="3362" marR="3362" marT="3367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124580">
                <a:tc>
                  <a:txBody>
                    <a:bodyPr/>
                    <a:lstStyle/>
                    <a:p>
                      <a:pPr algn="ctr" rtl="0" fontAlgn="t"/>
                      <a:r>
                        <a:rPr lang="ko-KR" altLang="en-US" sz="6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새벽</a:t>
                      </a:r>
                      <a:r>
                        <a:rPr lang="ko-KR" altLang="en-US" sz="600" b="1" i="0" u="none" strike="noStrike">
                          <a:solidFill>
                            <a:srgbClr val="FFFFFF"/>
                          </a:solidFill>
                          <a:latin typeface="맑은 고딕"/>
                        </a:rPr>
                        <a:t> </a:t>
                      </a:r>
                      <a:endParaRPr lang="ko-KR" altLang="en-US" sz="600" b="1" i="0" u="none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3362" marR="3362" marT="3367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71</a:t>
                      </a:r>
                    </a:p>
                  </a:txBody>
                  <a:tcPr marL="3362" marR="3362" marT="3367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  <a:tr h="124580">
                <a:tc>
                  <a:txBody>
                    <a:bodyPr/>
                    <a:lstStyle/>
                    <a:p>
                      <a:pPr algn="ctr" rtl="0" fontAlgn="t"/>
                      <a:r>
                        <a:rPr lang="ko-KR" altLang="en-US" sz="6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새벽</a:t>
                      </a:r>
                      <a:r>
                        <a:rPr lang="ko-KR" altLang="en-US" sz="600" b="1" i="0" u="none" strike="noStrike">
                          <a:solidFill>
                            <a:srgbClr val="FFFFFF"/>
                          </a:solidFill>
                          <a:latin typeface="맑은 고딕"/>
                        </a:rPr>
                        <a:t> </a:t>
                      </a:r>
                      <a:endParaRPr lang="ko-KR" altLang="en-US" sz="600" b="1" i="0" u="none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3362" marR="3362" marT="3367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70</a:t>
                      </a:r>
                    </a:p>
                  </a:txBody>
                  <a:tcPr marL="3362" marR="3362" marT="3367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9"/>
                  </a:ext>
                </a:extLst>
              </a:tr>
              <a:tr h="124580">
                <a:tc>
                  <a:txBody>
                    <a:bodyPr/>
                    <a:lstStyle/>
                    <a:p>
                      <a:pPr algn="ctr" rtl="0" fontAlgn="t"/>
                      <a:r>
                        <a:rPr lang="ko-KR" altLang="en-US" sz="6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새벽</a:t>
                      </a:r>
                      <a:r>
                        <a:rPr lang="ko-KR" altLang="en-US" sz="600" b="1" i="0" u="none" strike="noStrike">
                          <a:solidFill>
                            <a:srgbClr val="FFFFFF"/>
                          </a:solidFill>
                          <a:latin typeface="맑은 고딕"/>
                        </a:rPr>
                        <a:t> </a:t>
                      </a:r>
                      <a:endParaRPr lang="ko-KR" altLang="en-US" sz="600" b="1" i="0" u="none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3362" marR="3362" marT="3367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66</a:t>
                      </a:r>
                    </a:p>
                  </a:txBody>
                  <a:tcPr marL="3362" marR="3362" marT="3367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0"/>
                  </a:ext>
                </a:extLst>
              </a:tr>
              <a:tr h="124580">
                <a:tc>
                  <a:txBody>
                    <a:bodyPr/>
                    <a:lstStyle/>
                    <a:p>
                      <a:pPr algn="ctr" rtl="0" fontAlgn="t"/>
                      <a:r>
                        <a:rPr lang="ko-KR" altLang="en-US" sz="6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새벽</a:t>
                      </a:r>
                      <a:r>
                        <a:rPr lang="ko-KR" altLang="en-US" sz="600" b="1" i="0" u="none" strike="noStrike">
                          <a:solidFill>
                            <a:srgbClr val="FFFFFF"/>
                          </a:solidFill>
                          <a:latin typeface="맑은 고딕"/>
                        </a:rPr>
                        <a:t> </a:t>
                      </a:r>
                      <a:endParaRPr lang="ko-KR" altLang="en-US" sz="600" b="1" i="0" u="none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3362" marR="3362" marT="3367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69</a:t>
                      </a:r>
                    </a:p>
                  </a:txBody>
                  <a:tcPr marL="3362" marR="3362" marT="3367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1"/>
                  </a:ext>
                </a:extLst>
              </a:tr>
              <a:tr h="124580">
                <a:tc>
                  <a:txBody>
                    <a:bodyPr/>
                    <a:lstStyle/>
                    <a:p>
                      <a:pPr algn="ctr" rtl="0" fontAlgn="t"/>
                      <a:r>
                        <a:rPr lang="ko-KR" altLang="en-US" sz="6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새벽</a:t>
                      </a:r>
                      <a:r>
                        <a:rPr lang="ko-KR" altLang="en-US" sz="600" b="1" i="0" u="none" strike="noStrike">
                          <a:solidFill>
                            <a:srgbClr val="FFFFFF"/>
                          </a:solidFill>
                          <a:latin typeface="맑은 고딕"/>
                        </a:rPr>
                        <a:t> </a:t>
                      </a:r>
                      <a:endParaRPr lang="ko-KR" altLang="en-US" sz="600" b="1" i="0" u="none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3362" marR="3362" marT="3367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altLang="ko-KR" sz="6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73</a:t>
                      </a:r>
                    </a:p>
                  </a:txBody>
                  <a:tcPr marL="3362" marR="3362" marT="3367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3">
            <a:extLst>
              <a:ext uri="{FF2B5EF4-FFF2-40B4-BE49-F238E27FC236}">
                <a16:creationId xmlns:a16="http://schemas.microsoft.com/office/drawing/2014/main" id="{B50934CA-B871-DF0C-A0CC-9B2F1B31E2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1052513"/>
            <a:ext cx="8515350" cy="538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1" name="Rectangle 34">
            <a:extLst>
              <a:ext uri="{FF2B5EF4-FFF2-40B4-BE49-F238E27FC236}">
                <a16:creationId xmlns:a16="http://schemas.microsoft.com/office/drawing/2014/main" id="{637B6EA4-4E20-153B-9021-DDFD7F8EC3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4071" y="53975"/>
            <a:ext cx="6913563" cy="369887"/>
          </a:xfrm>
        </p:spPr>
        <p:txBody>
          <a:bodyPr/>
          <a:lstStyle/>
          <a:p>
            <a:r>
              <a:rPr lang="ko-KR" altLang="en-US"/>
              <a:t>일원배치법</a:t>
            </a:r>
            <a:r>
              <a:rPr lang="en-US" altLang="ko-KR"/>
              <a:t>-</a:t>
            </a:r>
            <a:r>
              <a:rPr lang="ko-KR" altLang="en-US"/>
              <a:t>자료입력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0648D40-B3B6-6394-87B5-122F11619B49}"/>
              </a:ext>
            </a:extLst>
          </p:cNvPr>
          <p:cNvSpPr/>
          <p:nvPr/>
        </p:nvSpPr>
        <p:spPr>
          <a:xfrm>
            <a:off x="0" y="1052513"/>
            <a:ext cx="8675688" cy="6477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7653" name="TextBox 6">
            <a:extLst>
              <a:ext uri="{FF2B5EF4-FFF2-40B4-BE49-F238E27FC236}">
                <a16:creationId xmlns:a16="http://schemas.microsoft.com/office/drawing/2014/main" id="{AB18E965-312B-E847-6B35-E0D58C3037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125538"/>
            <a:ext cx="86756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ko-KR" altLang="en-US"/>
              <a:t>                분할된 자료</a:t>
            </a:r>
            <a:r>
              <a:rPr lang="en-US" altLang="ko-KR"/>
              <a:t>(unstacked data)                       stacked data </a:t>
            </a:r>
            <a:endParaRPr lang="ko-KR" alt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4DFB072F-6630-918D-F3E2-8B043B18BB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3669" y="66676"/>
            <a:ext cx="7129462" cy="430212"/>
          </a:xfrm>
        </p:spPr>
        <p:txBody>
          <a:bodyPr/>
          <a:lstStyle/>
          <a:p>
            <a:r>
              <a:rPr lang="ko-KR" altLang="en-US" sz="2800" dirty="0"/>
              <a:t>일원 배치 법</a:t>
            </a:r>
          </a:p>
        </p:txBody>
      </p:sp>
      <p:sp>
        <p:nvSpPr>
          <p:cNvPr id="28675" name="Rectangle 5">
            <a:extLst>
              <a:ext uri="{FF2B5EF4-FFF2-40B4-BE49-F238E27FC236}">
                <a16:creationId xmlns:a16="http://schemas.microsoft.com/office/drawing/2014/main" id="{FE8FF70C-7C6B-CAC2-B502-8A8BC7C91C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938" y="1000125"/>
            <a:ext cx="7775575" cy="1878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0" hangingPunct="1">
              <a:buClr>
                <a:srgbClr val="A50021"/>
              </a:buClr>
              <a:buSzPts val="1800"/>
              <a:buFont typeface="Wingdings" panose="05000000000000000000" pitchFamily="2" charset="2"/>
              <a:buChar char="Ø"/>
            </a:pPr>
            <a:r>
              <a:rPr kumimoji="0" lang="en-US" altLang="ko-KR" b="1">
                <a:solidFill>
                  <a:srgbClr val="A50021"/>
                </a:solidFill>
              </a:rPr>
              <a:t>  </a:t>
            </a:r>
            <a:r>
              <a:rPr kumimoji="0" lang="ko-KR" altLang="en-US" b="1">
                <a:solidFill>
                  <a:srgbClr val="A50021"/>
                </a:solidFill>
              </a:rPr>
              <a:t>가설설정</a:t>
            </a:r>
            <a:endParaRPr kumimoji="0" lang="ko-KR" altLang="en-US" b="1">
              <a:solidFill>
                <a:srgbClr val="000099"/>
              </a:solidFill>
            </a:endParaRPr>
          </a:p>
          <a:p>
            <a:pPr eaLnBrk="1" latinLnBrk="0" hangingPunct="1"/>
            <a:endParaRPr kumimoji="0" lang="ko-KR" altLang="en-US" sz="800" b="1">
              <a:solidFill>
                <a:srgbClr val="000099"/>
              </a:solidFill>
            </a:endParaRPr>
          </a:p>
          <a:p>
            <a:pPr eaLnBrk="1" latinLnBrk="0" hangingPunct="1"/>
            <a:r>
              <a:rPr kumimoji="0" lang="ko-KR" altLang="en-US" b="1">
                <a:solidFill>
                  <a:srgbClr val="3333FF"/>
                </a:solidFill>
                <a:latin typeface="HY바다M" pitchFamily="18" charset="-127"/>
                <a:ea typeface="HY바다M" pitchFamily="18" charset="-127"/>
              </a:rPr>
              <a:t>       </a:t>
            </a:r>
            <a:r>
              <a:rPr kumimoji="0" lang="ko-KR" altLang="en-US" b="1">
                <a:solidFill>
                  <a:srgbClr val="3333FF"/>
                </a:solidFill>
              </a:rPr>
              <a:t>귀무가설</a:t>
            </a:r>
            <a:r>
              <a:rPr kumimoji="0" lang="en-US" altLang="ko-KR" b="1">
                <a:solidFill>
                  <a:srgbClr val="3333FF"/>
                </a:solidFill>
              </a:rPr>
              <a:t>: </a:t>
            </a:r>
            <a:r>
              <a:rPr kumimoji="0" lang="ko-KR" altLang="en-US" b="1">
                <a:solidFill>
                  <a:srgbClr val="3333FF"/>
                </a:solidFill>
              </a:rPr>
              <a:t>각 집단의 평균수준은 모두 같을 것이다</a:t>
            </a:r>
            <a:r>
              <a:rPr kumimoji="0" lang="en-US" altLang="ko-KR" b="1">
                <a:solidFill>
                  <a:srgbClr val="3333FF"/>
                </a:solidFill>
              </a:rPr>
              <a:t>.</a:t>
            </a:r>
          </a:p>
          <a:p>
            <a:pPr eaLnBrk="1" latinLnBrk="0" hangingPunct="1"/>
            <a:r>
              <a:rPr kumimoji="0" lang="en-US" altLang="ko-KR" b="1">
                <a:solidFill>
                  <a:srgbClr val="3333FF"/>
                </a:solidFill>
              </a:rPr>
              <a:t>       </a:t>
            </a:r>
            <a:r>
              <a:rPr kumimoji="0" lang="ko-KR" altLang="en-US" b="1">
                <a:solidFill>
                  <a:srgbClr val="3333FF"/>
                </a:solidFill>
              </a:rPr>
              <a:t>대립가설</a:t>
            </a:r>
            <a:r>
              <a:rPr kumimoji="0" lang="en-US" altLang="ko-KR" b="1">
                <a:solidFill>
                  <a:srgbClr val="3333FF"/>
                </a:solidFill>
              </a:rPr>
              <a:t>: </a:t>
            </a:r>
            <a:r>
              <a:rPr kumimoji="0" lang="ko-KR" altLang="en-US" b="1">
                <a:solidFill>
                  <a:srgbClr val="3333FF"/>
                </a:solidFill>
              </a:rPr>
              <a:t>적어도 하나 이상의 집단은 평균수준이 다를 것이다</a:t>
            </a:r>
            <a:r>
              <a:rPr kumimoji="0" lang="en-US" altLang="ko-KR" b="1">
                <a:solidFill>
                  <a:srgbClr val="3333FF"/>
                </a:solidFill>
              </a:rPr>
              <a:t>.</a:t>
            </a:r>
          </a:p>
          <a:p>
            <a:pPr eaLnBrk="1" latinLnBrk="0" hangingPunct="1"/>
            <a:endParaRPr kumimoji="0" lang="en-US" altLang="ko-KR">
              <a:latin typeface="HY바다M" pitchFamily="18" charset="-127"/>
              <a:ea typeface="HY바다M" pitchFamily="18" charset="-127"/>
            </a:endParaRPr>
          </a:p>
          <a:p>
            <a:pPr eaLnBrk="1" latinLnBrk="0" hangingPunct="1"/>
            <a:r>
              <a:rPr kumimoji="0" lang="en-US" altLang="ko-KR" b="1">
                <a:solidFill>
                  <a:srgbClr val="000000"/>
                </a:solidFill>
              </a:rPr>
              <a:t>	⇔ </a:t>
            </a:r>
          </a:p>
          <a:p>
            <a:pPr eaLnBrk="1" latinLnBrk="0" hangingPunct="1"/>
            <a:endParaRPr kumimoji="0" lang="en-US" altLang="ko-KR"/>
          </a:p>
        </p:txBody>
      </p:sp>
      <p:graphicFrame>
        <p:nvGraphicFramePr>
          <p:cNvPr id="28676" name="Object 2">
            <a:extLst>
              <a:ext uri="{FF2B5EF4-FFF2-40B4-BE49-F238E27FC236}">
                <a16:creationId xmlns:a16="http://schemas.microsoft.com/office/drawing/2014/main" id="{9FCA082E-0A35-2D8B-C54A-56D5A6B4D022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2051050" y="2205038"/>
          <a:ext cx="4198938" cy="674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2" name="Equation" r:id="rId4" imgW="4584700" imgH="736600" progId="Equation.3">
                  <p:embed/>
                </p:oleObj>
              </mc:Choice>
              <mc:Fallback>
                <p:oleObj name="Equation" r:id="rId4" imgW="4584700" imgH="736600" progId="Equation.3">
                  <p:embed/>
                  <p:pic>
                    <p:nvPicPr>
                      <p:cNvPr id="28676" name="Object 2">
                        <a:extLst>
                          <a:ext uri="{FF2B5EF4-FFF2-40B4-BE49-F238E27FC236}">
                            <a16:creationId xmlns:a16="http://schemas.microsoft.com/office/drawing/2014/main" id="{9FCA082E-0A35-2D8B-C54A-56D5A6B4D02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2205038"/>
                        <a:ext cx="4198938" cy="674687"/>
                      </a:xfrm>
                      <a:prstGeom prst="rect">
                        <a:avLst/>
                      </a:prstGeom>
                      <a:noFill/>
                      <a:ln w="25400" cap="rnd">
                        <a:solidFill>
                          <a:srgbClr val="993366"/>
                        </a:solidFill>
                        <a:prstDash val="sysDot"/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8677" name="Group 15">
            <a:extLst>
              <a:ext uri="{FF2B5EF4-FFF2-40B4-BE49-F238E27FC236}">
                <a16:creationId xmlns:a16="http://schemas.microsoft.com/office/drawing/2014/main" id="{6986DE9B-9A70-2EF7-CFA0-98A5F0B2A3C0}"/>
              </a:ext>
            </a:extLst>
          </p:cNvPr>
          <p:cNvGrpSpPr>
            <a:grpSpLocks/>
          </p:cNvGrpSpPr>
          <p:nvPr/>
        </p:nvGrpSpPr>
        <p:grpSpPr bwMode="auto">
          <a:xfrm>
            <a:off x="827088" y="3357563"/>
            <a:ext cx="7416800" cy="2808287"/>
            <a:chOff x="521" y="1752"/>
            <a:chExt cx="4672" cy="1769"/>
          </a:xfrm>
        </p:grpSpPr>
        <p:graphicFrame>
          <p:nvGraphicFramePr>
            <p:cNvPr id="28679" name="Object 9">
              <a:extLst>
                <a:ext uri="{FF2B5EF4-FFF2-40B4-BE49-F238E27FC236}">
                  <a16:creationId xmlns:a16="http://schemas.microsoft.com/office/drawing/2014/main" id="{BA75B71B-8F41-8B3C-E43D-1217DE46980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48" y="2115"/>
            <a:ext cx="3565" cy="7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33" name="Equation" r:id="rId6" imgW="3022600" imgH="609600" progId="Equation.3">
                    <p:embed/>
                  </p:oleObj>
                </mc:Choice>
                <mc:Fallback>
                  <p:oleObj name="Equation" r:id="rId6" imgW="3022600" imgH="609600" progId="Equation.3">
                    <p:embed/>
                    <p:pic>
                      <p:nvPicPr>
                        <p:cNvPr id="28679" name="Object 9">
                          <a:extLst>
                            <a:ext uri="{FF2B5EF4-FFF2-40B4-BE49-F238E27FC236}">
                              <a16:creationId xmlns:a16="http://schemas.microsoft.com/office/drawing/2014/main" id="{BA75B71B-8F41-8B3C-E43D-1217DE46980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8" y="2115"/>
                          <a:ext cx="3565" cy="7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680" name="AutoShape 11">
              <a:extLst>
                <a:ext uri="{FF2B5EF4-FFF2-40B4-BE49-F238E27FC236}">
                  <a16:creationId xmlns:a16="http://schemas.microsoft.com/office/drawing/2014/main" id="{92D44768-6DA4-7D78-33AC-20E81959F1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3" y="1752"/>
              <a:ext cx="1588" cy="544"/>
            </a:xfrm>
            <a:prstGeom prst="wedgeRoundRectCallout">
              <a:avLst>
                <a:gd name="adj1" fmla="val -77546"/>
                <a:gd name="adj2" fmla="val 38602"/>
                <a:gd name="adj3" fmla="val 16667"/>
              </a:avLst>
            </a:prstGeom>
            <a:solidFill>
              <a:srgbClr val="FFCCFF"/>
            </a:solidFill>
            <a:ln>
              <a:noFill/>
            </a:ln>
            <a:effectLst>
              <a:outerShdw dist="35921" dir="2700000" algn="ctr" rotWithShape="0">
                <a:srgbClr val="FF6699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latinLnBrk="0" hangingPunct="1"/>
              <a:r>
                <a:rPr kumimoji="0" lang="ko-KR" altLang="en-US" sz="1600" b="1"/>
                <a:t>편차를 다음과 같은 </a:t>
              </a:r>
            </a:p>
            <a:p>
              <a:pPr algn="ctr" eaLnBrk="1" latinLnBrk="0" hangingPunct="1"/>
              <a:r>
                <a:rPr kumimoji="0" lang="ko-KR" altLang="en-US" sz="1600" b="1"/>
                <a:t>형태로 전개 하여 양변제곱하여 합하기</a:t>
              </a:r>
            </a:p>
          </p:txBody>
        </p:sp>
        <p:sp>
          <p:nvSpPr>
            <p:cNvPr id="28681" name="AutoShape 12">
              <a:extLst>
                <a:ext uri="{FF2B5EF4-FFF2-40B4-BE49-F238E27FC236}">
                  <a16:creationId xmlns:a16="http://schemas.microsoft.com/office/drawing/2014/main" id="{E89011C2-7375-F455-B977-E3F2896F1E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1" y="2976"/>
              <a:ext cx="1089" cy="545"/>
            </a:xfrm>
            <a:prstGeom prst="wedgeRectCallout">
              <a:avLst>
                <a:gd name="adj1" fmla="val 16301"/>
                <a:gd name="adj2" fmla="val -91833"/>
              </a:avLst>
            </a:prstGeom>
            <a:solidFill>
              <a:srgbClr val="FFFF66"/>
            </a:solidFill>
            <a:ln>
              <a:noFill/>
            </a:ln>
            <a:effectLst>
              <a:outerShdw dist="35921" dir="2700000" algn="ctr" rotWithShape="0">
                <a:srgbClr val="FF6699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latinLnBrk="0" hangingPunct="1"/>
              <a:r>
                <a:rPr kumimoji="0" lang="ko-KR" altLang="en-US" sz="1600" b="1"/>
                <a:t>모든자료에 관한 편차 제곱합</a:t>
              </a:r>
            </a:p>
            <a:p>
              <a:pPr algn="ctr" eaLnBrk="1" latinLnBrk="0" hangingPunct="1"/>
              <a:r>
                <a:rPr kumimoji="0" lang="en-US" altLang="ko-KR" sz="1600" b="1"/>
                <a:t>-</a:t>
              </a:r>
              <a:r>
                <a:rPr kumimoji="0" lang="ko-KR" altLang="en-US" sz="1600" b="1">
                  <a:solidFill>
                    <a:schemeClr val="tx2"/>
                  </a:solidFill>
                </a:rPr>
                <a:t>총변동 </a:t>
              </a:r>
              <a:r>
                <a:rPr kumimoji="0" lang="en-US" altLang="ko-KR" sz="1600" b="1">
                  <a:solidFill>
                    <a:schemeClr val="tx2"/>
                  </a:solidFill>
                </a:rPr>
                <a:t>(SS</a:t>
              </a:r>
              <a:r>
                <a:rPr kumimoji="0" lang="en-US" altLang="ko-KR" sz="1600" b="1" baseline="-25000">
                  <a:solidFill>
                    <a:schemeClr val="tx2"/>
                  </a:solidFill>
                </a:rPr>
                <a:t>T</a:t>
              </a:r>
              <a:r>
                <a:rPr kumimoji="0" lang="en-US" altLang="ko-KR" sz="1600" b="1">
                  <a:solidFill>
                    <a:schemeClr val="tx2"/>
                  </a:solidFill>
                </a:rPr>
                <a:t>)</a:t>
              </a:r>
            </a:p>
          </p:txBody>
        </p:sp>
        <p:sp>
          <p:nvSpPr>
            <p:cNvPr id="28682" name="AutoShape 13">
              <a:extLst>
                <a:ext uri="{FF2B5EF4-FFF2-40B4-BE49-F238E27FC236}">
                  <a16:creationId xmlns:a16="http://schemas.microsoft.com/office/drawing/2014/main" id="{A9888924-6C86-EAE4-56C8-E2D2024025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3" y="2976"/>
              <a:ext cx="1361" cy="545"/>
            </a:xfrm>
            <a:prstGeom prst="wedgeRectCallout">
              <a:avLst>
                <a:gd name="adj1" fmla="val -15028"/>
                <a:gd name="adj2" fmla="val -93301"/>
              </a:avLst>
            </a:prstGeom>
            <a:solidFill>
              <a:srgbClr val="FFFF66"/>
            </a:solidFill>
            <a:ln>
              <a:noFill/>
            </a:ln>
            <a:effectLst>
              <a:outerShdw dist="35921" dir="2700000" algn="ctr" rotWithShape="0">
                <a:srgbClr val="FF6699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latinLnBrk="0" hangingPunct="1"/>
              <a:r>
                <a:rPr kumimoji="0" lang="ko-KR" altLang="en-US" sz="1600" b="1"/>
                <a:t>그룹간 </a:t>
              </a:r>
            </a:p>
            <a:p>
              <a:pPr algn="ctr" eaLnBrk="1" latinLnBrk="0" hangingPunct="1"/>
              <a:r>
                <a:rPr kumimoji="0" lang="ko-KR" altLang="en-US" sz="1600" b="1"/>
                <a:t>편차 제곱합</a:t>
              </a:r>
            </a:p>
            <a:p>
              <a:pPr algn="ctr" eaLnBrk="1" latinLnBrk="0" hangingPunct="1"/>
              <a:r>
                <a:rPr kumimoji="0" lang="en-US" altLang="ko-KR" sz="1600" b="1"/>
                <a:t>-</a:t>
              </a:r>
              <a:r>
                <a:rPr kumimoji="0" lang="ko-KR" altLang="en-US" sz="1600" b="1">
                  <a:solidFill>
                    <a:schemeClr val="tx2"/>
                  </a:solidFill>
                </a:rPr>
                <a:t>그룹간의 변동</a:t>
              </a:r>
              <a:r>
                <a:rPr kumimoji="0" lang="en-US" altLang="ko-KR" sz="1600" b="1">
                  <a:solidFill>
                    <a:schemeClr val="tx2"/>
                  </a:solidFill>
                </a:rPr>
                <a:t>(SS</a:t>
              </a:r>
              <a:r>
                <a:rPr kumimoji="0" lang="en-US" altLang="ko-KR" sz="1600" b="1" baseline="-25000">
                  <a:solidFill>
                    <a:schemeClr val="tx2"/>
                  </a:solidFill>
                </a:rPr>
                <a:t>A</a:t>
              </a:r>
              <a:r>
                <a:rPr kumimoji="0" lang="en-US" altLang="ko-KR" sz="1600" b="1">
                  <a:solidFill>
                    <a:schemeClr val="tx2"/>
                  </a:solidFill>
                </a:rPr>
                <a:t>)</a:t>
              </a:r>
              <a:r>
                <a:rPr kumimoji="0" lang="en-US" altLang="ko-KR" sz="1600" b="1"/>
                <a:t> </a:t>
              </a:r>
            </a:p>
          </p:txBody>
        </p:sp>
        <p:sp>
          <p:nvSpPr>
            <p:cNvPr id="28683" name="AutoShape 14">
              <a:extLst>
                <a:ext uri="{FF2B5EF4-FFF2-40B4-BE49-F238E27FC236}">
                  <a16:creationId xmlns:a16="http://schemas.microsoft.com/office/drawing/2014/main" id="{344031E7-55E0-2912-3130-9112271614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2" y="2931"/>
              <a:ext cx="1451" cy="545"/>
            </a:xfrm>
            <a:prstGeom prst="wedgeRectCallout">
              <a:avLst>
                <a:gd name="adj1" fmla="val -50000"/>
                <a:gd name="adj2" fmla="val -87616"/>
              </a:avLst>
            </a:prstGeom>
            <a:solidFill>
              <a:srgbClr val="FFFF66"/>
            </a:solidFill>
            <a:ln>
              <a:noFill/>
            </a:ln>
            <a:effectLst>
              <a:outerShdw dist="35921" dir="2700000" algn="ctr" rotWithShape="0">
                <a:srgbClr val="FF6699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latinLnBrk="0" hangingPunct="1"/>
              <a:r>
                <a:rPr kumimoji="0" lang="en-US" altLang="ko-KR" sz="1600" b="1"/>
                <a:t>i</a:t>
              </a:r>
              <a:r>
                <a:rPr kumimoji="0" lang="ko-KR" altLang="en-US" sz="1600" b="1"/>
                <a:t>번째 그룹내에서의 </a:t>
              </a:r>
            </a:p>
            <a:p>
              <a:pPr algn="ctr" eaLnBrk="1" latinLnBrk="0" hangingPunct="1"/>
              <a:r>
                <a:rPr kumimoji="0" lang="ko-KR" altLang="en-US" sz="1600" b="1"/>
                <a:t>편차 제곱합</a:t>
              </a:r>
            </a:p>
            <a:p>
              <a:pPr algn="ctr" eaLnBrk="1" latinLnBrk="0" hangingPunct="1"/>
              <a:r>
                <a:rPr kumimoji="0" lang="en-US" altLang="ko-KR" sz="1600" b="1"/>
                <a:t>-</a:t>
              </a:r>
              <a:r>
                <a:rPr kumimoji="0" lang="ko-KR" altLang="en-US" sz="1600" b="1">
                  <a:solidFill>
                    <a:schemeClr val="tx2"/>
                  </a:solidFill>
                </a:rPr>
                <a:t>그룹내 변동</a:t>
              </a:r>
              <a:r>
                <a:rPr kumimoji="0" lang="en-US" altLang="ko-KR" sz="1600" b="1">
                  <a:solidFill>
                    <a:schemeClr val="tx2"/>
                  </a:solidFill>
                </a:rPr>
                <a:t>(SS</a:t>
              </a:r>
              <a:r>
                <a:rPr kumimoji="0" lang="en-US" altLang="ko-KR" sz="1600" b="1" baseline="-25000">
                  <a:solidFill>
                    <a:schemeClr val="tx2"/>
                  </a:solidFill>
                </a:rPr>
                <a:t>E</a:t>
              </a:r>
              <a:r>
                <a:rPr kumimoji="0" lang="en-US" altLang="ko-KR" sz="1600" b="1">
                  <a:solidFill>
                    <a:schemeClr val="tx2"/>
                  </a:solidFill>
                </a:rPr>
                <a:t>)</a:t>
              </a:r>
              <a:r>
                <a:rPr kumimoji="0" lang="en-US" altLang="ko-KR" sz="1600" b="1"/>
                <a:t> </a:t>
              </a:r>
            </a:p>
          </p:txBody>
        </p:sp>
      </p:grpSp>
      <p:sp>
        <p:nvSpPr>
          <p:cNvPr id="28678" name="Rectangle 8">
            <a:extLst>
              <a:ext uri="{FF2B5EF4-FFF2-40B4-BE49-F238E27FC236}">
                <a16:creationId xmlns:a16="http://schemas.microsoft.com/office/drawing/2014/main" id="{B7D9A5F4-2457-A599-05D5-EB13D129E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3284538"/>
            <a:ext cx="2881312" cy="388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47675" indent="-447675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0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 2" panose="05020102010507070707" pitchFamily="18" charset="2"/>
              <a:buChar char=""/>
            </a:pPr>
            <a:r>
              <a:rPr kumimoji="0" lang="ko-KR" altLang="en-US" b="1"/>
              <a:t>분산분석 과정</a:t>
            </a:r>
            <a:r>
              <a:rPr kumimoji="0" lang="ko-KR" altLang="en-US" b="1">
                <a:solidFill>
                  <a:schemeClr val="accent1"/>
                </a:solidFill>
              </a:rPr>
              <a:t> </a:t>
            </a:r>
          </a:p>
          <a:p>
            <a:pPr eaLnBrk="1" latinLnBrk="0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 2" panose="05020102010507070707" pitchFamily="18" charset="2"/>
              <a:buNone/>
            </a:pPr>
            <a:endParaRPr kumimoji="0" lang="en-US" altLang="ko-KR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58">
            <a:extLst>
              <a:ext uri="{FF2B5EF4-FFF2-40B4-BE49-F238E27FC236}">
                <a16:creationId xmlns:a16="http://schemas.microsoft.com/office/drawing/2014/main" id="{B8EF0634-400A-C211-591B-93FE021CCB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2118"/>
            <a:ext cx="6227763" cy="368300"/>
          </a:xfrm>
        </p:spPr>
        <p:txBody>
          <a:bodyPr/>
          <a:lstStyle/>
          <a:p>
            <a:pPr eaLnBrk="1" hangingPunct="1"/>
            <a:r>
              <a:rPr lang="ko-KR" altLang="en-US" sz="2400" dirty="0" err="1"/>
              <a:t>일원배치법</a:t>
            </a:r>
            <a:endParaRPr lang="en-US" altLang="ko-KR" sz="2400" dirty="0"/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B317AEF3-16CA-F85B-8991-A59BA7A19D8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 bwMode="auto">
          <a:xfrm>
            <a:off x="468313" y="1412875"/>
            <a:ext cx="7488237" cy="18002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90000"/>
              </a:lnSpc>
            </a:pPr>
            <a:r>
              <a:rPr lang="ko-KR" altLang="en-US" sz="1800" b="1">
                <a:solidFill>
                  <a:schemeClr val="tx2"/>
                </a:solidFill>
              </a:rPr>
              <a:t>검정방법 </a:t>
            </a:r>
          </a:p>
          <a:p>
            <a:pPr eaLnBrk="1" hangingPunct="1">
              <a:lnSpc>
                <a:spcPct val="90000"/>
              </a:lnSpc>
              <a:buFont typeface="Wingdings 2" panose="05020102010507070707" pitchFamily="18" charset="2"/>
              <a:buNone/>
            </a:pPr>
            <a:r>
              <a:rPr lang="ko-KR" altLang="en-US" sz="1800" b="1">
                <a:solidFill>
                  <a:srgbClr val="FF6699"/>
                </a:solidFill>
              </a:rPr>
              <a:t>       </a:t>
            </a:r>
            <a:r>
              <a:rPr lang="en-US" altLang="ko-KR" sz="1800" b="1">
                <a:solidFill>
                  <a:srgbClr val="FF6699"/>
                </a:solidFill>
              </a:rPr>
              <a:t>F</a:t>
            </a:r>
            <a:r>
              <a:rPr lang="ko-KR" altLang="en-US" sz="1800" b="1">
                <a:solidFill>
                  <a:srgbClr val="FF6699"/>
                </a:solidFill>
              </a:rPr>
              <a:t>통계량 </a:t>
            </a:r>
            <a:r>
              <a:rPr lang="en-US" altLang="ko-KR" sz="1800" b="1">
                <a:solidFill>
                  <a:srgbClr val="FF6699"/>
                </a:solidFill>
              </a:rPr>
              <a:t>&gt; F(</a:t>
            </a:r>
            <a:r>
              <a:rPr lang="el-GR" altLang="ko-KR" sz="1800" b="1">
                <a:solidFill>
                  <a:srgbClr val="FF6699"/>
                </a:solidFill>
              </a:rPr>
              <a:t>α</a:t>
            </a:r>
            <a:r>
              <a:rPr lang="en-US" altLang="ko-KR" sz="1800" b="1">
                <a:solidFill>
                  <a:srgbClr val="FF6699"/>
                </a:solidFill>
              </a:rPr>
              <a:t>; a-1, N-a)</a:t>
            </a:r>
            <a:r>
              <a:rPr lang="en-US" altLang="ko-KR" sz="1800"/>
              <a:t> </a:t>
            </a:r>
            <a:r>
              <a:rPr lang="ko-KR" altLang="en-US" sz="1800" b="1"/>
              <a:t>이면 귀무가설 기각</a:t>
            </a:r>
            <a:r>
              <a:rPr lang="en-US" altLang="ko-KR" sz="1800" b="1"/>
              <a:t>, </a:t>
            </a:r>
            <a:r>
              <a:rPr lang="ko-KR" altLang="en-US" sz="1800" b="1"/>
              <a:t>아니면 채택</a:t>
            </a:r>
            <a:endParaRPr lang="en-US" altLang="ko-KR" sz="1800" b="1"/>
          </a:p>
          <a:p>
            <a:pPr eaLnBrk="1" hangingPunct="1">
              <a:lnSpc>
                <a:spcPct val="90000"/>
              </a:lnSpc>
              <a:buFont typeface="Wingdings 2" panose="05020102010507070707" pitchFamily="18" charset="2"/>
              <a:buNone/>
            </a:pPr>
            <a:endParaRPr lang="ko-KR" altLang="en-US" sz="1800" b="1"/>
          </a:p>
          <a:p>
            <a:pPr eaLnBrk="1" hangingPunct="1">
              <a:lnSpc>
                <a:spcPct val="90000"/>
              </a:lnSpc>
            </a:pPr>
            <a:r>
              <a:rPr lang="ko-KR" altLang="en-US" sz="1800" b="1"/>
              <a:t>결정계수</a:t>
            </a:r>
            <a:r>
              <a:rPr lang="ko-KR" altLang="en-US" sz="1800"/>
              <a:t>  </a:t>
            </a:r>
          </a:p>
          <a:p>
            <a:pPr eaLnBrk="1" hangingPunct="1">
              <a:lnSpc>
                <a:spcPct val="90000"/>
              </a:lnSpc>
              <a:buFont typeface="Wingdings 2" panose="05020102010507070707" pitchFamily="18" charset="2"/>
              <a:buNone/>
            </a:pPr>
            <a:r>
              <a:rPr lang="ko-KR" altLang="en-US" sz="1800"/>
              <a:t>       </a:t>
            </a:r>
            <a:r>
              <a:rPr lang="ko-KR" altLang="en-US" sz="1800" b="1"/>
              <a:t>전체 자료 변동 중 모형에 의해서 설명되는 부분 </a:t>
            </a:r>
          </a:p>
          <a:p>
            <a:pPr eaLnBrk="1" hangingPunct="1">
              <a:lnSpc>
                <a:spcPct val="90000"/>
              </a:lnSpc>
              <a:buFont typeface="Wingdings 2" panose="05020102010507070707" pitchFamily="18" charset="2"/>
              <a:buNone/>
            </a:pPr>
            <a:endParaRPr lang="ko-KR" altLang="en-US" sz="1800"/>
          </a:p>
          <a:p>
            <a:pPr eaLnBrk="1" hangingPunct="1">
              <a:lnSpc>
                <a:spcPct val="90000"/>
              </a:lnSpc>
              <a:buFont typeface="Wingdings 2" panose="05020102010507070707" pitchFamily="18" charset="2"/>
              <a:buNone/>
            </a:pPr>
            <a:endParaRPr lang="ko-KR" altLang="el-GR" sz="1800"/>
          </a:p>
        </p:txBody>
      </p:sp>
      <p:graphicFrame>
        <p:nvGraphicFramePr>
          <p:cNvPr id="34884" name="Group 68">
            <a:extLst>
              <a:ext uri="{FF2B5EF4-FFF2-40B4-BE49-F238E27FC236}">
                <a16:creationId xmlns:a16="http://schemas.microsoft.com/office/drawing/2014/main" id="{5D8437E0-3A03-AFD4-8A66-D8BB01CE0E3D}"/>
              </a:ext>
            </a:extLst>
          </p:cNvPr>
          <p:cNvGraphicFramePr>
            <a:graphicFrameLocks noGrp="1"/>
          </p:cNvGraphicFramePr>
          <p:nvPr>
            <p:ph sz="quarter" idx="2"/>
          </p:nvPr>
        </p:nvGraphicFramePr>
        <p:xfrm>
          <a:off x="900113" y="3716338"/>
          <a:ext cx="7272337" cy="2149474"/>
        </p:xfrm>
        <a:graphic>
          <a:graphicData uri="http://schemas.openxmlformats.org/drawingml/2006/table">
            <a:tbl>
              <a:tblPr/>
              <a:tblGrid>
                <a:gridCol w="21256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9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1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583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583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631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 2" pitchFamily="18" charset="2"/>
                        <a:buNone/>
                        <a:tabLst/>
                      </a:pPr>
                      <a:r>
                        <a:rPr kumimoji="1" lang="ko-KR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6699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요인</a:t>
                      </a:r>
                    </a:p>
                  </a:txBody>
                  <a:tcPr marT="45732" marB="4573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변동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요인 </a:t>
                      </a:r>
                    </a:p>
                  </a:txBody>
                  <a:tcPr marL="90000" marR="90000" marT="46812" marB="468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 2" pitchFamily="18" charset="2"/>
                        <a:buNone/>
                        <a:tabLst/>
                      </a:pP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6699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자유도</a:t>
                      </a: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 2" pitchFamily="18" charset="2"/>
                        <a:buNone/>
                        <a:tabLst/>
                      </a:pP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6699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제곱평균</a:t>
                      </a: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6699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F</a:t>
                      </a:r>
                      <a:r>
                        <a:rPr kumimoji="1" lang="ko-KR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6699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값</a:t>
                      </a: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6699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p</a:t>
                      </a:r>
                      <a:r>
                        <a:rPr kumimoji="1" lang="ko-KR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6699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값</a:t>
                      </a:r>
                    </a:p>
                  </a:txBody>
                  <a:tcPr marT="45732" marB="4573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78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 2" pitchFamily="18" charset="2"/>
                        <a:buNone/>
                        <a:tabLst/>
                      </a:pP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처리</a:t>
                      </a: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(</a:t>
                      </a: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인자</a:t>
                      </a: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)(Model)</a:t>
                      </a:r>
                    </a:p>
                  </a:txBody>
                  <a:tcPr marT="45732" marB="4573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집단간</a:t>
                      </a:r>
                    </a:p>
                  </a:txBody>
                  <a:tcPr marL="90000" marR="90000" marT="46812" marB="468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a-1</a:t>
                      </a: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MSA</a:t>
                      </a: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 2" pitchFamily="18" charset="2"/>
                        <a:buNone/>
                        <a:tabLst/>
                      </a:pPr>
                      <a:endParaRPr kumimoji="1" lang="ko-KR" altLang="ko-K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0.01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 2" pitchFamily="18" charset="2"/>
                        <a:buNone/>
                        <a:tabLst/>
                      </a:pPr>
                      <a:endParaRPr kumimoji="1" lang="en-US" altLang="ko-K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 2" pitchFamily="18" charset="2"/>
                        <a:buNone/>
                        <a:tabLst/>
                      </a:pPr>
                      <a:endParaRPr kumimoji="1" lang="en-US" altLang="ko-K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 2" pitchFamily="18" charset="2"/>
                        <a:buNone/>
                        <a:tabLst/>
                      </a:pPr>
                      <a:endParaRPr kumimoji="1" lang="ko-KR" altLang="ko-K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T="45732" marB="4573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92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 2" pitchFamily="18" charset="2"/>
                        <a:buNone/>
                        <a:tabLst/>
                      </a:pP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잔차</a:t>
                      </a: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(Error)</a:t>
                      </a:r>
                    </a:p>
                  </a:txBody>
                  <a:tcPr marT="45732" marB="4573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집단내</a:t>
                      </a:r>
                    </a:p>
                  </a:txBody>
                  <a:tcPr marL="90000" marR="90000" marT="46812" marB="468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N-a</a:t>
                      </a: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MSE</a:t>
                      </a: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92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 2" pitchFamily="18" charset="2"/>
                        <a:buNone/>
                        <a:tabLst/>
                      </a:pP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합계</a:t>
                      </a: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(Total)</a:t>
                      </a:r>
                    </a:p>
                  </a:txBody>
                  <a:tcPr marT="45732" marB="4573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합  계</a:t>
                      </a:r>
                    </a:p>
                  </a:txBody>
                  <a:tcPr marL="90000" marR="90000" marT="46812" marB="468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N-1</a:t>
                      </a: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 2" pitchFamily="18" charset="2"/>
                        <a:buNone/>
                        <a:tabLst/>
                      </a:pPr>
                      <a:endParaRPr kumimoji="1" lang="ko-KR" altLang="ko-KR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T="45732" marB="4573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9733" name="Object 57">
            <a:extLst>
              <a:ext uri="{FF2B5EF4-FFF2-40B4-BE49-F238E27FC236}">
                <a16:creationId xmlns:a16="http://schemas.microsoft.com/office/drawing/2014/main" id="{32466FB0-874D-3ED3-1386-76A1FFA3D2FD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6429375" y="4292600"/>
          <a:ext cx="647700" cy="66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9" name="Equation" r:id="rId3" imgW="380835" imgH="393529" progId="Equation.3">
                  <p:embed/>
                </p:oleObj>
              </mc:Choice>
              <mc:Fallback>
                <p:oleObj name="Equation" r:id="rId3" imgW="380835" imgH="393529" progId="Equation.3">
                  <p:embed/>
                  <p:pic>
                    <p:nvPicPr>
                      <p:cNvPr id="29733" name="Object 57">
                        <a:extLst>
                          <a:ext uri="{FF2B5EF4-FFF2-40B4-BE49-F238E27FC236}">
                            <a16:creationId xmlns:a16="http://schemas.microsoft.com/office/drawing/2014/main" id="{32466FB0-874D-3ED3-1386-76A1FFA3D2F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9375" y="4292600"/>
                        <a:ext cx="647700" cy="669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34" name="Text Box 69">
            <a:extLst>
              <a:ext uri="{FF2B5EF4-FFF2-40B4-BE49-F238E27FC236}">
                <a16:creationId xmlns:a16="http://schemas.microsoft.com/office/drawing/2014/main" id="{CFB93261-6AD0-524A-5086-0232754559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3213100"/>
            <a:ext cx="2520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ko-KR" altLang="en-US" b="1"/>
              <a:t>일원배치 분산분석표</a:t>
            </a:r>
          </a:p>
        </p:txBody>
      </p:sp>
    </p:spTree>
  </p:cSld>
  <p:clrMapOvr>
    <a:masterClrMapping/>
  </p:clrMapOvr>
  <p:transition spd="med">
    <p:fade thruBlk="1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슬라이드 번호 개체 틀 5">
            <a:extLst>
              <a:ext uri="{FF2B5EF4-FFF2-40B4-BE49-F238E27FC236}">
                <a16:creationId xmlns:a16="http://schemas.microsoft.com/office/drawing/2014/main" id="{8DB19D1B-E619-FA12-20C3-01DBEF6BB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0E9A10EA-6681-4151-BB65-E74B808326AA}" type="slidenum">
              <a:rPr lang="en-US" altLang="ko-KR">
                <a:solidFill>
                  <a:srgbClr val="0070C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pPr eaLnBrk="1" hangingPunct="1"/>
              <a:t>46</a:t>
            </a:fld>
            <a:endParaRPr lang="en-US" altLang="ko-KR">
              <a:solidFill>
                <a:srgbClr val="0070C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30723" name="Rectangle 58">
            <a:extLst>
              <a:ext uri="{FF2B5EF4-FFF2-40B4-BE49-F238E27FC236}">
                <a16:creationId xmlns:a16="http://schemas.microsoft.com/office/drawing/2014/main" id="{ED295D76-65A5-5B96-FC4A-B43DF00ED1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9668" y="41275"/>
            <a:ext cx="6227763" cy="368300"/>
          </a:xfrm>
        </p:spPr>
        <p:txBody>
          <a:bodyPr/>
          <a:lstStyle/>
          <a:p>
            <a:pPr eaLnBrk="1" hangingPunct="1"/>
            <a:r>
              <a:rPr lang="ko-KR" altLang="en-US" sz="2400" dirty="0"/>
              <a:t>일원배치 분산분석</a:t>
            </a:r>
            <a:r>
              <a:rPr lang="en-US" altLang="ko-KR" sz="2400" dirty="0"/>
              <a:t>(One-way ANOVA)</a:t>
            </a:r>
          </a:p>
        </p:txBody>
      </p:sp>
      <p:sp>
        <p:nvSpPr>
          <p:cNvPr id="30724" name="직사각형 3">
            <a:extLst>
              <a:ext uri="{FF2B5EF4-FFF2-40B4-BE49-F238E27FC236}">
                <a16:creationId xmlns:a16="http://schemas.microsoft.com/office/drawing/2014/main" id="{6CEDC25D-BB17-9CF3-EC02-75E7043ADF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188" y="1428750"/>
            <a:ext cx="68580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l" eaLnBrk="1" hangingPunct="1"/>
            <a:r>
              <a:rPr lang="en-US" altLang="ko-KR" sz="2400" dirty="0"/>
              <a:t>&gt; </a:t>
            </a:r>
            <a:r>
              <a:rPr lang="en-US" altLang="ko-KR" sz="2400" dirty="0" err="1"/>
              <a:t>aov</a:t>
            </a:r>
            <a:r>
              <a:rPr lang="en-US" altLang="ko-KR" sz="2400" dirty="0"/>
              <a:t> &lt;- </a:t>
            </a:r>
            <a:r>
              <a:rPr lang="en-US" altLang="ko-KR" sz="2400" dirty="0" err="1"/>
              <a:t>lm</a:t>
            </a:r>
            <a:r>
              <a:rPr lang="en-US" altLang="ko-KR" sz="2400" dirty="0"/>
              <a:t>(prod$</a:t>
            </a:r>
            <a:r>
              <a:rPr lang="ko-KR" altLang="en-US" sz="2400" dirty="0"/>
              <a:t>생산량 </a:t>
            </a:r>
            <a:r>
              <a:rPr lang="en-US" altLang="ko-KR" sz="2400" dirty="0"/>
              <a:t>~prod$</a:t>
            </a:r>
            <a:r>
              <a:rPr lang="ko-KR" altLang="en-US" sz="2400" dirty="0"/>
              <a:t>시간대</a:t>
            </a:r>
            <a:r>
              <a:rPr lang="en-US" altLang="ko-KR" sz="2400" dirty="0"/>
              <a:t>)</a:t>
            </a:r>
          </a:p>
          <a:p>
            <a:pPr eaLnBrk="1" hangingPunct="1"/>
            <a:r>
              <a:rPr lang="en-US" altLang="ko-KR" sz="2400" dirty="0"/>
              <a:t>&gt; </a:t>
            </a:r>
            <a:r>
              <a:rPr lang="en-US" altLang="ko-KR" sz="2400" dirty="0" err="1"/>
              <a:t>anova</a:t>
            </a:r>
            <a:r>
              <a:rPr lang="en-US" altLang="ko-KR" sz="2400" dirty="0"/>
              <a:t>(</a:t>
            </a:r>
            <a:r>
              <a:rPr lang="en-US" altLang="ko-KR" sz="2400" dirty="0" err="1"/>
              <a:t>aov</a:t>
            </a:r>
            <a:r>
              <a:rPr lang="en-US" altLang="ko-KR" sz="2400" dirty="0"/>
              <a:t>)</a:t>
            </a:r>
          </a:p>
        </p:txBody>
      </p:sp>
      <p:pic>
        <p:nvPicPr>
          <p:cNvPr id="30725" name="Picture 2">
            <a:extLst>
              <a:ext uri="{FF2B5EF4-FFF2-40B4-BE49-F238E27FC236}">
                <a16:creationId xmlns:a16="http://schemas.microsoft.com/office/drawing/2014/main" id="{0E203719-0B4A-BDE2-3662-F2CBD6B00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25" y="2571750"/>
            <a:ext cx="8469313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fade thruBlk="1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슬라이드 번호 개체 틀 5">
            <a:extLst>
              <a:ext uri="{FF2B5EF4-FFF2-40B4-BE49-F238E27FC236}">
                <a16:creationId xmlns:a16="http://schemas.microsoft.com/office/drawing/2014/main" id="{90A6F41E-A5A3-B0B5-F40B-37C50C111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75537B95-E4C6-4D23-8CC1-27F2A568B056}" type="slidenum">
              <a:rPr lang="en-US" altLang="ko-KR">
                <a:solidFill>
                  <a:srgbClr val="0070C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pPr eaLnBrk="1" hangingPunct="1"/>
              <a:t>47</a:t>
            </a:fld>
            <a:endParaRPr lang="en-US" altLang="ko-KR">
              <a:solidFill>
                <a:srgbClr val="0070C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31747" name="Rectangle 58">
            <a:extLst>
              <a:ext uri="{FF2B5EF4-FFF2-40B4-BE49-F238E27FC236}">
                <a16:creationId xmlns:a16="http://schemas.microsoft.com/office/drawing/2014/main" id="{1F2C5F56-F8C1-8CEC-6D37-9D79BF3F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" y="133078"/>
            <a:ext cx="6227763" cy="368300"/>
          </a:xfrm>
        </p:spPr>
        <p:txBody>
          <a:bodyPr/>
          <a:lstStyle/>
          <a:p>
            <a:pPr eaLnBrk="1" hangingPunct="1"/>
            <a:r>
              <a:rPr lang="ko-KR" altLang="en-US" sz="2400" dirty="0"/>
              <a:t>일원배치 분산분석</a:t>
            </a:r>
            <a:r>
              <a:rPr lang="en-US" altLang="ko-KR" sz="2400" dirty="0"/>
              <a:t>(One-way ANOVA)</a:t>
            </a:r>
          </a:p>
        </p:txBody>
      </p:sp>
      <p:sp>
        <p:nvSpPr>
          <p:cNvPr id="31748" name="직사각형 3">
            <a:extLst>
              <a:ext uri="{FF2B5EF4-FFF2-40B4-BE49-F238E27FC236}">
                <a16:creationId xmlns:a16="http://schemas.microsoft.com/office/drawing/2014/main" id="{FA8792A7-EE21-8A9A-2EB3-DEEC1B58CB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188" y="1428750"/>
            <a:ext cx="6858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l" eaLnBrk="1" hangingPunct="1"/>
            <a:r>
              <a:rPr lang="en-US" altLang="ko-KR" sz="2400" dirty="0"/>
              <a:t>&gt; summary(</a:t>
            </a:r>
            <a:r>
              <a:rPr lang="en-US" altLang="ko-KR" sz="2400" dirty="0" err="1"/>
              <a:t>aov</a:t>
            </a:r>
            <a:r>
              <a:rPr lang="en-US" altLang="ko-KR" sz="2400" dirty="0"/>
              <a:t>)</a:t>
            </a:r>
          </a:p>
        </p:txBody>
      </p:sp>
      <p:pic>
        <p:nvPicPr>
          <p:cNvPr id="31749" name="Picture 2">
            <a:extLst>
              <a:ext uri="{FF2B5EF4-FFF2-40B4-BE49-F238E27FC236}">
                <a16:creationId xmlns:a16="http://schemas.microsoft.com/office/drawing/2014/main" id="{5BC191A7-20D6-EA1F-FF12-1C68D92D45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375" y="2071688"/>
            <a:ext cx="6215063" cy="405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fade thruBlk="1"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슬라이드 번호 개체 틀 5">
            <a:extLst>
              <a:ext uri="{FF2B5EF4-FFF2-40B4-BE49-F238E27FC236}">
                <a16:creationId xmlns:a16="http://schemas.microsoft.com/office/drawing/2014/main" id="{AE000FE0-650B-2450-B5A9-6A3C540B1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D930FF19-CA6C-4D0E-8541-4BDAD221C82C}" type="slidenum">
              <a:rPr lang="en-US" altLang="ko-KR">
                <a:solidFill>
                  <a:srgbClr val="0070C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pPr eaLnBrk="1" hangingPunct="1"/>
              <a:t>48</a:t>
            </a:fld>
            <a:endParaRPr lang="en-US" altLang="ko-KR">
              <a:solidFill>
                <a:srgbClr val="0070C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32771" name="Rectangle 58">
            <a:extLst>
              <a:ext uri="{FF2B5EF4-FFF2-40B4-BE49-F238E27FC236}">
                <a16:creationId xmlns:a16="http://schemas.microsoft.com/office/drawing/2014/main" id="{9A4ACE55-62CD-A9C9-A65E-E504AF8542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34938"/>
            <a:ext cx="6227763" cy="368300"/>
          </a:xfrm>
        </p:spPr>
        <p:txBody>
          <a:bodyPr/>
          <a:lstStyle/>
          <a:p>
            <a:pPr eaLnBrk="1" hangingPunct="1"/>
            <a:r>
              <a:rPr lang="ko-KR" altLang="en-US" sz="2400" dirty="0"/>
              <a:t>일원배치 분산분석</a:t>
            </a:r>
            <a:r>
              <a:rPr lang="en-US" altLang="ko-KR" sz="2400" dirty="0"/>
              <a:t>(One-way ANOVA)</a:t>
            </a:r>
          </a:p>
        </p:txBody>
      </p:sp>
      <p:sp>
        <p:nvSpPr>
          <p:cNvPr id="32772" name="직사각형 3">
            <a:extLst>
              <a:ext uri="{FF2B5EF4-FFF2-40B4-BE49-F238E27FC236}">
                <a16:creationId xmlns:a16="http://schemas.microsoft.com/office/drawing/2014/main" id="{47304249-F47A-2F20-00BD-A798FBA6E4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313" y="1143000"/>
            <a:ext cx="77866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2400"/>
              <a:t>plot(prod$</a:t>
            </a:r>
            <a:r>
              <a:rPr lang="ko-KR" altLang="en-US" sz="2400"/>
              <a:t>생산량 </a:t>
            </a:r>
            <a:r>
              <a:rPr lang="en-US" altLang="ko-KR" sz="2400"/>
              <a:t>~prod$</a:t>
            </a:r>
            <a:r>
              <a:rPr lang="ko-KR" altLang="en-US" sz="2400"/>
              <a:t>시간대</a:t>
            </a:r>
            <a:r>
              <a:rPr lang="en-US" altLang="ko-KR" sz="2400"/>
              <a:t>, col='lightgray‘)</a:t>
            </a:r>
          </a:p>
        </p:txBody>
      </p:sp>
      <p:pic>
        <p:nvPicPr>
          <p:cNvPr id="32773" name="Picture 2">
            <a:extLst>
              <a:ext uri="{FF2B5EF4-FFF2-40B4-BE49-F238E27FC236}">
                <a16:creationId xmlns:a16="http://schemas.microsoft.com/office/drawing/2014/main" id="{EFF4D1A4-0C16-EDF6-678F-0B0DC1AD6F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125" y="1643063"/>
            <a:ext cx="4500563" cy="3375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4" name="직사각형 7">
            <a:extLst>
              <a:ext uri="{FF2B5EF4-FFF2-40B4-BE49-F238E27FC236}">
                <a16:creationId xmlns:a16="http://schemas.microsoft.com/office/drawing/2014/main" id="{C583FBCC-C6F2-E57F-621F-27CF042FC5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313" y="5143500"/>
            <a:ext cx="77866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2400"/>
              <a:t>tapply(prod$</a:t>
            </a:r>
            <a:r>
              <a:rPr lang="ko-KR" altLang="en-US" sz="2400"/>
              <a:t>생산량</a:t>
            </a:r>
            <a:r>
              <a:rPr lang="en-US" altLang="ko-KR" sz="2400"/>
              <a:t>, prod$</a:t>
            </a:r>
            <a:r>
              <a:rPr lang="ko-KR" altLang="en-US" sz="2400"/>
              <a:t>시간대</a:t>
            </a:r>
            <a:r>
              <a:rPr lang="en-US" altLang="ko-KR" sz="2400"/>
              <a:t>, mean)</a:t>
            </a:r>
          </a:p>
        </p:txBody>
      </p:sp>
      <p:pic>
        <p:nvPicPr>
          <p:cNvPr id="32775" name="Picture 3">
            <a:extLst>
              <a:ext uri="{FF2B5EF4-FFF2-40B4-BE49-F238E27FC236}">
                <a16:creationId xmlns:a16="http://schemas.microsoft.com/office/drawing/2014/main" id="{813DD840-E59A-5A21-BD26-4BABDDB6B2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813" y="5715000"/>
            <a:ext cx="6191250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fade thruBlk="1"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슬라이드 번호 개체 틀 5">
            <a:extLst>
              <a:ext uri="{FF2B5EF4-FFF2-40B4-BE49-F238E27FC236}">
                <a16:creationId xmlns:a16="http://schemas.microsoft.com/office/drawing/2014/main" id="{ED9776F9-EFDE-9422-303C-64B3B51A9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1A5CE3F8-3406-4A89-8D58-9D029939A376}" type="slidenum">
              <a:rPr lang="en-US" altLang="ko-KR">
                <a:solidFill>
                  <a:srgbClr val="0070C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pPr eaLnBrk="1" hangingPunct="1"/>
              <a:t>49</a:t>
            </a:fld>
            <a:endParaRPr lang="en-US" altLang="ko-KR">
              <a:solidFill>
                <a:srgbClr val="0070C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33795" name="Rectangle 58">
            <a:extLst>
              <a:ext uri="{FF2B5EF4-FFF2-40B4-BE49-F238E27FC236}">
                <a16:creationId xmlns:a16="http://schemas.microsoft.com/office/drawing/2014/main" id="{1345E92E-9F7C-FC96-6637-498E4FAEC0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01600"/>
            <a:ext cx="6227763" cy="368300"/>
          </a:xfrm>
        </p:spPr>
        <p:txBody>
          <a:bodyPr/>
          <a:lstStyle/>
          <a:p>
            <a:pPr eaLnBrk="1" hangingPunct="1"/>
            <a:r>
              <a:rPr lang="ko-KR" altLang="en-US" sz="2400" dirty="0"/>
              <a:t>일원배치 분산분석</a:t>
            </a:r>
            <a:r>
              <a:rPr lang="en-US" altLang="ko-KR" sz="2400" dirty="0"/>
              <a:t>(One-way ANOVA)</a:t>
            </a:r>
          </a:p>
        </p:txBody>
      </p:sp>
      <p:sp>
        <p:nvSpPr>
          <p:cNvPr id="33796" name="직사각형 3">
            <a:extLst>
              <a:ext uri="{FF2B5EF4-FFF2-40B4-BE49-F238E27FC236}">
                <a16:creationId xmlns:a16="http://schemas.microsoft.com/office/drawing/2014/main" id="{DEF4BE50-2B43-259B-7827-F8E12A4413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646" y="918368"/>
            <a:ext cx="7786687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2400"/>
              <a:t>par(mfrow=c(2,2))</a:t>
            </a:r>
          </a:p>
          <a:p>
            <a:pPr eaLnBrk="1" hangingPunct="1"/>
            <a:r>
              <a:rPr lang="en-US" altLang="ko-KR" sz="2400"/>
              <a:t>plot(aov)</a:t>
            </a:r>
          </a:p>
        </p:txBody>
      </p:sp>
      <p:pic>
        <p:nvPicPr>
          <p:cNvPr id="33797" name="Picture 2">
            <a:extLst>
              <a:ext uri="{FF2B5EF4-FFF2-40B4-BE49-F238E27FC236}">
                <a16:creationId xmlns:a16="http://schemas.microsoft.com/office/drawing/2014/main" id="{4BF8CE1B-A99F-C941-0A76-B18ECDE414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1688" y="1965325"/>
            <a:ext cx="6143625" cy="4606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fade thruBlk="1"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16"/>
          <p:cNvSpPr>
            <a:spLocks noGrp="1" noChangeArrowheads="1"/>
          </p:cNvSpPr>
          <p:nvPr>
            <p:ph type="ctrTitle"/>
          </p:nvPr>
        </p:nvSpPr>
        <p:spPr>
          <a:xfrm>
            <a:off x="755650" y="2219325"/>
            <a:ext cx="6770688" cy="738664"/>
          </a:xfrm>
          <a:effectLst>
            <a:outerShdw dist="35921" dir="2700000" algn="ctr" rotWithShape="0">
              <a:schemeClr val="tx1"/>
            </a:outerShdw>
          </a:effectLst>
        </p:spPr>
        <p:txBody>
          <a:bodyPr/>
          <a:lstStyle/>
          <a:p>
            <a:pPr algn="l" eaLnBrk="1" hangingPunct="1">
              <a:defRPr/>
            </a:pPr>
            <a:r>
              <a:rPr lang="ko-KR" altLang="en-US" sz="4800" b="0" dirty="0">
                <a:solidFill>
                  <a:schemeClr val="bg1"/>
                </a:solidFill>
              </a:rPr>
              <a:t>변동의 이해와 분해</a:t>
            </a:r>
            <a:endParaRPr lang="en-US" altLang="ko-KR" sz="4800" b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5935133"/>
      </p:ext>
    </p:extLst>
  </p:cSld>
  <p:clrMapOvr>
    <a:masterClrMapping/>
  </p:clrMapOvr>
  <p:transition spd="med">
    <p:fade thruBlk="1"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23528" y="548680"/>
            <a:ext cx="8229600" cy="1066800"/>
          </a:xfrm>
        </p:spPr>
        <p:txBody>
          <a:bodyPr>
            <a:normAutofit fontScale="90000"/>
          </a:bodyPr>
          <a:lstStyle/>
          <a:p>
            <a:br>
              <a:rPr lang="en-US" altLang="ko-KR" b="1" dirty="0"/>
            </a:br>
            <a:br>
              <a:rPr lang="en-US" altLang="ko-KR" b="1" dirty="0"/>
            </a:br>
            <a:br>
              <a:rPr lang="en-US" altLang="ko-KR" b="1" dirty="0"/>
            </a:br>
            <a:br>
              <a:rPr lang="en-US" altLang="ko-KR" b="1" dirty="0"/>
            </a:br>
            <a:br>
              <a:rPr lang="en-US" altLang="ko-KR" b="1" dirty="0"/>
            </a:br>
            <a:br>
              <a:rPr lang="en-US" altLang="ko-KR" b="1" dirty="0"/>
            </a:br>
            <a:br>
              <a:rPr lang="en-US" altLang="ko-KR" b="1" dirty="0"/>
            </a:br>
            <a:br>
              <a:rPr lang="en-US" altLang="ko-KR" b="1" dirty="0"/>
            </a:br>
            <a:br>
              <a:rPr lang="en-US" altLang="ko-KR" b="1" dirty="0"/>
            </a:br>
            <a:br>
              <a:rPr lang="en-US" altLang="ko-KR" b="1" dirty="0"/>
            </a:br>
            <a:r>
              <a:rPr lang="en-US" altLang="ko-KR" dirty="0">
                <a:solidFill>
                  <a:schemeClr val="tx1"/>
                </a:solidFill>
              </a:rPr>
              <a:t>1</a:t>
            </a:r>
            <a:r>
              <a:rPr lang="ko-KR" altLang="en-US" b="1" dirty="0">
                <a:solidFill>
                  <a:schemeClr val="tx1"/>
                </a:solidFill>
              </a:rPr>
              <a:t>장</a:t>
            </a:r>
            <a:r>
              <a:rPr lang="en-US" altLang="ko-KR" b="1" dirty="0">
                <a:solidFill>
                  <a:schemeClr val="tx1"/>
                </a:solidFill>
              </a:rPr>
              <a:t> </a:t>
            </a:r>
            <a:r>
              <a:rPr lang="ko-KR" altLang="en-US" b="1" dirty="0">
                <a:solidFill>
                  <a:schemeClr val="tx1"/>
                </a:solidFill>
              </a:rPr>
              <a:t>변동의 이해 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758302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179114" y="92153"/>
            <a:ext cx="6913563" cy="369332"/>
          </a:xfrm>
          <a:effectLst>
            <a:outerShdw dist="35921" dir="2700000" algn="ctr" rotWithShape="0">
              <a:schemeClr val="tx1"/>
            </a:outerShdw>
          </a:effectLst>
        </p:spPr>
        <p:txBody>
          <a:bodyPr/>
          <a:lstStyle/>
          <a:p>
            <a:pPr eaLnBrk="1" hangingPunct="1">
              <a:defRPr/>
            </a:pPr>
            <a:r>
              <a:rPr lang="ko-KR" altLang="en-US" dirty="0"/>
              <a:t>변동의 이해</a:t>
            </a:r>
            <a:endParaRPr lang="en-US" altLang="ko-KR" dirty="0"/>
          </a:p>
        </p:txBody>
      </p:sp>
      <p:sp>
        <p:nvSpPr>
          <p:cNvPr id="35844" name="슬라이드 번호 개체 틀 1"/>
          <p:cNvSpPr>
            <a:spLocks noGrp="1"/>
          </p:cNvSpPr>
          <p:nvPr>
            <p:ph type="sldNum" sz="quarter" idx="429496729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411C02F3-32B6-4147-9EF7-6C6F94882612}" type="slidenum">
              <a:rPr lang="ko-KR" altLang="en-US" smtClean="0"/>
              <a:pPr/>
              <a:t>52</a:t>
            </a:fld>
            <a:endParaRPr lang="ko-KR" altLang="en-US"/>
          </a:p>
        </p:txBody>
      </p:sp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1160631" y="1100265"/>
          <a:ext cx="1600706" cy="5549214"/>
        </p:xfrm>
        <a:graphic>
          <a:graphicData uri="http://schemas.openxmlformats.org/drawingml/2006/table">
            <a:tbl>
              <a:tblPr/>
              <a:tblGrid>
                <a:gridCol w="16007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1325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 dirty="0" err="1">
                          <a:solidFill>
                            <a:srgbClr val="000000"/>
                          </a:solidFill>
                          <a:latin typeface="맑은 고딕"/>
                        </a:rPr>
                        <a:t>특성값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/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생산량</a:t>
                      </a:r>
                    </a:p>
                  </a:txBody>
                  <a:tcPr marL="8397" marR="8397" marT="83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3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50</a:t>
                      </a:r>
                    </a:p>
                  </a:txBody>
                  <a:tcPr marL="8397" marR="8397" marT="83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3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50</a:t>
                      </a:r>
                    </a:p>
                  </a:txBody>
                  <a:tcPr marL="8397" marR="8397" marT="83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3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50</a:t>
                      </a:r>
                    </a:p>
                  </a:txBody>
                  <a:tcPr marL="8397" marR="8397" marT="83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3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50</a:t>
                      </a:r>
                    </a:p>
                  </a:txBody>
                  <a:tcPr marL="8397" marR="8397" marT="83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13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50</a:t>
                      </a:r>
                    </a:p>
                  </a:txBody>
                  <a:tcPr marL="8397" marR="8397" marT="83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13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50</a:t>
                      </a:r>
                    </a:p>
                  </a:txBody>
                  <a:tcPr marL="8397" marR="8397" marT="83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13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50</a:t>
                      </a:r>
                    </a:p>
                  </a:txBody>
                  <a:tcPr marL="8397" marR="8397" marT="83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13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50</a:t>
                      </a:r>
                    </a:p>
                  </a:txBody>
                  <a:tcPr marL="8397" marR="8397" marT="83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13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50</a:t>
                      </a:r>
                    </a:p>
                  </a:txBody>
                  <a:tcPr marL="8397" marR="8397" marT="83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13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50</a:t>
                      </a:r>
                    </a:p>
                  </a:txBody>
                  <a:tcPr marL="8397" marR="8397" marT="83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13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50</a:t>
                      </a:r>
                    </a:p>
                  </a:txBody>
                  <a:tcPr marL="8397" marR="8397" marT="83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13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50</a:t>
                      </a:r>
                    </a:p>
                  </a:txBody>
                  <a:tcPr marL="8397" marR="8397" marT="83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13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50</a:t>
                      </a:r>
                    </a:p>
                  </a:txBody>
                  <a:tcPr marL="8397" marR="8397" marT="83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13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50</a:t>
                      </a:r>
                    </a:p>
                  </a:txBody>
                  <a:tcPr marL="8397" marR="8397" marT="83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13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50</a:t>
                      </a:r>
                    </a:p>
                  </a:txBody>
                  <a:tcPr marL="8397" marR="8397" marT="83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013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50</a:t>
                      </a:r>
                    </a:p>
                  </a:txBody>
                  <a:tcPr marL="8397" marR="8397" marT="83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013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50</a:t>
                      </a:r>
                    </a:p>
                  </a:txBody>
                  <a:tcPr marL="8397" marR="8397" marT="83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013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50</a:t>
                      </a:r>
                    </a:p>
                  </a:txBody>
                  <a:tcPr marL="8397" marR="8397" marT="83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013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50</a:t>
                      </a:r>
                    </a:p>
                  </a:txBody>
                  <a:tcPr marL="8397" marR="8397" marT="83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013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50</a:t>
                      </a:r>
                    </a:p>
                  </a:txBody>
                  <a:tcPr marL="8397" marR="8397" marT="83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01325">
                <a:tc>
                  <a:txBody>
                    <a:bodyPr/>
                    <a:lstStyle/>
                    <a:p>
                      <a:pPr algn="r" fontAlgn="ctr"/>
                      <a:endParaRPr lang="en-US" altLang="ko-KR" sz="16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8397" marR="8397" marT="83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428728" y="6417254"/>
            <a:ext cx="1071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평균 </a:t>
            </a:r>
            <a:r>
              <a:rPr lang="en-US" altLang="ko-KR" dirty="0"/>
              <a:t>50</a:t>
            </a:r>
            <a:endParaRPr lang="ko-KR" altLang="en-US" dirty="0"/>
          </a:p>
        </p:txBody>
      </p:sp>
      <p:graphicFrame>
        <p:nvGraphicFramePr>
          <p:cNvPr id="9" name="표 8"/>
          <p:cNvGraphicFramePr>
            <a:graphicFrameLocks noGrp="1"/>
          </p:cNvGraphicFramePr>
          <p:nvPr/>
        </p:nvGraphicFramePr>
        <p:xfrm>
          <a:off x="2714612" y="1071546"/>
          <a:ext cx="633351" cy="5305377"/>
        </p:xfrm>
        <a:graphic>
          <a:graphicData uri="http://schemas.openxmlformats.org/drawingml/2006/table">
            <a:tbl>
              <a:tblPr/>
              <a:tblGrid>
                <a:gridCol w="6333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352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편차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5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35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35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35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35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35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35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35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35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35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35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35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35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35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935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935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935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935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935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935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285984" y="6429396"/>
            <a:ext cx="1285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총변동</a:t>
            </a:r>
            <a:r>
              <a:rPr lang="ko-KR" altLang="en-US" dirty="0"/>
              <a:t> </a:t>
            </a:r>
            <a:r>
              <a:rPr lang="en-US" altLang="ko-KR" dirty="0"/>
              <a:t>0</a:t>
            </a:r>
            <a:endParaRPr lang="ko-KR" altLang="en-US" dirty="0"/>
          </a:p>
        </p:txBody>
      </p:sp>
      <p:graphicFrame>
        <p:nvGraphicFramePr>
          <p:cNvPr id="16" name="Object 9"/>
          <p:cNvGraphicFramePr>
            <a:graphicFrameLocks noChangeAspect="1"/>
          </p:cNvGraphicFramePr>
          <p:nvPr/>
        </p:nvGraphicFramePr>
        <p:xfrm>
          <a:off x="4024313" y="4000500"/>
          <a:ext cx="1355725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2" name="Equation" r:id="rId4" imgW="723600" imgH="342720" progId="Equation.3">
                  <p:embed/>
                </p:oleObj>
              </mc:Choice>
              <mc:Fallback>
                <p:oleObj name="Equation" r:id="rId4" imgW="723600" imgH="342720" progId="Equation.3">
                  <p:embed/>
                  <p:pic>
                    <p:nvPicPr>
                      <p:cNvPr id="16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24313" y="4000500"/>
                        <a:ext cx="1355725" cy="641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3635896" y="1412776"/>
            <a:ext cx="3286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총변동</a:t>
            </a:r>
            <a:r>
              <a:rPr lang="ko-KR" altLang="en-US" dirty="0"/>
              <a:t> 구하는 공식 </a:t>
            </a:r>
          </a:p>
        </p:txBody>
      </p:sp>
      <p:grpSp>
        <p:nvGrpSpPr>
          <p:cNvPr id="11" name="그룹 10"/>
          <p:cNvGrpSpPr/>
          <p:nvPr/>
        </p:nvGrpSpPr>
        <p:grpSpPr>
          <a:xfrm>
            <a:off x="3707904" y="2276872"/>
            <a:ext cx="3473574" cy="865278"/>
            <a:chOff x="3707904" y="2708920"/>
            <a:chExt cx="3473574" cy="865278"/>
          </a:xfrm>
        </p:grpSpPr>
        <p:sp>
          <p:nvSpPr>
            <p:cNvPr id="12" name="TextBox 1"/>
            <p:cNvSpPr txBox="1"/>
            <p:nvPr/>
          </p:nvSpPr>
          <p:spPr>
            <a:xfrm>
              <a:off x="3707904" y="2708920"/>
              <a:ext cx="21602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r>
                <a:rPr lang="ko-KR" altLang="en-US" dirty="0"/>
                <a:t>편차 </a:t>
              </a:r>
            </a:p>
          </p:txBody>
        </p:sp>
        <p:pic>
          <p:nvPicPr>
            <p:cNvPr id="13" name="그림 12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3923928" y="3121760"/>
              <a:ext cx="3257550" cy="452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4" name="TextBox 13"/>
          <p:cNvSpPr txBox="1"/>
          <p:nvPr/>
        </p:nvSpPr>
        <p:spPr>
          <a:xfrm>
            <a:off x="3635896" y="3429000"/>
            <a:ext cx="3286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총변동</a:t>
            </a:r>
            <a:r>
              <a:rPr lang="ko-KR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168550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4" name="슬라이드 번호 개체 틀 1"/>
          <p:cNvSpPr>
            <a:spLocks noGrp="1"/>
          </p:cNvSpPr>
          <p:nvPr>
            <p:ph type="sldNum" sz="quarter" idx="429496729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411C02F3-32B6-4147-9EF7-6C6F94882612}" type="slidenum">
              <a:rPr lang="ko-KR" altLang="en-US" smtClean="0"/>
              <a:pPr/>
              <a:t>53</a:t>
            </a:fld>
            <a:endParaRPr lang="ko-KR" altLang="en-US"/>
          </a:p>
        </p:txBody>
      </p:sp>
      <p:graphicFrame>
        <p:nvGraphicFramePr>
          <p:cNvPr id="11" name="표 10"/>
          <p:cNvGraphicFramePr>
            <a:graphicFrameLocks noGrp="1"/>
          </p:cNvGraphicFramePr>
          <p:nvPr/>
        </p:nvGraphicFramePr>
        <p:xfrm>
          <a:off x="3643306" y="1071546"/>
          <a:ext cx="633351" cy="5305377"/>
        </p:xfrm>
        <a:graphic>
          <a:graphicData uri="http://schemas.openxmlformats.org/drawingml/2006/table">
            <a:tbl>
              <a:tblPr/>
              <a:tblGrid>
                <a:gridCol w="6333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352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 dirty="0" err="1">
                          <a:solidFill>
                            <a:srgbClr val="000000"/>
                          </a:solidFill>
                          <a:latin typeface="맑은 고딕"/>
                        </a:rPr>
                        <a:t>특성값</a:t>
                      </a:r>
                      <a:endParaRPr lang="ko-KR" altLang="en-US" sz="16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5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40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35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40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35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40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35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40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35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40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35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40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35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40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35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40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35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40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35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40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35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50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35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50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35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50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35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50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935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50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935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50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935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50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935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50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935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50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935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50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286116" y="6429396"/>
            <a:ext cx="1071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평균 </a:t>
            </a:r>
            <a:r>
              <a:rPr lang="en-US" altLang="ko-KR" dirty="0"/>
              <a:t>45</a:t>
            </a:r>
            <a:endParaRPr lang="ko-KR" altLang="en-US" dirty="0"/>
          </a:p>
        </p:txBody>
      </p:sp>
      <p:graphicFrame>
        <p:nvGraphicFramePr>
          <p:cNvPr id="13" name="표 12"/>
          <p:cNvGraphicFramePr>
            <a:graphicFrameLocks noGrp="1"/>
          </p:cNvGraphicFramePr>
          <p:nvPr/>
        </p:nvGraphicFramePr>
        <p:xfrm>
          <a:off x="4572000" y="1000108"/>
          <a:ext cx="633351" cy="5305377"/>
        </p:xfrm>
        <a:graphic>
          <a:graphicData uri="http://schemas.openxmlformats.org/drawingml/2006/table">
            <a:tbl>
              <a:tblPr/>
              <a:tblGrid>
                <a:gridCol w="6333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541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편차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541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-5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541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-5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541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-5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541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-5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541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-5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541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-5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541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-5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541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-5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541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-5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541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-5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541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541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541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541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9541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9541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9541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9541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9541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9541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4286248" y="6357958"/>
            <a:ext cx="1714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총변동</a:t>
            </a:r>
            <a:r>
              <a:rPr lang="ko-KR" altLang="en-US" dirty="0"/>
              <a:t>   </a:t>
            </a:r>
            <a:r>
              <a:rPr lang="en-US" altLang="ko-KR" dirty="0"/>
              <a:t>500</a:t>
            </a:r>
            <a:endParaRPr lang="ko-KR" altLang="en-US" dirty="0"/>
          </a:p>
        </p:txBody>
      </p:sp>
      <p:graphicFrame>
        <p:nvGraphicFramePr>
          <p:cNvPr id="225282" name="Object 9"/>
          <p:cNvGraphicFramePr>
            <a:graphicFrameLocks noChangeAspect="1"/>
          </p:cNvGraphicFramePr>
          <p:nvPr/>
        </p:nvGraphicFramePr>
        <p:xfrm>
          <a:off x="5857884" y="6000768"/>
          <a:ext cx="1355725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36" name="Equation" r:id="rId4" imgW="723600" imgH="342720" progId="Equation.3">
                  <p:embed/>
                </p:oleObj>
              </mc:Choice>
              <mc:Fallback>
                <p:oleObj name="Equation" r:id="rId4" imgW="723600" imgH="342720" progId="Equation.3">
                  <p:embed/>
                  <p:pic>
                    <p:nvPicPr>
                      <p:cNvPr id="225282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57884" y="6000768"/>
                        <a:ext cx="1355725" cy="641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261276" y="111745"/>
            <a:ext cx="6913563" cy="369332"/>
          </a:xfrm>
          <a:effectLst>
            <a:outerShdw dist="35921" dir="2700000" algn="ctr" rotWithShape="0">
              <a:schemeClr val="tx1"/>
            </a:outerShdw>
          </a:effectLst>
        </p:spPr>
        <p:txBody>
          <a:bodyPr/>
          <a:lstStyle/>
          <a:p>
            <a:pPr eaLnBrk="1" hangingPunct="1">
              <a:defRPr/>
            </a:pPr>
            <a:r>
              <a:rPr lang="ko-KR" altLang="en-US" dirty="0"/>
              <a:t>변동의 이해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20759504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4" name="슬라이드 번호 개체 틀 1"/>
          <p:cNvSpPr>
            <a:spLocks noGrp="1"/>
          </p:cNvSpPr>
          <p:nvPr>
            <p:ph type="sldNum" sz="quarter" idx="429496729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411C02F3-32B6-4147-9EF7-6C6F94882612}" type="slidenum">
              <a:rPr lang="ko-KR" altLang="en-US" smtClean="0"/>
              <a:pPr/>
              <a:t>54</a:t>
            </a:fld>
            <a:endParaRPr lang="ko-KR" altLang="en-US"/>
          </a:p>
        </p:txBody>
      </p:sp>
      <p:graphicFrame>
        <p:nvGraphicFramePr>
          <p:cNvPr id="16" name="표 15"/>
          <p:cNvGraphicFramePr>
            <a:graphicFrameLocks noGrp="1"/>
          </p:cNvGraphicFramePr>
          <p:nvPr/>
        </p:nvGraphicFramePr>
        <p:xfrm>
          <a:off x="1643042" y="1000108"/>
          <a:ext cx="2571768" cy="5305377"/>
        </p:xfrm>
        <a:graphic>
          <a:graphicData uri="http://schemas.openxmlformats.org/drawingml/2006/table">
            <a:tbl>
              <a:tblPr/>
              <a:tblGrid>
                <a:gridCol w="8572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7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72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9352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토성 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특성값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편차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5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40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-5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35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40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-5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35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40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-5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35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40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-5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35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40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-5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35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40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-5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35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40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-5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35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40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-5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35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40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-5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35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40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-5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35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50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35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50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35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50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35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50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935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50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935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50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935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50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935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50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935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50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935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50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156773" y="106328"/>
            <a:ext cx="6913563" cy="369332"/>
          </a:xfrm>
          <a:effectLst>
            <a:outerShdw dist="35921" dir="2700000" algn="ctr" rotWithShape="0">
              <a:schemeClr val="tx1"/>
            </a:outerShdw>
          </a:effectLst>
        </p:spPr>
        <p:txBody>
          <a:bodyPr/>
          <a:lstStyle/>
          <a:p>
            <a:pPr eaLnBrk="1" hangingPunct="1">
              <a:defRPr/>
            </a:pPr>
            <a:r>
              <a:rPr lang="ko-KR" altLang="en-US" dirty="0"/>
              <a:t>변동의 이해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33104004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4" name="슬라이드 번호 개체 틀 1"/>
          <p:cNvSpPr>
            <a:spLocks noGrp="1"/>
          </p:cNvSpPr>
          <p:nvPr>
            <p:ph type="sldNum" sz="quarter" idx="429496729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411C02F3-32B6-4147-9EF7-6C6F94882612}" type="slidenum">
              <a:rPr lang="ko-KR" altLang="en-US" smtClean="0"/>
              <a:pPr/>
              <a:t>55</a:t>
            </a:fld>
            <a:endParaRPr lang="ko-KR" altLang="en-US"/>
          </a:p>
        </p:txBody>
      </p:sp>
      <p:grpSp>
        <p:nvGrpSpPr>
          <p:cNvPr id="15" name="그룹 14"/>
          <p:cNvGrpSpPr/>
          <p:nvPr/>
        </p:nvGrpSpPr>
        <p:grpSpPr>
          <a:xfrm>
            <a:off x="1714480" y="4000504"/>
            <a:ext cx="4857784" cy="2212987"/>
            <a:chOff x="3929058" y="4000504"/>
            <a:chExt cx="4857784" cy="2212987"/>
          </a:xfrm>
        </p:grpSpPr>
        <p:sp>
          <p:nvSpPr>
            <p:cNvPr id="12" name="TextBox 11"/>
            <p:cNvSpPr txBox="1"/>
            <p:nvPr/>
          </p:nvSpPr>
          <p:spPr>
            <a:xfrm>
              <a:off x="6929454" y="4071942"/>
              <a:ext cx="16430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/>
                <a:t>총평균</a:t>
              </a:r>
              <a:r>
                <a:rPr lang="ko-KR" altLang="en-US" dirty="0"/>
                <a:t> </a:t>
              </a:r>
              <a:r>
                <a:rPr lang="en-US" altLang="ko-KR" dirty="0"/>
                <a:t>45</a:t>
              </a:r>
              <a:endParaRPr lang="ko-KR" altLang="en-US" dirty="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072330" y="4429132"/>
              <a:ext cx="17145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 err="1"/>
                <a:t>총변동</a:t>
              </a:r>
              <a:r>
                <a:rPr lang="ko-KR" altLang="en-US" dirty="0"/>
                <a:t>   </a:t>
              </a:r>
              <a:r>
                <a:rPr lang="en-US" altLang="ko-KR" dirty="0"/>
                <a:t>500</a:t>
              </a:r>
              <a:endParaRPr lang="ko-KR" altLang="en-US" dirty="0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4071934" y="4000504"/>
              <a:ext cx="15716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평균 </a:t>
              </a:r>
              <a:r>
                <a:rPr lang="en-US" altLang="ko-KR" dirty="0"/>
                <a:t>40</a:t>
              </a:r>
              <a:endParaRPr lang="ko-KR" altLang="en-US" dirty="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3929058" y="4429132"/>
              <a:ext cx="17145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라인</a:t>
              </a:r>
              <a:r>
                <a:rPr lang="en-US" altLang="ko-KR" dirty="0"/>
                <a:t>1</a:t>
              </a:r>
              <a:r>
                <a:rPr lang="ko-KR" altLang="en-US" dirty="0"/>
                <a:t>변동 </a:t>
              </a:r>
              <a:r>
                <a:rPr lang="en-US" altLang="ko-KR" dirty="0"/>
                <a:t>0</a:t>
              </a:r>
              <a:endParaRPr lang="ko-KR" altLang="en-US" dirty="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643570" y="4000504"/>
              <a:ext cx="10715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평균 </a:t>
              </a:r>
              <a:r>
                <a:rPr lang="en-US" altLang="ko-KR" dirty="0"/>
                <a:t>50</a:t>
              </a:r>
              <a:endParaRPr lang="ko-KR" altLang="en-US" dirty="0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5429256" y="4429132"/>
              <a:ext cx="17145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라인</a:t>
              </a:r>
              <a:r>
                <a:rPr lang="en-US" altLang="ko-KR" dirty="0"/>
                <a:t>2</a:t>
              </a:r>
              <a:r>
                <a:rPr lang="ko-KR" altLang="en-US" dirty="0"/>
                <a:t>변동  </a:t>
              </a:r>
              <a:r>
                <a:rPr lang="en-US" altLang="ko-KR" dirty="0"/>
                <a:t>0</a:t>
              </a:r>
              <a:endParaRPr lang="ko-KR" altLang="en-US" dirty="0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4500562" y="4929198"/>
              <a:ext cx="22145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군내 변동 </a:t>
              </a:r>
              <a:r>
                <a:rPr lang="en-US" altLang="ko-KR" dirty="0"/>
                <a:t>0 </a:t>
              </a:r>
              <a:endParaRPr lang="ko-KR" altLang="en-US" dirty="0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500562" y="5429264"/>
              <a:ext cx="22145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군간 변동 </a:t>
              </a:r>
              <a:r>
                <a:rPr lang="en-US" altLang="ko-KR" dirty="0"/>
                <a:t>500 </a:t>
              </a:r>
              <a:endParaRPr lang="ko-KR" altLang="en-US" dirty="0"/>
            </a:p>
          </p:txBody>
        </p:sp>
        <p:graphicFrame>
          <p:nvGraphicFramePr>
            <p:cNvPr id="223233" name="Object 9"/>
            <p:cNvGraphicFramePr>
              <a:graphicFrameLocks noChangeAspect="1"/>
            </p:cNvGraphicFramePr>
            <p:nvPr/>
          </p:nvGraphicFramePr>
          <p:xfrm>
            <a:off x="4572000" y="5786454"/>
            <a:ext cx="3090863" cy="4270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060" name="Equation" r:id="rId4" imgW="1650960" imgH="228600" progId="Equation.3">
                    <p:embed/>
                  </p:oleObj>
                </mc:Choice>
                <mc:Fallback>
                  <p:oleObj name="Equation" r:id="rId4" imgW="1650960" imgH="228600" progId="Equation.3">
                    <p:embed/>
                    <p:pic>
                      <p:nvPicPr>
                        <p:cNvPr id="223233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72000" y="5786454"/>
                          <a:ext cx="3090863" cy="42703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3" name="표 22"/>
          <p:cNvGraphicFramePr>
            <a:graphicFrameLocks noGrp="1"/>
          </p:cNvGraphicFramePr>
          <p:nvPr/>
        </p:nvGraphicFramePr>
        <p:xfrm>
          <a:off x="2257428" y="1142984"/>
          <a:ext cx="2743200" cy="2787015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토성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편차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토성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2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편차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40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50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40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50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40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50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40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50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40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50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40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50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40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50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40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50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40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50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40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50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7" name="Rectangle 2"/>
          <p:cNvSpPr>
            <a:spLocks noGrp="1" noChangeArrowheads="1"/>
          </p:cNvSpPr>
          <p:nvPr>
            <p:ph type="title"/>
          </p:nvPr>
        </p:nvSpPr>
        <p:spPr>
          <a:xfrm>
            <a:off x="172246" y="94991"/>
            <a:ext cx="6913563" cy="369332"/>
          </a:xfrm>
          <a:effectLst>
            <a:outerShdw dist="35921" dir="2700000" algn="ctr" rotWithShape="0">
              <a:schemeClr val="tx1"/>
            </a:outerShdw>
          </a:effectLst>
        </p:spPr>
        <p:txBody>
          <a:bodyPr/>
          <a:lstStyle/>
          <a:p>
            <a:pPr eaLnBrk="1" hangingPunct="1">
              <a:defRPr/>
            </a:pPr>
            <a:r>
              <a:rPr lang="ko-KR" altLang="en-US" dirty="0"/>
              <a:t>변동의 이해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9288689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4" name="슬라이드 번호 개체 틀 1"/>
          <p:cNvSpPr>
            <a:spLocks noGrp="1"/>
          </p:cNvSpPr>
          <p:nvPr>
            <p:ph type="sldNum" sz="quarter" idx="429496729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411C02F3-32B6-4147-9EF7-6C6F94882612}" type="slidenum">
              <a:rPr lang="ko-KR" altLang="en-US" smtClean="0"/>
              <a:pPr/>
              <a:t>56</a:t>
            </a:fld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3286116" y="6429396"/>
            <a:ext cx="1071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평균 </a:t>
            </a:r>
            <a:r>
              <a:rPr lang="en-US" altLang="ko-KR" dirty="0"/>
              <a:t>45</a:t>
            </a:r>
            <a:endParaRPr lang="ko-KR" alt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4286248" y="6357958"/>
            <a:ext cx="1714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총변동</a:t>
            </a:r>
            <a:r>
              <a:rPr lang="ko-KR" altLang="en-US" dirty="0"/>
              <a:t>   </a:t>
            </a:r>
            <a:r>
              <a:rPr lang="en-US" altLang="ko-KR" dirty="0"/>
              <a:t>500</a:t>
            </a:r>
            <a:endParaRPr lang="ko-KR" altLang="en-US" dirty="0"/>
          </a:p>
        </p:txBody>
      </p:sp>
      <p:graphicFrame>
        <p:nvGraphicFramePr>
          <p:cNvPr id="225282" name="Object 9"/>
          <p:cNvGraphicFramePr>
            <a:graphicFrameLocks noChangeAspect="1"/>
          </p:cNvGraphicFramePr>
          <p:nvPr/>
        </p:nvGraphicFramePr>
        <p:xfrm>
          <a:off x="5857884" y="6000768"/>
          <a:ext cx="1355725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084" name="Equation" r:id="rId4" imgW="723600" imgH="342720" progId="Equation.3">
                  <p:embed/>
                </p:oleObj>
              </mc:Choice>
              <mc:Fallback>
                <p:oleObj name="Equation" r:id="rId4" imgW="723600" imgH="342720" progId="Equation.3">
                  <p:embed/>
                  <p:pic>
                    <p:nvPicPr>
                      <p:cNvPr id="225282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57884" y="6000768"/>
                        <a:ext cx="1355725" cy="641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표 8"/>
          <p:cNvGraphicFramePr>
            <a:graphicFrameLocks noGrp="1"/>
          </p:cNvGraphicFramePr>
          <p:nvPr/>
        </p:nvGraphicFramePr>
        <p:xfrm>
          <a:off x="3286116" y="1071546"/>
          <a:ext cx="2214578" cy="5305377"/>
        </p:xfrm>
        <a:graphic>
          <a:graphicData uri="http://schemas.openxmlformats.org/drawingml/2006/table">
            <a:tbl>
              <a:tblPr/>
              <a:tblGrid>
                <a:gridCol w="11072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72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352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특성값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편차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5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40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-5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35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50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35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40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-5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35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50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35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40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-5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35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50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35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40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-5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35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50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35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40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-5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35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50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35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40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-5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35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50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35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40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-5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35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50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935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40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-5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935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50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935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40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-5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935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50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935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40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-5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935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50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224700" y="111745"/>
            <a:ext cx="6913563" cy="369332"/>
          </a:xfrm>
          <a:effectLst>
            <a:outerShdw dist="35921" dir="2700000" algn="ctr" rotWithShape="0">
              <a:schemeClr val="tx1"/>
            </a:outerShdw>
          </a:effectLst>
        </p:spPr>
        <p:txBody>
          <a:bodyPr/>
          <a:lstStyle/>
          <a:p>
            <a:pPr eaLnBrk="1" hangingPunct="1">
              <a:defRPr/>
            </a:pPr>
            <a:r>
              <a:rPr lang="ko-KR" altLang="en-US" b="0" dirty="0"/>
              <a:t>변동의 이해</a:t>
            </a:r>
            <a:endParaRPr lang="en-US" altLang="ko-KR" b="0" dirty="0"/>
          </a:p>
        </p:txBody>
      </p:sp>
    </p:spTree>
    <p:extLst>
      <p:ext uri="{BB962C8B-B14F-4D97-AF65-F5344CB8AC3E}">
        <p14:creationId xmlns:p14="http://schemas.microsoft.com/office/powerpoint/2010/main" val="6914329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4" name="슬라이드 번호 개체 틀 1"/>
          <p:cNvSpPr>
            <a:spLocks noGrp="1"/>
          </p:cNvSpPr>
          <p:nvPr>
            <p:ph type="sldNum" sz="quarter" idx="429496729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411C02F3-32B6-4147-9EF7-6C6F94882612}" type="slidenum">
              <a:rPr lang="ko-KR" altLang="en-US" smtClean="0"/>
              <a:pPr/>
              <a:t>57</a:t>
            </a:fld>
            <a:endParaRPr lang="ko-KR" altLang="en-US"/>
          </a:p>
        </p:txBody>
      </p:sp>
      <p:graphicFrame>
        <p:nvGraphicFramePr>
          <p:cNvPr id="5" name="표 4"/>
          <p:cNvGraphicFramePr>
            <a:graphicFrameLocks noGrp="1"/>
          </p:cNvGraphicFramePr>
          <p:nvPr/>
        </p:nvGraphicFramePr>
        <p:xfrm>
          <a:off x="899592" y="1071546"/>
          <a:ext cx="2572065" cy="5305377"/>
        </p:xfrm>
        <a:graphic>
          <a:graphicData uri="http://schemas.openxmlformats.org/drawingml/2006/table">
            <a:tbl>
              <a:tblPr/>
              <a:tblGrid>
                <a:gridCol w="8573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7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73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9352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비료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특성값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편차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5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standard</a:t>
                      </a:r>
                      <a:endParaRPr lang="ko-KR" altLang="en-US" sz="16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40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-5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35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standard</a:t>
                      </a:r>
                      <a:endParaRPr lang="ko-KR" altLang="en-US" sz="16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50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35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standard</a:t>
                      </a:r>
                      <a:endParaRPr lang="ko-KR" altLang="en-US" sz="16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40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-5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35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standard</a:t>
                      </a:r>
                      <a:endParaRPr lang="ko-KR" altLang="en-US" sz="16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50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35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standard</a:t>
                      </a:r>
                      <a:endParaRPr lang="ko-KR" altLang="en-US" sz="16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40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-5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35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standard</a:t>
                      </a:r>
                      <a:endParaRPr lang="ko-KR" altLang="en-US" sz="16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50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35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standard</a:t>
                      </a:r>
                      <a:endParaRPr lang="ko-KR" altLang="en-US" sz="16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40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-5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35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standard</a:t>
                      </a:r>
                      <a:endParaRPr lang="ko-KR" altLang="en-US" sz="16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50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35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standard</a:t>
                      </a:r>
                      <a:endParaRPr lang="ko-KR" altLang="en-US" sz="16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40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-5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35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standard</a:t>
                      </a:r>
                      <a:endParaRPr lang="ko-KR" altLang="en-US" sz="16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50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35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extra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 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40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-5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35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extra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 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50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35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extra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 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40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-5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35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extra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 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50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935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extra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 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40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-5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935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extra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 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50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935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extra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 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40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-5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935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extra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 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50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935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extra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 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40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-5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935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extra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 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50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marL="8797" marR="8797" marT="87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250825" y="111745"/>
            <a:ext cx="6913563" cy="369332"/>
          </a:xfrm>
          <a:effectLst>
            <a:outerShdw dist="35921" dir="2700000" algn="ctr" rotWithShape="0">
              <a:schemeClr val="tx1"/>
            </a:outerShdw>
          </a:effectLst>
        </p:spPr>
        <p:txBody>
          <a:bodyPr/>
          <a:lstStyle/>
          <a:p>
            <a:pPr eaLnBrk="1" hangingPunct="1">
              <a:defRPr/>
            </a:pPr>
            <a:r>
              <a:rPr lang="ko-KR" altLang="en-US" dirty="0"/>
              <a:t>변동의 이해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47252660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4" name="슬라이드 번호 개체 틀 1"/>
          <p:cNvSpPr>
            <a:spLocks noGrp="1"/>
          </p:cNvSpPr>
          <p:nvPr>
            <p:ph type="sldNum" sz="quarter" idx="429496729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411C02F3-32B6-4147-9EF7-6C6F94882612}" type="slidenum">
              <a:rPr lang="ko-KR" altLang="en-US" smtClean="0"/>
              <a:pPr/>
              <a:t>58</a:t>
            </a:fld>
            <a:endParaRPr lang="ko-KR" altLang="en-US"/>
          </a:p>
        </p:txBody>
      </p:sp>
      <p:grpSp>
        <p:nvGrpSpPr>
          <p:cNvPr id="2" name="그룹 14"/>
          <p:cNvGrpSpPr/>
          <p:nvPr/>
        </p:nvGrpSpPr>
        <p:grpSpPr>
          <a:xfrm>
            <a:off x="1714480" y="4000504"/>
            <a:ext cx="5786478" cy="1798092"/>
            <a:chOff x="3929058" y="4000504"/>
            <a:chExt cx="5786478" cy="1798092"/>
          </a:xfrm>
        </p:grpSpPr>
        <p:sp>
          <p:nvSpPr>
            <p:cNvPr id="12" name="TextBox 11"/>
            <p:cNvSpPr txBox="1"/>
            <p:nvPr/>
          </p:nvSpPr>
          <p:spPr>
            <a:xfrm>
              <a:off x="8072462" y="4071942"/>
              <a:ext cx="16430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 err="1"/>
                <a:t>총평균</a:t>
              </a:r>
              <a:r>
                <a:rPr lang="ko-KR" altLang="en-US" dirty="0"/>
                <a:t> </a:t>
              </a:r>
              <a:r>
                <a:rPr lang="en-US" altLang="ko-KR" dirty="0"/>
                <a:t>45</a:t>
              </a:r>
              <a:endParaRPr lang="ko-KR" altLang="en-US" dirty="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929586" y="4429132"/>
              <a:ext cx="17145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 err="1"/>
                <a:t>총변동</a:t>
              </a:r>
              <a:r>
                <a:rPr lang="ko-KR" altLang="en-US" dirty="0"/>
                <a:t>   </a:t>
              </a:r>
              <a:r>
                <a:rPr lang="en-US" altLang="ko-KR" dirty="0"/>
                <a:t>500</a:t>
              </a:r>
              <a:endParaRPr lang="ko-KR" altLang="en-US" dirty="0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4071934" y="4000504"/>
              <a:ext cx="15716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평균 </a:t>
              </a:r>
              <a:r>
                <a:rPr lang="en-US" altLang="ko-KR" dirty="0"/>
                <a:t>45</a:t>
              </a:r>
              <a:endParaRPr lang="ko-KR" altLang="en-US" dirty="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3929058" y="4429132"/>
              <a:ext cx="171451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standard</a:t>
              </a:r>
              <a:r>
                <a:rPr lang="ko-KR" altLang="en-US" dirty="0"/>
                <a:t>변동 </a:t>
              </a:r>
              <a:r>
                <a:rPr lang="en-US" altLang="ko-KR" dirty="0"/>
                <a:t>250</a:t>
              </a:r>
              <a:endParaRPr lang="ko-KR" altLang="en-US" dirty="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000760" y="4000504"/>
              <a:ext cx="10715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평균 </a:t>
              </a:r>
              <a:r>
                <a:rPr lang="en-US" altLang="ko-KR" dirty="0"/>
                <a:t>45</a:t>
              </a:r>
              <a:endParaRPr lang="ko-KR" altLang="en-US" dirty="0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000760" y="4429132"/>
              <a:ext cx="17145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extra</a:t>
              </a:r>
              <a:r>
                <a:rPr lang="ko-KR" altLang="en-US" dirty="0"/>
                <a:t>변동  </a:t>
              </a:r>
              <a:r>
                <a:rPr lang="en-US" altLang="ko-KR" dirty="0"/>
                <a:t>250</a:t>
              </a:r>
              <a:endParaRPr lang="ko-KR" altLang="en-US" dirty="0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4500562" y="4929198"/>
              <a:ext cx="35004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군내 변동 </a:t>
              </a:r>
              <a:r>
                <a:rPr lang="en-US" altLang="ko-KR" dirty="0"/>
                <a:t>250+250=500 </a:t>
              </a:r>
              <a:endParaRPr lang="ko-KR" altLang="en-US" dirty="0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500562" y="5429264"/>
              <a:ext cx="22145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군간 변동 </a:t>
              </a:r>
              <a:r>
                <a:rPr lang="en-US" altLang="ko-KR" dirty="0"/>
                <a:t>0 </a:t>
              </a:r>
              <a:endParaRPr lang="ko-KR" altLang="en-US" dirty="0"/>
            </a:p>
          </p:txBody>
        </p:sp>
      </p:grpSp>
      <p:graphicFrame>
        <p:nvGraphicFramePr>
          <p:cNvPr id="15" name="표 14"/>
          <p:cNvGraphicFramePr>
            <a:graphicFrameLocks noGrp="1"/>
          </p:cNvGraphicFramePr>
          <p:nvPr/>
        </p:nvGraphicFramePr>
        <p:xfrm>
          <a:off x="1857356" y="1071546"/>
          <a:ext cx="4000528" cy="2787015"/>
        </p:xfrm>
        <a:graphic>
          <a:graphicData uri="http://schemas.openxmlformats.org/drawingml/2006/table">
            <a:tbl>
              <a:tblPr/>
              <a:tblGrid>
                <a:gridCol w="10001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01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01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01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standard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편차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extra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편차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40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-5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40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-5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50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50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40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-5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40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-5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50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50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40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-5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40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-5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50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50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40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-5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40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-5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50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50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40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-5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40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-5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50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50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7" name="Rectangle 2"/>
          <p:cNvSpPr>
            <a:spLocks noGrp="1" noChangeArrowheads="1"/>
          </p:cNvSpPr>
          <p:nvPr>
            <p:ph type="title"/>
          </p:nvPr>
        </p:nvSpPr>
        <p:spPr>
          <a:xfrm>
            <a:off x="193349" y="64526"/>
            <a:ext cx="6913563" cy="369332"/>
          </a:xfrm>
          <a:effectLst>
            <a:outerShdw dist="35921" dir="2700000" algn="ctr" rotWithShape="0">
              <a:schemeClr val="tx1"/>
            </a:outerShdw>
          </a:effectLst>
        </p:spPr>
        <p:txBody>
          <a:bodyPr/>
          <a:lstStyle/>
          <a:p>
            <a:pPr eaLnBrk="1" hangingPunct="1">
              <a:defRPr/>
            </a:pPr>
            <a:r>
              <a:rPr lang="ko-KR" altLang="en-US" dirty="0"/>
              <a:t>변동의 이해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11554546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4" name="슬라이드 번호 개체 틀 1"/>
          <p:cNvSpPr>
            <a:spLocks noGrp="1"/>
          </p:cNvSpPr>
          <p:nvPr>
            <p:ph type="sldNum" sz="quarter" idx="429496729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411C02F3-32B6-4147-9EF7-6C6F94882612}" type="slidenum">
              <a:rPr lang="ko-KR" altLang="en-US" smtClean="0"/>
              <a:pPr/>
              <a:t>59</a:t>
            </a:fld>
            <a:endParaRPr lang="ko-KR" altLang="en-US"/>
          </a:p>
        </p:txBody>
      </p:sp>
      <p:graphicFrame>
        <p:nvGraphicFramePr>
          <p:cNvPr id="23" name="표 22"/>
          <p:cNvGraphicFramePr>
            <a:graphicFrameLocks noGrp="1"/>
          </p:cNvGraphicFramePr>
          <p:nvPr/>
        </p:nvGraphicFramePr>
        <p:xfrm>
          <a:off x="323528" y="1776502"/>
          <a:ext cx="8352927" cy="2156554"/>
        </p:xfrm>
        <a:graphic>
          <a:graphicData uri="http://schemas.openxmlformats.org/drawingml/2006/table">
            <a:tbl>
              <a:tblPr/>
              <a:tblGrid>
                <a:gridCol w="1728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843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573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400" b="1" i="0" u="none" strike="noStrike" dirty="0" err="1">
                          <a:solidFill>
                            <a:srgbClr val="000000"/>
                          </a:solidFill>
                          <a:latin typeface="맑은 고딕"/>
                        </a:rPr>
                        <a:t>총변동</a:t>
                      </a:r>
                      <a:r>
                        <a:rPr lang="ko-KR" altLang="en-US" sz="24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 </a:t>
                      </a:r>
                      <a:endParaRPr lang="en-US" altLang="ko-KR" sz="24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400" b="1" i="0" u="none" strike="noStrike" dirty="0" err="1">
                          <a:solidFill>
                            <a:srgbClr val="000000"/>
                          </a:solidFill>
                          <a:latin typeface="맑은 고딕"/>
                        </a:rPr>
                        <a:t>설명할수</a:t>
                      </a:r>
                      <a:r>
                        <a:rPr lang="ko-KR" altLang="en-US" sz="24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 있는 변동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400" b="1" i="0" u="none" strike="noStrike" dirty="0" err="1">
                          <a:solidFill>
                            <a:srgbClr val="000000"/>
                          </a:solidFill>
                          <a:latin typeface="맑은 고딕"/>
                        </a:rPr>
                        <a:t>설명할수없는</a:t>
                      </a:r>
                      <a:r>
                        <a:rPr lang="ko-KR" altLang="en-US" sz="24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 변동</a:t>
                      </a:r>
                      <a:endParaRPr lang="en-US" altLang="ko-KR" sz="24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0410">
                <a:tc>
                  <a:txBody>
                    <a:bodyPr/>
                    <a:lstStyle/>
                    <a:p>
                      <a:pPr algn="ctr" fontAlgn="ctr"/>
                      <a:endParaRPr lang="en-US" altLang="ko-KR" sz="24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2400" b="1" dirty="0"/>
                    </a:p>
                    <a:p>
                      <a:pPr algn="ctr" fontAlgn="ctr"/>
                      <a:r>
                        <a:rPr lang="en-US" altLang="ko-KR" sz="2400" b="1" dirty="0"/>
                        <a:t>(</a:t>
                      </a:r>
                      <a:r>
                        <a:rPr lang="ko-KR" altLang="en-US" sz="2400" b="1" dirty="0" err="1"/>
                        <a:t>측정방법내</a:t>
                      </a:r>
                      <a:r>
                        <a:rPr lang="ko-KR" altLang="en-US" sz="2400" b="1" dirty="0"/>
                        <a:t> 변동</a:t>
                      </a:r>
                      <a:r>
                        <a:rPr lang="en-US" altLang="ko-KR" sz="2400" b="1" dirty="0"/>
                        <a:t>)</a:t>
                      </a:r>
                      <a:endParaRPr lang="en-US" altLang="ko-KR" sz="24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2400" b="1" dirty="0"/>
                    </a:p>
                    <a:p>
                      <a:pPr algn="ctr" fontAlgn="ctr"/>
                      <a:r>
                        <a:rPr lang="en-US" altLang="ko-KR" sz="2400" b="1" dirty="0"/>
                        <a:t>(</a:t>
                      </a:r>
                      <a:r>
                        <a:rPr lang="ko-KR" altLang="en-US" sz="2400" b="1" dirty="0"/>
                        <a:t>측정방법간 변동</a:t>
                      </a:r>
                      <a:r>
                        <a:rPr lang="en-US" altLang="ko-KR" sz="2400" b="1" dirty="0"/>
                        <a:t>)</a:t>
                      </a:r>
                      <a:endParaRPr lang="en-US" altLang="ko-KR" sz="24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0410">
                <a:tc>
                  <a:txBody>
                    <a:bodyPr/>
                    <a:lstStyle/>
                    <a:p>
                      <a:pPr algn="ctr" fontAlgn="ctr"/>
                      <a:endParaRPr lang="en-US" altLang="ko-KR" sz="24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  <a:p>
                      <a:pPr algn="ctr" fontAlgn="ctr"/>
                      <a:r>
                        <a:rPr lang="en-US" altLang="ko-KR" sz="24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500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2400" b="1" dirty="0"/>
                    </a:p>
                    <a:p>
                      <a:pPr algn="ctr" fontAlgn="ctr"/>
                      <a:r>
                        <a:rPr lang="en-US" altLang="ko-KR" sz="2400" b="1" dirty="0"/>
                        <a:t>500</a:t>
                      </a:r>
                      <a:endParaRPr lang="en-US" altLang="ko-KR" sz="24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2400" b="1" dirty="0"/>
                    </a:p>
                    <a:p>
                      <a:pPr algn="ctr" fontAlgn="ctr"/>
                      <a:r>
                        <a:rPr lang="en-US" altLang="ko-KR" sz="2400" b="1" dirty="0"/>
                        <a:t>0</a:t>
                      </a:r>
                      <a:endParaRPr lang="en-US" altLang="ko-KR" sz="24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Rectangle 2"/>
          <p:cNvSpPr>
            <a:spLocks noGrp="1" noChangeArrowheads="1"/>
          </p:cNvSpPr>
          <p:nvPr>
            <p:ph type="title"/>
          </p:nvPr>
        </p:nvSpPr>
        <p:spPr>
          <a:xfrm>
            <a:off x="245600" y="95877"/>
            <a:ext cx="6913563" cy="369332"/>
          </a:xfrm>
          <a:effectLst>
            <a:outerShdw dist="35921" dir="2700000" algn="ctr" rotWithShape="0">
              <a:schemeClr val="tx1"/>
            </a:outerShdw>
          </a:effectLst>
        </p:spPr>
        <p:txBody>
          <a:bodyPr/>
          <a:lstStyle/>
          <a:p>
            <a:pPr eaLnBrk="1" hangingPunct="1">
              <a:defRPr/>
            </a:pPr>
            <a:r>
              <a:rPr lang="ko-KR" altLang="en-US" dirty="0"/>
              <a:t>변동의 이해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27843731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4" name="슬라이드 번호 개체 틀 1"/>
          <p:cNvSpPr>
            <a:spLocks noGrp="1"/>
          </p:cNvSpPr>
          <p:nvPr>
            <p:ph type="sldNum" sz="quarter" idx="429496729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411C02F3-32B6-4147-9EF7-6C6F94882612}" type="slidenum">
              <a:rPr lang="ko-KR" altLang="en-US" smtClean="0"/>
              <a:pPr/>
              <a:t>60</a:t>
            </a:fld>
            <a:endParaRPr lang="ko-KR" altLang="en-US"/>
          </a:p>
        </p:txBody>
      </p:sp>
      <p:graphicFrame>
        <p:nvGraphicFramePr>
          <p:cNvPr id="23" name="표 22"/>
          <p:cNvGraphicFramePr>
            <a:graphicFrameLocks noGrp="1"/>
          </p:cNvGraphicFramePr>
          <p:nvPr/>
        </p:nvGraphicFramePr>
        <p:xfrm>
          <a:off x="323528" y="1052736"/>
          <a:ext cx="8352927" cy="4142199"/>
        </p:xfrm>
        <a:graphic>
          <a:graphicData uri="http://schemas.openxmlformats.org/drawingml/2006/table">
            <a:tbl>
              <a:tblPr/>
              <a:tblGrid>
                <a:gridCol w="1728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843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573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400" b="1" i="0" u="none" strike="noStrike" dirty="0" err="1">
                          <a:solidFill>
                            <a:srgbClr val="000000"/>
                          </a:solidFill>
                          <a:latin typeface="맑은 고딕"/>
                        </a:rPr>
                        <a:t>총변동</a:t>
                      </a:r>
                      <a:r>
                        <a:rPr lang="ko-KR" altLang="en-US" sz="24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 </a:t>
                      </a:r>
                      <a:endParaRPr lang="en-US" altLang="ko-KR" sz="24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400" b="1" i="0" u="none" strike="noStrike" dirty="0" err="1">
                          <a:solidFill>
                            <a:srgbClr val="000000"/>
                          </a:solidFill>
                          <a:latin typeface="맑은 고딕"/>
                        </a:rPr>
                        <a:t>설명할수</a:t>
                      </a:r>
                      <a:r>
                        <a:rPr lang="ko-KR" altLang="en-US" sz="24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 있는 변동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400" b="1" i="0" u="none" strike="noStrike" dirty="0" err="1">
                          <a:solidFill>
                            <a:srgbClr val="000000"/>
                          </a:solidFill>
                          <a:latin typeface="맑은 고딕"/>
                        </a:rPr>
                        <a:t>설명할수없는</a:t>
                      </a:r>
                      <a:r>
                        <a:rPr lang="ko-KR" altLang="en-US" sz="24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 변동</a:t>
                      </a:r>
                      <a:endParaRPr lang="en-US" altLang="ko-KR" sz="24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0410">
                <a:tc>
                  <a:txBody>
                    <a:bodyPr/>
                    <a:lstStyle/>
                    <a:p>
                      <a:pPr algn="ctr" fontAlgn="ctr"/>
                      <a:endParaRPr lang="en-US" altLang="ko-KR" sz="24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2400" b="1" dirty="0"/>
                    </a:p>
                    <a:p>
                      <a:pPr algn="ctr" fontAlgn="ctr"/>
                      <a:r>
                        <a:rPr lang="en-US" altLang="ko-KR" sz="2400" b="1" dirty="0"/>
                        <a:t>(</a:t>
                      </a:r>
                      <a:r>
                        <a:rPr lang="ko-KR" altLang="en-US" sz="2400" b="1" dirty="0" err="1"/>
                        <a:t>토성간</a:t>
                      </a:r>
                      <a:r>
                        <a:rPr lang="ko-KR" altLang="en-US" sz="2400" b="1" dirty="0"/>
                        <a:t> 변동</a:t>
                      </a:r>
                      <a:r>
                        <a:rPr lang="en-US" altLang="ko-KR" sz="2400" b="1" dirty="0"/>
                        <a:t>)</a:t>
                      </a:r>
                      <a:endParaRPr lang="en-US" altLang="ko-KR" sz="24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2400" b="1" dirty="0"/>
                    </a:p>
                    <a:p>
                      <a:pPr algn="ctr" fontAlgn="ctr"/>
                      <a:r>
                        <a:rPr lang="en-US" altLang="ko-KR" sz="2400" b="1" dirty="0"/>
                        <a:t>(</a:t>
                      </a:r>
                      <a:r>
                        <a:rPr lang="ko-KR" altLang="en-US" sz="2400" b="1" dirty="0"/>
                        <a:t>토성내 변동</a:t>
                      </a:r>
                      <a:r>
                        <a:rPr lang="en-US" altLang="ko-KR" sz="2400" b="1" dirty="0"/>
                        <a:t>)</a:t>
                      </a:r>
                      <a:endParaRPr lang="en-US" altLang="ko-KR" sz="24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0410">
                <a:tc>
                  <a:txBody>
                    <a:bodyPr/>
                    <a:lstStyle/>
                    <a:p>
                      <a:pPr algn="ctr" fontAlgn="ctr"/>
                      <a:endParaRPr lang="en-US" altLang="ko-KR" sz="24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  <a:p>
                      <a:pPr algn="ctr" fontAlgn="ctr"/>
                      <a:endParaRPr lang="en-US" altLang="ko-KR" sz="24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2400" b="1" dirty="0"/>
                    </a:p>
                    <a:p>
                      <a:pPr algn="ctr" fontAlgn="ctr"/>
                      <a:r>
                        <a:rPr lang="en-US" altLang="ko-KR" sz="2400" b="1" dirty="0"/>
                        <a:t>(</a:t>
                      </a:r>
                      <a:r>
                        <a:rPr lang="ko-KR" altLang="en-US" sz="2400" b="1" dirty="0" err="1"/>
                        <a:t>비료간</a:t>
                      </a:r>
                      <a:r>
                        <a:rPr lang="ko-KR" altLang="en-US" sz="2400" b="1" dirty="0"/>
                        <a:t> 변동</a:t>
                      </a:r>
                      <a:r>
                        <a:rPr lang="en-US" altLang="ko-KR" sz="2400" b="1" dirty="0"/>
                        <a:t>)</a:t>
                      </a:r>
                      <a:endParaRPr lang="en-US" altLang="ko-KR" sz="24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2400" b="1" dirty="0"/>
                    </a:p>
                    <a:p>
                      <a:pPr algn="ctr" fontAlgn="ctr"/>
                      <a:r>
                        <a:rPr lang="en-US" altLang="ko-KR" sz="2400" b="1" dirty="0"/>
                        <a:t>(</a:t>
                      </a:r>
                      <a:r>
                        <a:rPr lang="ko-KR" altLang="en-US" sz="2400" b="1" dirty="0"/>
                        <a:t>비료내 변동</a:t>
                      </a:r>
                      <a:r>
                        <a:rPr lang="en-US" altLang="ko-KR" sz="2400" b="1" dirty="0"/>
                        <a:t>)</a:t>
                      </a:r>
                      <a:endParaRPr lang="en-US" altLang="ko-KR" sz="24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523">
                <a:tc>
                  <a:txBody>
                    <a:bodyPr/>
                    <a:lstStyle/>
                    <a:p>
                      <a:pPr algn="ctr" fontAlgn="ctr"/>
                      <a:endParaRPr lang="en-US" altLang="ko-KR" sz="24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24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  <a:p>
                      <a:pPr algn="ctr" fontAlgn="ctr"/>
                      <a:r>
                        <a:rPr lang="ko-KR" altLang="en-US" sz="24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인자</a:t>
                      </a:r>
                      <a:r>
                        <a:rPr lang="en-US" altLang="ko-KR" sz="24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</a:rPr>
                        <a:t> (</a:t>
                      </a:r>
                      <a:r>
                        <a:rPr lang="ko-KR" altLang="en-US" sz="24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</a:rPr>
                        <a:t>요인</a:t>
                      </a:r>
                      <a:r>
                        <a:rPr lang="en-US" altLang="ko-KR" sz="24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</a:rPr>
                        <a:t>)</a:t>
                      </a:r>
                      <a:r>
                        <a:rPr lang="ko-KR" altLang="en-US" sz="24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</a:rPr>
                        <a:t>간</a:t>
                      </a:r>
                      <a:r>
                        <a:rPr lang="ko-KR" altLang="en-US" sz="24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 변동 </a:t>
                      </a:r>
                      <a:endParaRPr lang="en-US" altLang="ko-KR" sz="24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24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  <a:p>
                      <a:pPr algn="ctr" fontAlgn="ctr"/>
                      <a:r>
                        <a:rPr lang="ko-KR" altLang="en-US" sz="24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인자</a:t>
                      </a:r>
                      <a:r>
                        <a:rPr lang="en-US" altLang="ko-KR" sz="24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(</a:t>
                      </a:r>
                      <a:r>
                        <a:rPr lang="ko-KR" altLang="en-US" sz="24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요인</a:t>
                      </a:r>
                      <a:r>
                        <a:rPr lang="en-US" altLang="ko-KR" sz="24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)</a:t>
                      </a:r>
                      <a:r>
                        <a:rPr lang="ko-KR" altLang="en-US" sz="24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내 변동 </a:t>
                      </a:r>
                      <a:endParaRPr lang="en-US" altLang="ko-KR" sz="24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523">
                <a:tc>
                  <a:txBody>
                    <a:bodyPr/>
                    <a:lstStyle/>
                    <a:p>
                      <a:pPr algn="ctr" fontAlgn="ctr"/>
                      <a:endParaRPr lang="en-US" altLang="ko-KR" sz="24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4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군내변동</a:t>
                      </a:r>
                      <a:endParaRPr lang="en-US" altLang="ko-KR" sz="24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400" b="1" i="0" u="none" strike="noStrike" dirty="0" err="1">
                          <a:solidFill>
                            <a:srgbClr val="000000"/>
                          </a:solidFill>
                          <a:latin typeface="맑은 고딕"/>
                        </a:rPr>
                        <a:t>군간변동</a:t>
                      </a:r>
                      <a:endParaRPr lang="en-US" altLang="ko-KR" sz="24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403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4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SST</a:t>
                      </a:r>
                      <a:r>
                        <a:rPr lang="ko-KR" altLang="en-US" sz="24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 </a:t>
                      </a:r>
                      <a:endParaRPr lang="en-US" altLang="ko-KR" sz="24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4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SSA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4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SSE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7015">
                <a:tc>
                  <a:txBody>
                    <a:bodyPr/>
                    <a:lstStyle/>
                    <a:p>
                      <a:pPr algn="ctr" fontAlgn="ctr"/>
                      <a:endParaRPr lang="en-US" altLang="ko-KR" sz="24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24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24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7" name="Rectangle 2"/>
          <p:cNvSpPr>
            <a:spLocks noGrp="1" noChangeArrowheads="1"/>
          </p:cNvSpPr>
          <p:nvPr>
            <p:ph type="title"/>
          </p:nvPr>
        </p:nvSpPr>
        <p:spPr>
          <a:xfrm>
            <a:off x="209024" y="111553"/>
            <a:ext cx="6913563" cy="369332"/>
          </a:xfrm>
          <a:effectLst>
            <a:outerShdw dist="35921" dir="2700000" algn="ctr" rotWithShape="0">
              <a:schemeClr val="tx1"/>
            </a:outerShdw>
          </a:effectLst>
        </p:spPr>
        <p:txBody>
          <a:bodyPr/>
          <a:lstStyle/>
          <a:p>
            <a:pPr eaLnBrk="1" hangingPunct="1">
              <a:defRPr/>
            </a:pPr>
            <a:r>
              <a:rPr lang="ko-KR" altLang="en-US" dirty="0"/>
              <a:t>변동의 이해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87491526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4" name="슬라이드 번호 개체 틀 1"/>
          <p:cNvSpPr>
            <a:spLocks noGrp="1"/>
          </p:cNvSpPr>
          <p:nvPr>
            <p:ph type="sldNum" sz="quarter" idx="429496729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411C02F3-32B6-4147-9EF7-6C6F94882612}" type="slidenum">
              <a:rPr lang="ko-KR" altLang="en-US" smtClean="0"/>
              <a:pPr/>
              <a:t>61</a:t>
            </a:fld>
            <a:endParaRPr lang="ko-KR" altLang="en-US"/>
          </a:p>
        </p:txBody>
      </p:sp>
      <p:graphicFrame>
        <p:nvGraphicFramePr>
          <p:cNvPr id="23" name="표 22"/>
          <p:cNvGraphicFramePr>
            <a:graphicFrameLocks noGrp="1"/>
          </p:cNvGraphicFramePr>
          <p:nvPr/>
        </p:nvGraphicFramePr>
        <p:xfrm>
          <a:off x="323528" y="1052736"/>
          <a:ext cx="8352927" cy="2867943"/>
        </p:xfrm>
        <a:graphic>
          <a:graphicData uri="http://schemas.openxmlformats.org/drawingml/2006/table">
            <a:tbl>
              <a:tblPr/>
              <a:tblGrid>
                <a:gridCol w="1728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843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573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4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SST</a:t>
                      </a:r>
                      <a:r>
                        <a:rPr lang="ko-KR" altLang="en-US" sz="24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 </a:t>
                      </a:r>
                      <a:endParaRPr lang="en-US" altLang="ko-KR" sz="24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4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SSA</a:t>
                      </a:r>
                      <a:endParaRPr lang="ko-KR" altLang="en-US" sz="24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4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SSE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578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4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500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4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4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500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52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4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500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4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500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4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82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4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500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4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400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4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100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146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4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500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4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300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4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200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764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4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500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4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200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4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300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4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500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4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100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4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400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7" name="Rectangle 2"/>
          <p:cNvSpPr>
            <a:spLocks noGrp="1" noChangeArrowheads="1"/>
          </p:cNvSpPr>
          <p:nvPr>
            <p:ph type="title"/>
          </p:nvPr>
        </p:nvSpPr>
        <p:spPr>
          <a:xfrm>
            <a:off x="209024" y="128578"/>
            <a:ext cx="6913563" cy="369332"/>
          </a:xfrm>
          <a:effectLst>
            <a:outerShdw dist="35921" dir="2700000" algn="ctr" rotWithShape="0">
              <a:schemeClr val="tx1"/>
            </a:outerShdw>
          </a:effectLst>
        </p:spPr>
        <p:txBody>
          <a:bodyPr/>
          <a:lstStyle/>
          <a:p>
            <a:pPr eaLnBrk="1" hangingPunct="1">
              <a:defRPr/>
            </a:pPr>
            <a:r>
              <a:rPr lang="ko-KR" altLang="en-US" dirty="0"/>
              <a:t>변동의 이해</a:t>
            </a:r>
            <a:endParaRPr lang="en-US" altLang="ko-KR" dirty="0"/>
          </a:p>
        </p:txBody>
      </p:sp>
      <p:sp>
        <p:nvSpPr>
          <p:cNvPr id="2" name="TextBox 1"/>
          <p:cNvSpPr txBox="1"/>
          <p:nvPr/>
        </p:nvSpPr>
        <p:spPr>
          <a:xfrm>
            <a:off x="683568" y="4293096"/>
            <a:ext cx="73448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요인에</a:t>
            </a:r>
            <a:r>
              <a:rPr lang="en-US" altLang="ko-KR" dirty="0"/>
              <a:t> </a:t>
            </a:r>
            <a:r>
              <a:rPr lang="ko-KR" altLang="en-US" dirty="0"/>
              <a:t>의해 </a:t>
            </a:r>
            <a:r>
              <a:rPr lang="ko-KR" altLang="en-US" dirty="0" err="1"/>
              <a:t>특성값에</a:t>
            </a:r>
            <a:r>
              <a:rPr lang="ko-KR" altLang="en-US" dirty="0"/>
              <a:t> 차이가 있다는 판단은 어떻게 내릴까</a:t>
            </a:r>
            <a:r>
              <a:rPr lang="en-US" altLang="ko-KR" dirty="0"/>
              <a:t>? 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자유도 필요 </a:t>
            </a:r>
          </a:p>
        </p:txBody>
      </p:sp>
      <p:graphicFrame>
        <p:nvGraphicFramePr>
          <p:cNvPr id="3" name="표 2"/>
          <p:cNvGraphicFramePr>
            <a:graphicFrameLocks noGrp="1"/>
          </p:cNvGraphicFramePr>
          <p:nvPr/>
        </p:nvGraphicFramePr>
        <p:xfrm>
          <a:off x="457200" y="5609520"/>
          <a:ext cx="8352927" cy="750570"/>
        </p:xfrm>
        <a:graphic>
          <a:graphicData uri="http://schemas.openxmlformats.org/drawingml/2006/table">
            <a:tbl>
              <a:tblPr/>
              <a:tblGrid>
                <a:gridCol w="1728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843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789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400" b="1" i="0" u="none" strike="noStrike" dirty="0" err="1">
                          <a:solidFill>
                            <a:srgbClr val="000000"/>
                          </a:solidFill>
                          <a:latin typeface="맑은 고딕"/>
                        </a:rPr>
                        <a:t>총자유도</a:t>
                      </a:r>
                      <a:endParaRPr lang="en-US" altLang="ko-KR" sz="24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4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요인 자유도</a:t>
                      </a:r>
                      <a:endParaRPr lang="en-US" altLang="ko-KR" sz="24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4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오차 자유도</a:t>
                      </a:r>
                      <a:endParaRPr lang="en-US" altLang="ko-KR" sz="24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89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4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n-1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4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a-1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4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n-a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311981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4" name="슬라이드 번호 개체 틀 1"/>
          <p:cNvSpPr>
            <a:spLocks noGrp="1"/>
          </p:cNvSpPr>
          <p:nvPr>
            <p:ph type="sldNum" sz="quarter" idx="429496729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411C02F3-32B6-4147-9EF7-6C6F94882612}" type="slidenum">
              <a:rPr lang="ko-KR" altLang="en-US" smtClean="0"/>
              <a:pPr/>
              <a:t>62</a:t>
            </a:fld>
            <a:endParaRPr lang="ko-KR" altLang="en-US"/>
          </a:p>
        </p:txBody>
      </p:sp>
      <p:graphicFrame>
        <p:nvGraphicFramePr>
          <p:cNvPr id="23" name="표 22"/>
          <p:cNvGraphicFramePr>
            <a:graphicFrameLocks noGrp="1"/>
          </p:cNvGraphicFramePr>
          <p:nvPr/>
        </p:nvGraphicFramePr>
        <p:xfrm>
          <a:off x="323528" y="1052736"/>
          <a:ext cx="8352927" cy="2867943"/>
        </p:xfrm>
        <a:graphic>
          <a:graphicData uri="http://schemas.openxmlformats.org/drawingml/2006/table">
            <a:tbl>
              <a:tblPr/>
              <a:tblGrid>
                <a:gridCol w="1728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843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573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4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SST</a:t>
                      </a:r>
                      <a:r>
                        <a:rPr lang="ko-KR" altLang="en-US" sz="24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 </a:t>
                      </a:r>
                      <a:endParaRPr lang="en-US" altLang="ko-KR" sz="24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4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SSA</a:t>
                      </a:r>
                      <a:endParaRPr lang="ko-KR" altLang="en-US" sz="24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4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SSE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578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4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500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4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4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500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52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4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500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4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500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4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82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4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500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4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400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4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100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146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4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500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4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300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4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200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764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4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500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4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200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4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300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4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500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4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100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4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400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7" name="Rectangle 2"/>
          <p:cNvSpPr>
            <a:spLocks noGrp="1" noChangeArrowheads="1"/>
          </p:cNvSpPr>
          <p:nvPr>
            <p:ph type="title"/>
          </p:nvPr>
        </p:nvSpPr>
        <p:spPr>
          <a:xfrm>
            <a:off x="235149" y="128578"/>
            <a:ext cx="6913563" cy="369332"/>
          </a:xfrm>
          <a:effectLst>
            <a:outerShdw dist="35921" dir="2700000" algn="ctr" rotWithShape="0">
              <a:schemeClr val="tx1"/>
            </a:outerShdw>
          </a:effectLst>
        </p:spPr>
        <p:txBody>
          <a:bodyPr/>
          <a:lstStyle/>
          <a:p>
            <a:pPr eaLnBrk="1" hangingPunct="1">
              <a:defRPr/>
            </a:pPr>
            <a:r>
              <a:rPr lang="ko-KR" altLang="en-US" dirty="0"/>
              <a:t>변동의 이해</a:t>
            </a:r>
            <a:endParaRPr lang="en-US" altLang="ko-KR" dirty="0"/>
          </a:p>
        </p:txBody>
      </p:sp>
      <p:sp>
        <p:nvSpPr>
          <p:cNvPr id="2" name="TextBox 1"/>
          <p:cNvSpPr txBox="1"/>
          <p:nvPr/>
        </p:nvSpPr>
        <p:spPr>
          <a:xfrm>
            <a:off x="683568" y="4293096"/>
            <a:ext cx="73448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요인에</a:t>
            </a:r>
            <a:r>
              <a:rPr lang="en-US" altLang="ko-KR" dirty="0"/>
              <a:t> </a:t>
            </a:r>
            <a:r>
              <a:rPr lang="ko-KR" altLang="en-US" dirty="0"/>
              <a:t>의해 </a:t>
            </a:r>
            <a:r>
              <a:rPr lang="ko-KR" altLang="en-US" dirty="0" err="1"/>
              <a:t>특성값에</a:t>
            </a:r>
            <a:r>
              <a:rPr lang="ko-KR" altLang="en-US" dirty="0"/>
              <a:t> 차이가 있다는 판단은 어떻게 내릴까</a:t>
            </a:r>
            <a:r>
              <a:rPr lang="en-US" altLang="ko-KR" dirty="0"/>
              <a:t>? 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자유도 필요 </a:t>
            </a:r>
          </a:p>
        </p:txBody>
      </p:sp>
      <p:graphicFrame>
        <p:nvGraphicFramePr>
          <p:cNvPr id="3" name="표 2"/>
          <p:cNvGraphicFramePr>
            <a:graphicFrameLocks noGrp="1"/>
          </p:cNvGraphicFramePr>
          <p:nvPr/>
        </p:nvGraphicFramePr>
        <p:xfrm>
          <a:off x="457200" y="5609520"/>
          <a:ext cx="8352927" cy="750570"/>
        </p:xfrm>
        <a:graphic>
          <a:graphicData uri="http://schemas.openxmlformats.org/drawingml/2006/table">
            <a:tbl>
              <a:tblPr/>
              <a:tblGrid>
                <a:gridCol w="1728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843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789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400" b="1" i="0" u="none" strike="noStrike" dirty="0" err="1">
                          <a:solidFill>
                            <a:srgbClr val="000000"/>
                          </a:solidFill>
                          <a:latin typeface="맑은 고딕"/>
                        </a:rPr>
                        <a:t>총자유도</a:t>
                      </a:r>
                      <a:endParaRPr lang="en-US" altLang="ko-KR" sz="24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4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요인 자유도</a:t>
                      </a:r>
                      <a:endParaRPr lang="en-US" altLang="ko-KR" sz="24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4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오차 자유도</a:t>
                      </a:r>
                      <a:endParaRPr lang="en-US" altLang="ko-KR" sz="24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89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4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n-1 = 19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4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a-1 = 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4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n-a = 17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132961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4" name="슬라이드 번호 개체 틀 1"/>
          <p:cNvSpPr>
            <a:spLocks noGrp="1"/>
          </p:cNvSpPr>
          <p:nvPr>
            <p:ph type="sldNum" sz="quarter" idx="429496729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411C02F3-32B6-4147-9EF7-6C6F94882612}" type="slidenum">
              <a:rPr lang="ko-KR" altLang="en-US" smtClean="0"/>
              <a:pPr/>
              <a:t>63</a:t>
            </a:fld>
            <a:endParaRPr lang="ko-KR" altLang="en-US"/>
          </a:p>
        </p:txBody>
      </p:sp>
      <p:sp>
        <p:nvSpPr>
          <p:cNvPr id="17" name="Rectangle 2"/>
          <p:cNvSpPr>
            <a:spLocks noGrp="1" noChangeArrowheads="1"/>
          </p:cNvSpPr>
          <p:nvPr>
            <p:ph type="title"/>
          </p:nvPr>
        </p:nvSpPr>
        <p:spPr>
          <a:xfrm>
            <a:off x="177673" y="106327"/>
            <a:ext cx="6913563" cy="369332"/>
          </a:xfrm>
          <a:effectLst>
            <a:outerShdw dist="35921" dir="2700000" algn="ctr" rotWithShape="0">
              <a:schemeClr val="tx1"/>
            </a:outerShdw>
          </a:effectLst>
        </p:spPr>
        <p:txBody>
          <a:bodyPr/>
          <a:lstStyle/>
          <a:p>
            <a:pPr eaLnBrk="1" hangingPunct="1">
              <a:defRPr/>
            </a:pPr>
            <a:r>
              <a:rPr lang="ko-KR" altLang="en-US" dirty="0"/>
              <a:t>변동의 이해 </a:t>
            </a:r>
            <a:r>
              <a:rPr lang="en-US" altLang="ko-KR" dirty="0"/>
              <a:t>– </a:t>
            </a:r>
            <a:r>
              <a:rPr lang="ko-KR" altLang="en-US" dirty="0"/>
              <a:t>분산분석표</a:t>
            </a:r>
            <a:r>
              <a:rPr lang="en-US" altLang="ko-KR" dirty="0"/>
              <a:t> 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395536" y="1340768"/>
          <a:ext cx="8424936" cy="4752527"/>
        </p:xfrm>
        <a:graphic>
          <a:graphicData uri="http://schemas.openxmlformats.org/drawingml/2006/table">
            <a:tbl>
              <a:tblPr/>
              <a:tblGrid>
                <a:gridCol w="14041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41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41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41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41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415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05942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</a:t>
                      </a:r>
                      <a:r>
                        <a:rPr lang="en-US" sz="2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sourse</a:t>
                      </a:r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굴림"/>
                        </a:rPr>
                        <a:t>제곱합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굴림"/>
                        </a:rPr>
                        <a:t>자유도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굴림"/>
                        </a:rPr>
                        <a:t>평균제곱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F </a:t>
                      </a:r>
                      <a:r>
                        <a:rPr lang="ko-KR" alt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굴림"/>
                        </a:rPr>
                        <a:t>값 </a:t>
                      </a:r>
                      <a:endParaRPr lang="ko-KR" altLang="en-US" sz="2400" b="1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p </a:t>
                      </a:r>
                      <a:r>
                        <a:rPr lang="ko-KR" alt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굴림"/>
                        </a:rPr>
                        <a:t>값</a:t>
                      </a:r>
                      <a:endParaRPr lang="ko-KR" altLang="en-US" sz="2400" b="1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3621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굴림"/>
                        </a:rPr>
                        <a:t>요인</a:t>
                      </a:r>
                      <a:r>
                        <a:rPr lang="ko-KR" alt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</a:t>
                      </a:r>
                      <a:endParaRPr lang="ko-KR" altLang="en-US" sz="2400" b="1" i="0" u="none" strike="noStrike">
                        <a:solidFill>
                          <a:srgbClr val="000000"/>
                        </a:solidFill>
                        <a:effectLst/>
                        <a:latin typeface="굴림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2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2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2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1.000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35807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굴림"/>
                        </a:rPr>
                        <a:t>오차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2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500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2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29.41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　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　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367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굴림"/>
                        </a:rPr>
                        <a:t>총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2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500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2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　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　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　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962060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4" name="슬라이드 번호 개체 틀 1"/>
          <p:cNvSpPr>
            <a:spLocks noGrp="1"/>
          </p:cNvSpPr>
          <p:nvPr>
            <p:ph type="sldNum" sz="quarter" idx="429496729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411C02F3-32B6-4147-9EF7-6C6F94882612}" type="slidenum">
              <a:rPr lang="ko-KR" altLang="en-US" smtClean="0"/>
              <a:pPr/>
              <a:t>64</a:t>
            </a:fld>
            <a:endParaRPr lang="ko-KR" altLang="en-US"/>
          </a:p>
        </p:txBody>
      </p:sp>
      <p:sp>
        <p:nvSpPr>
          <p:cNvPr id="17" name="Rectangle 2"/>
          <p:cNvSpPr>
            <a:spLocks noGrp="1" noChangeArrowheads="1"/>
          </p:cNvSpPr>
          <p:nvPr>
            <p:ph type="title"/>
          </p:nvPr>
        </p:nvSpPr>
        <p:spPr>
          <a:xfrm>
            <a:off x="167222" y="85426"/>
            <a:ext cx="6913563" cy="369332"/>
          </a:xfrm>
          <a:effectLst>
            <a:outerShdw dist="35921" dir="2700000" algn="ctr" rotWithShape="0">
              <a:schemeClr val="tx1"/>
            </a:outerShdw>
          </a:effectLst>
        </p:spPr>
        <p:txBody>
          <a:bodyPr/>
          <a:lstStyle/>
          <a:p>
            <a:pPr eaLnBrk="1" hangingPunct="1">
              <a:defRPr/>
            </a:pPr>
            <a:r>
              <a:rPr lang="ko-KR" altLang="en-US" dirty="0"/>
              <a:t>변동의 이해 </a:t>
            </a:r>
            <a:r>
              <a:rPr lang="en-US" altLang="ko-KR" dirty="0"/>
              <a:t>– </a:t>
            </a:r>
            <a:r>
              <a:rPr lang="ko-KR" altLang="en-US" dirty="0"/>
              <a:t>분산분석표</a:t>
            </a:r>
            <a:r>
              <a:rPr lang="en-US" altLang="ko-KR" dirty="0"/>
              <a:t> 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395536" y="1340768"/>
          <a:ext cx="8424936" cy="4752527"/>
        </p:xfrm>
        <a:graphic>
          <a:graphicData uri="http://schemas.openxmlformats.org/drawingml/2006/table">
            <a:tbl>
              <a:tblPr/>
              <a:tblGrid>
                <a:gridCol w="14041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41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41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41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41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415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05942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</a:t>
                      </a:r>
                      <a:r>
                        <a:rPr lang="en-US" sz="2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sourse</a:t>
                      </a:r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굴림"/>
                        </a:rPr>
                        <a:t>제곱합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굴림"/>
                        </a:rPr>
                        <a:t>자유도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굴림"/>
                        </a:rPr>
                        <a:t>평균제곱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F </a:t>
                      </a:r>
                      <a:r>
                        <a:rPr lang="ko-KR" alt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굴림"/>
                        </a:rPr>
                        <a:t>값 </a:t>
                      </a:r>
                      <a:endParaRPr lang="ko-KR" altLang="en-US" sz="2400" b="1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p </a:t>
                      </a:r>
                      <a:r>
                        <a:rPr lang="ko-KR" alt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굴림"/>
                        </a:rPr>
                        <a:t>값</a:t>
                      </a:r>
                      <a:endParaRPr lang="ko-KR" altLang="en-US" sz="2400" b="1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3621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굴림"/>
                        </a:rPr>
                        <a:t>요인</a:t>
                      </a:r>
                      <a:r>
                        <a:rPr lang="ko-KR" alt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</a:t>
                      </a:r>
                      <a:endParaRPr lang="ko-KR" altLang="en-US" sz="2400" b="1" i="0" u="none" strike="noStrike">
                        <a:solidFill>
                          <a:srgbClr val="000000"/>
                        </a:solidFill>
                        <a:effectLst/>
                        <a:latin typeface="굴림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2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50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2.12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0.151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35807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굴림"/>
                        </a:rPr>
                        <a:t>오차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400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2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23.53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　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　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367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굴림"/>
                        </a:rPr>
                        <a:t>총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2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500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2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　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　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　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188530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4" name="슬라이드 번호 개체 틀 1"/>
          <p:cNvSpPr>
            <a:spLocks noGrp="1"/>
          </p:cNvSpPr>
          <p:nvPr>
            <p:ph type="sldNum" sz="quarter" idx="429496729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411C02F3-32B6-4147-9EF7-6C6F94882612}" type="slidenum">
              <a:rPr lang="ko-KR" altLang="en-US" smtClean="0"/>
              <a:pPr/>
              <a:t>65</a:t>
            </a:fld>
            <a:endParaRPr lang="ko-KR" altLang="en-US"/>
          </a:p>
        </p:txBody>
      </p:sp>
      <p:sp>
        <p:nvSpPr>
          <p:cNvPr id="17" name="Rectangle 2"/>
          <p:cNvSpPr>
            <a:spLocks noGrp="1" noChangeArrowheads="1"/>
          </p:cNvSpPr>
          <p:nvPr>
            <p:ph type="title"/>
          </p:nvPr>
        </p:nvSpPr>
        <p:spPr>
          <a:xfrm>
            <a:off x="219474" y="80202"/>
            <a:ext cx="6913563" cy="369332"/>
          </a:xfrm>
          <a:effectLst>
            <a:outerShdw dist="35921" dir="2700000" algn="ctr" rotWithShape="0">
              <a:schemeClr val="tx1"/>
            </a:outerShdw>
          </a:effectLst>
        </p:spPr>
        <p:txBody>
          <a:bodyPr/>
          <a:lstStyle/>
          <a:p>
            <a:pPr eaLnBrk="1" hangingPunct="1">
              <a:defRPr/>
            </a:pPr>
            <a:r>
              <a:rPr lang="ko-KR" altLang="en-US" dirty="0"/>
              <a:t>변동의 이해 </a:t>
            </a:r>
            <a:r>
              <a:rPr lang="en-US" altLang="ko-KR" dirty="0"/>
              <a:t>– </a:t>
            </a:r>
            <a:r>
              <a:rPr lang="ko-KR" altLang="en-US" dirty="0"/>
              <a:t>분산분석표</a:t>
            </a:r>
            <a:r>
              <a:rPr lang="en-US" altLang="ko-KR" dirty="0"/>
              <a:t> 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395536" y="1340768"/>
          <a:ext cx="8424936" cy="4752527"/>
        </p:xfrm>
        <a:graphic>
          <a:graphicData uri="http://schemas.openxmlformats.org/drawingml/2006/table">
            <a:tbl>
              <a:tblPr/>
              <a:tblGrid>
                <a:gridCol w="14041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41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41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41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41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415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05942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</a:t>
                      </a:r>
                      <a:r>
                        <a:rPr lang="en-US" sz="2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sourse</a:t>
                      </a:r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굴림"/>
                        </a:rPr>
                        <a:t>제곱합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굴림"/>
                        </a:rPr>
                        <a:t>자유도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굴림"/>
                        </a:rPr>
                        <a:t>평균제곱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F </a:t>
                      </a:r>
                      <a:r>
                        <a:rPr lang="ko-KR" alt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굴림"/>
                        </a:rPr>
                        <a:t>값 </a:t>
                      </a:r>
                      <a:endParaRPr lang="ko-KR" altLang="en-US" sz="2400" b="1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p </a:t>
                      </a:r>
                      <a:r>
                        <a:rPr lang="ko-KR" alt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굴림"/>
                        </a:rPr>
                        <a:t>값</a:t>
                      </a:r>
                      <a:endParaRPr lang="ko-KR" altLang="en-US" sz="2400" b="1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3621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굴림"/>
                        </a:rPr>
                        <a:t>요인</a:t>
                      </a:r>
                      <a:r>
                        <a:rPr lang="ko-KR" alt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</a:t>
                      </a:r>
                      <a:endParaRPr lang="ko-KR" altLang="en-US" sz="2400" b="1" i="0" u="none" strike="noStrike">
                        <a:solidFill>
                          <a:srgbClr val="000000"/>
                        </a:solidFill>
                        <a:effectLst/>
                        <a:latin typeface="굴림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5.67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0.013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35807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굴림"/>
                        </a:rPr>
                        <a:t>오차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300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2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17.65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　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　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367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굴림"/>
                        </a:rPr>
                        <a:t>총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500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2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　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　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　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409877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4" name="슬라이드 번호 개체 틀 1"/>
          <p:cNvSpPr>
            <a:spLocks noGrp="1"/>
          </p:cNvSpPr>
          <p:nvPr>
            <p:ph type="sldNum" sz="quarter" idx="429496729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411C02F3-32B6-4147-9EF7-6C6F94882612}" type="slidenum">
              <a:rPr lang="ko-KR" altLang="en-US" smtClean="0"/>
              <a:pPr/>
              <a:t>66</a:t>
            </a:fld>
            <a:endParaRPr lang="ko-KR" altLang="en-US"/>
          </a:p>
        </p:txBody>
      </p:sp>
      <p:sp>
        <p:nvSpPr>
          <p:cNvPr id="17" name="Rectangle 2"/>
          <p:cNvSpPr>
            <a:spLocks noGrp="1" noChangeArrowheads="1"/>
          </p:cNvSpPr>
          <p:nvPr>
            <p:ph type="title"/>
          </p:nvPr>
        </p:nvSpPr>
        <p:spPr>
          <a:xfrm>
            <a:off x="132673" y="131015"/>
            <a:ext cx="6913563" cy="369332"/>
          </a:xfrm>
          <a:effectLst>
            <a:outerShdw dist="35921" dir="2700000" algn="ctr" rotWithShape="0">
              <a:schemeClr val="tx1"/>
            </a:outerShdw>
          </a:effectLst>
        </p:spPr>
        <p:txBody>
          <a:bodyPr/>
          <a:lstStyle/>
          <a:p>
            <a:pPr eaLnBrk="1" hangingPunct="1">
              <a:defRPr/>
            </a:pPr>
            <a:r>
              <a:rPr lang="ko-KR" altLang="en-US" dirty="0"/>
              <a:t>변동의 이해 </a:t>
            </a:r>
            <a:r>
              <a:rPr lang="en-US" altLang="ko-KR" dirty="0"/>
              <a:t>– </a:t>
            </a:r>
            <a:r>
              <a:rPr lang="ko-KR" altLang="en-US" dirty="0"/>
              <a:t>분산분석표</a:t>
            </a:r>
            <a:r>
              <a:rPr lang="en-US" altLang="ko-KR" dirty="0"/>
              <a:t> 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395536" y="1340768"/>
          <a:ext cx="8424936" cy="4752527"/>
        </p:xfrm>
        <a:graphic>
          <a:graphicData uri="http://schemas.openxmlformats.org/drawingml/2006/table">
            <a:tbl>
              <a:tblPr/>
              <a:tblGrid>
                <a:gridCol w="14041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41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41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41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41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415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05942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</a:t>
                      </a:r>
                      <a:r>
                        <a:rPr lang="en-US" sz="2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sourse</a:t>
                      </a:r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굴림"/>
                        </a:rPr>
                        <a:t>제곱합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굴림"/>
                        </a:rPr>
                        <a:t>자유도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굴림"/>
                        </a:rPr>
                        <a:t>평균제곱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F </a:t>
                      </a:r>
                      <a:r>
                        <a:rPr lang="ko-KR" alt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굴림"/>
                        </a:rPr>
                        <a:t>값 </a:t>
                      </a:r>
                      <a:endParaRPr lang="ko-KR" altLang="en-US" sz="2400" b="1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p </a:t>
                      </a:r>
                      <a:r>
                        <a:rPr lang="ko-KR" alt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굴림"/>
                        </a:rPr>
                        <a:t>값</a:t>
                      </a:r>
                      <a:endParaRPr lang="ko-KR" altLang="en-US" sz="2400" b="1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3621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굴림"/>
                        </a:rPr>
                        <a:t>요인</a:t>
                      </a:r>
                      <a:r>
                        <a:rPr lang="ko-KR" alt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</a:t>
                      </a:r>
                      <a:endParaRPr lang="ko-KR" altLang="en-US" sz="2400" b="1" i="0" u="none" strike="noStrike">
                        <a:solidFill>
                          <a:srgbClr val="000000"/>
                        </a:solidFill>
                        <a:effectLst/>
                        <a:latin typeface="굴림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300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2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150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12.76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0.000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35807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굴림"/>
                        </a:rPr>
                        <a:t>오차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2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11.76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　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　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367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굴림"/>
                        </a:rPr>
                        <a:t>총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2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500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2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　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　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　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1184546"/>
      </p:ext>
    </p:extLst>
  </p:cSld>
  <p:clrMapOvr>
    <a:masterClrMapping/>
  </p:clrMapOvr>
</p:sld>
</file>

<file path=ppt/theme/theme1.xml><?xml version="1.0" encoding="utf-8"?>
<a:theme xmlns:a="http://schemas.openxmlformats.org/drawingml/2006/main" name="Standard Template #2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2207A7"/>
      </a:accent2>
      <a:accent3>
        <a:srgbClr val="FFFFFF"/>
      </a:accent3>
      <a:accent4>
        <a:srgbClr val="000000"/>
      </a:accent4>
      <a:accent5>
        <a:srgbClr val="B7C6FE"/>
      </a:accent5>
      <a:accent6>
        <a:srgbClr val="1E0697"/>
      </a:accent6>
      <a:hlink>
        <a:srgbClr val="FC0128"/>
      </a:hlink>
      <a:folHlink>
        <a:srgbClr val="CECECE"/>
      </a:folHlink>
    </a:clrScheme>
    <a:fontScheme name="Standard Template #2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2700" cap="flat" cmpd="sng" algn="ctr">
          <a:solidFill>
            <a:srgbClr val="3333CC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rgbClr val="3333CC"/>
            </a:solidFill>
            <a:effectLst/>
            <a:latin typeface="Arial" pitchFamily="34" charset="0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2700" cap="flat" cmpd="sng" algn="ctr">
          <a:solidFill>
            <a:srgbClr val="3333CC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rgbClr val="3333CC"/>
            </a:solidFill>
            <a:effectLst/>
            <a:latin typeface="Arial" pitchFamily="34" charset="0"/>
            <a:ea typeface="굴림" pitchFamily="50" charset="-127"/>
          </a:defRPr>
        </a:defPPr>
      </a:lstStyle>
    </a:lnDef>
  </a:objectDefaults>
  <a:extraClrSchemeLst>
    <a:extraClrScheme>
      <a:clrScheme name="Standard Template #2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 Template #2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 Template #2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 Template #2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 Template #2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 Template #2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 Template #2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C:\My Documents\PowerPoint\Subcontract Files\SBTI Files\CSX\Under Construction\Standard Template #2.pot</Template>
  <TotalTime>19762</TotalTime>
  <Pages>98</Pages>
  <Words>3707</Words>
  <Application>Microsoft Office PowerPoint</Application>
  <PresentationFormat>화면 슬라이드 쇼(4:3)</PresentationFormat>
  <Paragraphs>1451</Paragraphs>
  <Slides>66</Slides>
  <Notes>36</Notes>
  <HiddenSlides>0</HiddenSlides>
  <MMClips>0</MMClips>
  <ScaleCrop>false</ScaleCrop>
  <HeadingPairs>
    <vt:vector size="8" baseType="variant">
      <vt:variant>
        <vt:lpstr>사용한 글꼴</vt:lpstr>
      </vt:variant>
      <vt:variant>
        <vt:i4>17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66</vt:i4>
      </vt:variant>
    </vt:vector>
  </HeadingPairs>
  <TitlesOfParts>
    <vt:vector size="85" baseType="lpstr">
      <vt:lpstr>HY바다L</vt:lpstr>
      <vt:lpstr>HY바다M</vt:lpstr>
      <vt:lpstr>HY엽서M</vt:lpstr>
      <vt:lpstr>HY울릉도L</vt:lpstr>
      <vt:lpstr>MD아트체</vt:lpstr>
      <vt:lpstr>굴림</vt:lpstr>
      <vt:lpstr>바탕</vt:lpstr>
      <vt:lpstr>바탕체</vt:lpstr>
      <vt:lpstr>휴먼매직체</vt:lpstr>
      <vt:lpstr>Arial</vt:lpstr>
      <vt:lpstr>HY견고딕</vt:lpstr>
      <vt:lpstr>MT Extra</vt:lpstr>
      <vt:lpstr>Symbol</vt:lpstr>
      <vt:lpstr>Times New Roman</vt:lpstr>
      <vt:lpstr>Wingdings</vt:lpstr>
      <vt:lpstr>Wingdings 2</vt:lpstr>
      <vt:lpstr>맑은 고딕</vt:lpstr>
      <vt:lpstr>Standard Template #2</vt:lpstr>
      <vt:lpstr>Equation</vt:lpstr>
      <vt:lpstr>스마트농업기초통계</vt:lpstr>
      <vt:lpstr>PowerPoint 프레젠테이션</vt:lpstr>
      <vt:lpstr>가설 검정의 예 1</vt:lpstr>
      <vt:lpstr>가설 검정의 예 2</vt:lpstr>
      <vt:lpstr>가설 검정의 예 3</vt:lpstr>
      <vt:lpstr>실험계획법의 기본원리 - 비교실험</vt:lpstr>
      <vt:lpstr>실험계획법의 기본원리 - 비교실험</vt:lpstr>
      <vt:lpstr>비교 실험 결과 </vt:lpstr>
      <vt:lpstr>가설 검정이란?</vt:lpstr>
      <vt:lpstr>가설 검정이란?</vt:lpstr>
      <vt:lpstr>가설 검정이란?</vt:lpstr>
      <vt:lpstr>가설검정 -검정통계량과 기각역</vt:lpstr>
      <vt:lpstr>PowerPoint 프레젠테이션</vt:lpstr>
      <vt:lpstr>가설 검정 – 유의수준, 유의확률</vt:lpstr>
      <vt:lpstr>가설검정의 절차</vt:lpstr>
      <vt:lpstr>T 검정 (T-TEST)</vt:lpstr>
      <vt:lpstr>1. 독립표본 T 검정</vt:lpstr>
      <vt:lpstr>PowerPoint 프레젠테이션</vt:lpstr>
      <vt:lpstr>1. 독립표본 T 검정</vt:lpstr>
      <vt:lpstr>비교 실험 결과 </vt:lpstr>
      <vt:lpstr>t.test 의 옵션</vt:lpstr>
      <vt:lpstr>2. 단일표본 T 검정</vt:lpstr>
      <vt:lpstr>2. 단일표본 T 검정</vt:lpstr>
      <vt:lpstr>2. 단일표본 T 검정</vt:lpstr>
      <vt:lpstr>2. 단일표본 T 검정</vt:lpstr>
      <vt:lpstr>독립표본 T검정의 문제</vt:lpstr>
      <vt:lpstr>독립표본 T검정의 문제</vt:lpstr>
      <vt:lpstr>3. 대응표본  T 검정</vt:lpstr>
      <vt:lpstr>3. 대응 표본 T 검정 </vt:lpstr>
      <vt:lpstr>3. 대응표본  T 검정</vt:lpstr>
      <vt:lpstr>PowerPoint 프레젠테이션</vt:lpstr>
      <vt:lpstr>PowerPoint 프레젠테이션</vt:lpstr>
      <vt:lpstr>3. 대응표본  T 검정 - 예제</vt:lpstr>
      <vt:lpstr>분산분석 (ANOVA) </vt:lpstr>
      <vt:lpstr>분산분석이란?</vt:lpstr>
      <vt:lpstr>분산분석이란?</vt:lpstr>
      <vt:lpstr>분산분석이란?</vt:lpstr>
      <vt:lpstr>분산분석의 개념 </vt:lpstr>
      <vt:lpstr>PowerPoint 프레젠테이션</vt:lpstr>
      <vt:lpstr>일원배치법</vt:lpstr>
      <vt:lpstr>실험의 순서</vt:lpstr>
      <vt:lpstr>일원 배치법(자료 구조)</vt:lpstr>
      <vt:lpstr>일원배치법-자료입력</vt:lpstr>
      <vt:lpstr>일원 배치 법</vt:lpstr>
      <vt:lpstr>일원배치법</vt:lpstr>
      <vt:lpstr>일원배치 분산분석(One-way ANOVA)</vt:lpstr>
      <vt:lpstr>일원배치 분산분석(One-way ANOVA)</vt:lpstr>
      <vt:lpstr>일원배치 분산분석(One-way ANOVA)</vt:lpstr>
      <vt:lpstr>일원배치 분산분석(One-way ANOVA)</vt:lpstr>
      <vt:lpstr>변동의 이해와 분해</vt:lpstr>
      <vt:lpstr>          1장 변동의 이해 </vt:lpstr>
      <vt:lpstr>변동의 이해</vt:lpstr>
      <vt:lpstr>변동의 이해</vt:lpstr>
      <vt:lpstr>변동의 이해</vt:lpstr>
      <vt:lpstr>변동의 이해</vt:lpstr>
      <vt:lpstr>변동의 이해</vt:lpstr>
      <vt:lpstr>변동의 이해</vt:lpstr>
      <vt:lpstr>변동의 이해</vt:lpstr>
      <vt:lpstr>변동의 이해</vt:lpstr>
      <vt:lpstr>변동의 이해</vt:lpstr>
      <vt:lpstr>변동의 이해</vt:lpstr>
      <vt:lpstr>변동의 이해</vt:lpstr>
      <vt:lpstr>변동의 이해 – 분산분석표 </vt:lpstr>
      <vt:lpstr>변동의 이해 – 분산분석표 </vt:lpstr>
      <vt:lpstr>변동의 이해 – 분산분석표 </vt:lpstr>
      <vt:lpstr>변동의 이해 – 분산분석표 </vt:lpstr>
    </vt:vector>
  </TitlesOfParts>
  <Company>SNU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Minitab사용법</dc:title>
  <dc:creator>lmj</dc:creator>
  <cp:lastModifiedBy>나명환</cp:lastModifiedBy>
  <cp:revision>389</cp:revision>
  <cp:lastPrinted>2015-04-13T06:42:59Z</cp:lastPrinted>
  <dcterms:created xsi:type="dcterms:W3CDTF">1997-05-22T21:48:42Z</dcterms:created>
  <dcterms:modified xsi:type="dcterms:W3CDTF">2026-03-09T12:57:20Z</dcterms:modified>
</cp:coreProperties>
</file>